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84" r:id="rId4"/>
    <p:sldId id="258" r:id="rId6"/>
    <p:sldId id="290" r:id="rId5"/>
    <p:sldId id="259" r:id="rId7"/>
    <p:sldId id="260" r:id="rId8"/>
    <p:sldId id="261" r:id="rId9"/>
    <p:sldId id="291" r:id="rId10"/>
    <p:sldId id="263" r:id="rId11"/>
    <p:sldId id="264" r:id="rId12"/>
    <p:sldId id="26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68"/>
  </p:normalViewPr>
  <p:slideViewPr>
    <p:cSldViewPr snapToGrid="0" snapToObjects="1">
      <p:cViewPr varScale="1">
        <p:scale>
          <a:sx n="90" d="100"/>
          <a:sy n="90" d="100"/>
        </p:scale>
        <p:origin x="232" y="5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9B080A-D504-B846-A994-2A29354D2C63}" type="datetimeFigureOut">
              <a:rPr lang="en-US" smtClean="0"/>
              <a:t>9/19/26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B0A331-83D0-F94A-B344-9D65EF99A1DA}" type="slidenum">
              <a:rPr lang="en-US" smtClean="0"/>
              <a:t>‹#›</a:t>
            </a:fld>
            <a:endParaRPr lang="en-US"/>
          </a:p>
        </p:txBody>
      </p:sp>
    </p:spTree>
    <p:extLst>
      <p:ext uri="{BB962C8B-B14F-4D97-AF65-F5344CB8AC3E}">
        <p14:creationId xmlns:p14="http://schemas.microsoft.com/office/powerpoint/2010/main" val="362631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29748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14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354312" y="0"/>
            <a:ext cx="2834640" cy="685800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354312" y="0"/>
            <a:ext cx="36576" cy="6858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932688"/>
            <a:ext cx="8229600" cy="274320"/>
          </a:xfrm>
          <a:prstGeom prst="rect">
            <a:avLst/>
          </a:prstGeom>
          <a:noFill/>
        </p:spPr>
        <p:txBody>
          <a:bodyPr wrap="square" lIns="0" tIns="0" rIns="0" bIns="0" anchor="t">
            <a:spAutoFit/>
          </a:bodyPr>
          <a:lstStyle/>
          <a:p>
            <a:pPr algn="l"/>
            <a:r>
              <a:rPr sz="1200" b="1">
                <a:solidFill>
                  <a:srgbClr val="C9A227"/>
                </a:solidFill>
              </a:rPr>
              <a:t>AI IN FINANCE · THE COMPLETE CRASH COURSE · MODULE 5 OF 10</a:t>
            </a:r>
          </a:p>
        </p:txBody>
      </p:sp>
      <p:sp>
        <p:nvSpPr>
          <p:cNvPr id="6" name="TextBox 5"/>
          <p:cNvSpPr txBox="1"/>
          <p:nvPr/>
        </p:nvSpPr>
        <p:spPr>
          <a:xfrm>
            <a:off x="548640" y="1371600"/>
            <a:ext cx="8595360" cy="2194560"/>
          </a:xfrm>
          <a:prstGeom prst="rect">
            <a:avLst/>
          </a:prstGeom>
          <a:noFill/>
        </p:spPr>
        <p:txBody>
          <a:bodyPr wrap="square" lIns="0" tIns="0" rIns="0" bIns="0" anchor="t">
            <a:spAutoFit/>
          </a:bodyPr>
          <a:lstStyle/>
          <a:p>
            <a:pPr algn="l"/>
            <a:r>
              <a:rPr sz="5800" b="1">
                <a:solidFill>
                  <a:srgbClr val="FFFFFF"/>
                </a:solidFill>
                <a:latin typeface="Georgia"/>
              </a:rPr>
              <a:t>Module 5</a:t>
            </a:r>
          </a:p>
          <a:p>
            <a:pPr algn="l">
              <a:spcBef>
                <a:spcPts val="1000"/>
              </a:spcBef>
            </a:pPr>
            <a:r>
              <a:rPr sz="2100" b="0">
                <a:solidFill>
                  <a:srgbClr val="C9D6EE"/>
                </a:solidFill>
                <a:latin typeface="Georgia"/>
              </a:rPr>
              <a:t>Risk Modelling — PD Models &amp; Monte Carlo VaR</a:t>
            </a:r>
          </a:p>
        </p:txBody>
      </p:sp>
      <p:sp>
        <p:nvSpPr>
          <p:cNvPr id="7" name="Rectangle 6"/>
          <p:cNvSpPr/>
          <p:nvPr/>
        </p:nvSpPr>
        <p:spPr>
          <a:xfrm>
            <a:off x="548640" y="3913632"/>
            <a:ext cx="4023360" cy="1828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4133087"/>
            <a:ext cx="8229600" cy="1097280"/>
          </a:xfrm>
          <a:prstGeom prst="rect">
            <a:avLst/>
          </a:prstGeom>
          <a:noFill/>
        </p:spPr>
        <p:txBody>
          <a:bodyPr wrap="square" lIns="0" tIns="0" rIns="0" bIns="0" anchor="t">
            <a:spAutoFit/>
          </a:bodyPr>
          <a:lstStyle/>
          <a:p>
            <a:pPr algn="l"/>
            <a:r>
              <a:rPr sz="1700" b="1">
                <a:solidFill>
                  <a:srgbClr val="FFFFFF"/>
                </a:solidFill>
              </a:rPr>
              <a:t>Tejas Jadhav, CFA, FRM</a:t>
            </a:r>
          </a:p>
          <a:p>
            <a:pPr algn="l">
              <a:spcBef>
                <a:spcPts val="400"/>
              </a:spcBef>
            </a:pPr>
            <a:r>
              <a:rPr sz="1200" b="0">
                <a:solidFill>
                  <a:srgbClr val="8FA1C4"/>
                </a:solidFill>
              </a:rPr>
              <a:t>AI in Finance: The Complete Crash Course</a:t>
            </a:r>
          </a:p>
          <a:p>
            <a:pPr algn="l">
              <a:spcBef>
                <a:spcPts val="300"/>
              </a:spcBef>
            </a:pPr>
            <a:r>
              <a:rPr sz="1200" b="1">
                <a:solidFill>
                  <a:srgbClr val="C9A227"/>
                </a:solidFill>
              </a:rPr>
              <a:t>tejasgjadhav.github.io/AIFinanceCrashcourse</a:t>
            </a:r>
          </a:p>
        </p:txBody>
      </p:sp>
      <p:sp>
        <p:nvSpPr>
          <p:cNvPr id="9" name="TextBox 8"/>
          <p:cNvSpPr txBox="1"/>
          <p:nvPr/>
        </p:nvSpPr>
        <p:spPr>
          <a:xfrm>
            <a:off x="9646920" y="850392"/>
            <a:ext cx="2194560" cy="274320"/>
          </a:xfrm>
          <a:prstGeom prst="rect">
            <a:avLst/>
          </a:prstGeom>
          <a:noFill/>
        </p:spPr>
        <p:txBody>
          <a:bodyPr wrap="square" lIns="0" tIns="0" rIns="0" bIns="0" anchor="t">
            <a:spAutoFit/>
          </a:bodyPr>
          <a:lstStyle/>
          <a:p>
            <a:pPr algn="l"/>
            <a:r>
              <a:rPr sz="1000" b="1">
                <a:solidFill>
                  <a:srgbClr val="C9A227"/>
                </a:solidFill>
              </a:rPr>
              <a:t>TODAY</a:t>
            </a:r>
          </a:p>
        </p:txBody>
      </p:sp>
      <p:sp>
        <p:nvSpPr>
          <p:cNvPr id="10" name="TextBox 9"/>
          <p:cNvSpPr txBox="1"/>
          <p:nvPr/>
        </p:nvSpPr>
        <p:spPr>
          <a:xfrm>
            <a:off x="9646920" y="1234440"/>
            <a:ext cx="2286000" cy="1005840"/>
          </a:xfrm>
          <a:prstGeom prst="rect">
            <a:avLst/>
          </a:prstGeom>
          <a:noFill/>
        </p:spPr>
        <p:txBody>
          <a:bodyPr wrap="square" lIns="0" tIns="0" rIns="0" bIns="0" anchor="t">
            <a:spAutoFit/>
          </a:bodyPr>
          <a:lstStyle/>
          <a:p>
            <a:pPr algn="l"/>
            <a:r>
              <a:rPr sz="1500" b="1">
                <a:solidFill>
                  <a:srgbClr val="FFFFFF"/>
                </a:solidFill>
                <a:latin typeface="Georgia"/>
              </a:rPr>
              <a:t>Two questions</a:t>
            </a:r>
          </a:p>
          <a:p>
            <a:pPr algn="l">
              <a:spcBef>
                <a:spcPts val="400"/>
              </a:spcBef>
            </a:pPr>
            <a:r>
              <a:rPr sz="1000" b="0">
                <a:solidFill>
                  <a:srgbClr val="8FA1C4"/>
                </a:solidFill>
              </a:rPr>
              <a:t>Will this borrower pay?</a:t>
            </a:r>
          </a:p>
          <a:p>
            <a:pPr algn="l">
              <a:spcBef>
                <a:spcPts val="200"/>
              </a:spcBef>
            </a:pPr>
            <a:r>
              <a:rPr sz="1000" b="0">
                <a:solidFill>
                  <a:srgbClr val="8FA1C4"/>
                </a:solidFill>
              </a:rPr>
              <a:t>How much can this book lose?</a:t>
            </a:r>
          </a:p>
        </p:txBody>
      </p:sp>
      <p:sp>
        <p:nvSpPr>
          <p:cNvPr id="11" name="TextBox 10"/>
          <p:cNvSpPr txBox="1"/>
          <p:nvPr/>
        </p:nvSpPr>
        <p:spPr>
          <a:xfrm>
            <a:off x="9646920" y="2788920"/>
            <a:ext cx="2286000" cy="1097280"/>
          </a:xfrm>
          <a:prstGeom prst="rect">
            <a:avLst/>
          </a:prstGeom>
          <a:noFill/>
        </p:spPr>
        <p:txBody>
          <a:bodyPr wrap="square" lIns="0" tIns="0" rIns="0" bIns="0" anchor="t">
            <a:spAutoFit/>
          </a:bodyPr>
          <a:lstStyle/>
          <a:p>
            <a:pPr algn="l"/>
            <a:r>
              <a:rPr sz="1500" b="1">
                <a:solidFill>
                  <a:srgbClr val="FFFFFF"/>
                </a:solidFill>
                <a:latin typeface="Georgia"/>
              </a:rPr>
              <a:t>No heavy maths</a:t>
            </a:r>
          </a:p>
          <a:p>
            <a:pPr algn="l">
              <a:spcBef>
                <a:spcPts val="400"/>
              </a:spcBef>
            </a:pPr>
            <a:r>
              <a:rPr sz="1000" b="0">
                <a:solidFill>
                  <a:srgbClr val="8FA1C4"/>
                </a:solidFill>
              </a:rPr>
              <a:t>Every number today comes</a:t>
            </a:r>
          </a:p>
          <a:p>
            <a:pPr algn="l">
              <a:spcBef>
                <a:spcPts val="200"/>
              </a:spcBef>
            </a:pPr>
            <a:r>
              <a:rPr sz="1000" b="0">
                <a:solidFill>
                  <a:srgbClr val="8FA1C4"/>
                </a:solidFill>
              </a:rPr>
              <a:t>from one multiplication or</a:t>
            </a:r>
          </a:p>
          <a:p>
            <a:pPr algn="l">
              <a:spcBef>
                <a:spcPts val="200"/>
              </a:spcBef>
            </a:pPr>
            <a:r>
              <a:rPr sz="1000" b="0">
                <a:solidFill>
                  <a:srgbClr val="8FA1C4"/>
                </a:solidFill>
              </a:rPr>
              <a:t>one sorted list.</a:t>
            </a:r>
          </a:p>
        </p:txBody>
      </p:sp>
      <p:sp>
        <p:nvSpPr>
          <p:cNvPr id="12" name="TextBox 11"/>
          <p:cNvSpPr txBox="1"/>
          <p:nvPr/>
        </p:nvSpPr>
        <p:spPr>
          <a:xfrm>
            <a:off x="9646920" y="4434840"/>
            <a:ext cx="2286000" cy="1463040"/>
          </a:xfrm>
          <a:prstGeom prst="rect">
            <a:avLst/>
          </a:prstGeom>
          <a:noFill/>
        </p:spPr>
        <p:txBody>
          <a:bodyPr wrap="square" lIns="0" tIns="0" rIns="0" bIns="0" anchor="t">
            <a:spAutoFit/>
          </a:bodyPr>
          <a:lstStyle/>
          <a:p>
            <a:pPr algn="l"/>
            <a:r>
              <a:rPr sz="4400" b="1">
                <a:solidFill>
                  <a:srgbClr val="C9A227"/>
                </a:solidFill>
                <a:latin typeface="Georgia"/>
              </a:rPr>
              <a:t>1</a:t>
            </a:r>
          </a:p>
          <a:p>
            <a:pPr algn="l">
              <a:spcBef>
                <a:spcPts val="400"/>
              </a:spcBef>
            </a:pPr>
            <a:r>
              <a:rPr sz="900" b="0">
                <a:solidFill>
                  <a:srgbClr val="8FA1C4"/>
                </a:solidFill>
              </a:rPr>
              <a:t>VaR ENGINE, BUILT AND</a:t>
            </a:r>
          </a:p>
          <a:p>
            <a:pPr algn="l">
              <a:spcBef>
                <a:spcPts val="200"/>
              </a:spcBef>
            </a:pPr>
            <a:r>
              <a:rPr sz="900" b="0">
                <a:solidFill>
                  <a:srgbClr val="8FA1C4"/>
                </a:solidFill>
              </a:rPr>
              <a:t>READ, BEFORE YOU LEAVE</a:t>
            </a:r>
          </a:p>
        </p:txBody>
      </p:sp>
      <p:sp>
        <p:nvSpPr>
          <p:cNvPr id="13" name="TextBox 12"/>
          <p:cNvSpPr txBox="1"/>
          <p:nvPr/>
        </p:nvSpPr>
        <p:spPr>
          <a:xfrm>
            <a:off x="548640" y="6473952"/>
            <a:ext cx="7315200" cy="228600"/>
          </a:xfrm>
          <a:prstGeom prst="rect">
            <a:avLst/>
          </a:prstGeom>
          <a:noFill/>
        </p:spPr>
        <p:txBody>
          <a:bodyPr wrap="square" lIns="0" tIns="0" rIns="0" bIns="0" anchor="t">
            <a:spAutoFit/>
          </a:bodyPr>
          <a:lstStyle/>
          <a:p>
            <a:pPr algn="l"/>
            <a:r>
              <a:rPr sz="800" b="0">
                <a:solidFill>
                  <a:srgbClr val="8FA1C4"/>
                </a:solidFill>
              </a:rPr>
              <a:t>AI IN FINANCE · THE COMPLETE CRASH COURSE</a:t>
            </a:r>
          </a:p>
        </p:txBody>
      </p:sp>
      <p:sp>
        <p:nvSpPr>
          <p:cNvPr id="14" name="TextBox 13"/>
          <p:cNvSpPr txBox="1"/>
          <p:nvPr/>
        </p:nvSpPr>
        <p:spPr>
          <a:xfrm>
            <a:off x="9262872" y="6473952"/>
            <a:ext cx="2377440" cy="228600"/>
          </a:xfrm>
          <a:prstGeom prst="rect">
            <a:avLst/>
          </a:prstGeom>
          <a:noFill/>
        </p:spPr>
        <p:txBody>
          <a:bodyPr wrap="square" lIns="0" tIns="0" rIns="0" bIns="0" anchor="t">
            <a:spAutoFit/>
          </a:bodyPr>
          <a:lstStyle/>
          <a:p>
            <a:pPr algn="r"/>
            <a:r>
              <a:rPr sz="800" b="0">
                <a:solidFill>
                  <a:srgbClr val="8FA1C4"/>
                </a:solidFill>
              </a:rPr>
              <a:t>MODULE 5  ·  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86384" y="310896"/>
            <a:ext cx="10817352" cy="274320"/>
          </a:xfrm>
          <a:prstGeom prst="rect">
            <a:avLst/>
          </a:prstGeom>
          <a:noFill/>
        </p:spPr>
        <p:txBody>
          <a:bodyPr wrap="square" lIns="0" tIns="0" rIns="0" bIns="0" anchor="t">
            <a:spAutoFit/>
          </a:bodyPr>
          <a:lstStyle/>
          <a:p>
            <a:pPr algn="l"/>
            <a:r>
              <a:rPr sz="1100" b="1">
                <a:solidFill>
                  <a:srgbClr val="C9A227"/>
                </a:solidFill>
              </a:rPr>
              <a:t>THE PLAN</a:t>
            </a:r>
          </a:p>
        </p:txBody>
      </p:sp>
      <p:sp>
        <p:nvSpPr>
          <p:cNvPr id="4" name="TextBox 3"/>
          <p:cNvSpPr txBox="1"/>
          <p:nvPr/>
        </p:nvSpPr>
        <p:spPr>
          <a:xfrm>
            <a:off x="548640" y="621792"/>
            <a:ext cx="11091672" cy="731520"/>
          </a:xfrm>
          <a:prstGeom prst="rect">
            <a:avLst/>
          </a:prstGeom>
          <a:noFill/>
        </p:spPr>
        <p:txBody>
          <a:bodyPr wrap="square" lIns="0" tIns="0" rIns="0" bIns="0" anchor="t">
            <a:spAutoFit/>
          </a:bodyPr>
          <a:lstStyle/>
          <a:p>
            <a:pPr algn="l"/>
            <a:r>
              <a:rPr sz="2900" b="1">
                <a:solidFill>
                  <a:srgbClr val="0F2145"/>
                </a:solidFill>
                <a:latin typeface="Georgia"/>
              </a:rPr>
              <a:t>What we do in these three hours</a:t>
            </a:r>
          </a:p>
        </p:txBody>
      </p:sp>
      <p:sp>
        <p:nvSpPr>
          <p:cNvPr id="5" name="Rectangle 4"/>
          <p:cNvSpPr/>
          <p:nvPr/>
        </p:nvSpPr>
        <p:spPr>
          <a:xfrm>
            <a:off x="548640" y="1572768"/>
            <a:ext cx="361188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57276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847088"/>
            <a:ext cx="3108960" cy="274320"/>
          </a:xfrm>
          <a:prstGeom prst="rect">
            <a:avLst/>
          </a:prstGeom>
          <a:noFill/>
        </p:spPr>
        <p:txBody>
          <a:bodyPr wrap="square" lIns="0" tIns="0" rIns="0" bIns="0" anchor="t">
            <a:spAutoFit/>
          </a:bodyPr>
          <a:lstStyle/>
          <a:p>
            <a:pPr algn="l"/>
            <a:r>
              <a:rPr sz="950" b="1">
                <a:solidFill>
                  <a:srgbClr val="3A5C9E"/>
                </a:solidFill>
              </a:rPr>
              <a:t>HOUR 1 · 60 MIN</a:t>
            </a:r>
          </a:p>
        </p:txBody>
      </p:sp>
      <p:sp>
        <p:nvSpPr>
          <p:cNvPr id="8" name="TextBox 7"/>
          <p:cNvSpPr txBox="1"/>
          <p:nvPr/>
        </p:nvSpPr>
        <p:spPr>
          <a:xfrm>
            <a:off x="804672" y="2176272"/>
            <a:ext cx="3108960" cy="411480"/>
          </a:xfrm>
          <a:prstGeom prst="rect">
            <a:avLst/>
          </a:prstGeom>
          <a:noFill/>
        </p:spPr>
        <p:txBody>
          <a:bodyPr wrap="square" lIns="0" tIns="0" rIns="0" bIns="0" anchor="t">
            <a:spAutoFit/>
          </a:bodyPr>
          <a:lstStyle/>
          <a:p>
            <a:pPr algn="l"/>
            <a:r>
              <a:rPr sz="1700" b="1">
                <a:solidFill>
                  <a:srgbClr val="0F2145"/>
                </a:solidFill>
                <a:latin typeface="Georgia"/>
              </a:rPr>
              <a:t>Will they pay?</a:t>
            </a:r>
          </a:p>
        </p:txBody>
      </p:sp>
      <p:sp>
        <p:nvSpPr>
          <p:cNvPr id="9" name="TextBox 8"/>
          <p:cNvSpPr txBox="1"/>
          <p:nvPr/>
        </p:nvSpPr>
        <p:spPr>
          <a:xfrm>
            <a:off x="804672" y="2743200"/>
            <a:ext cx="3108960" cy="457200"/>
          </a:xfrm>
          <a:prstGeom prst="rect">
            <a:avLst/>
          </a:prstGeom>
          <a:noFill/>
        </p:spPr>
        <p:txBody>
          <a:bodyPr wrap="square" lIns="0" tIns="0" rIns="0" bIns="0" anchor="t">
            <a:spAutoFit/>
          </a:bodyPr>
          <a:lstStyle/>
          <a:p>
            <a:pPr algn="l"/>
            <a:r>
              <a:rPr sz="1000" b="1">
                <a:solidFill>
                  <a:srgbClr val="C9A227"/>
                </a:solidFill>
              </a:rPr>
              <a:t>▪</a:t>
            </a:r>
            <a:r>
              <a:rPr sz="1000" b="0">
                <a:solidFill>
                  <a:srgbClr val="1B2A41"/>
                </a:solidFill>
              </a:rPr>
              <a:t>PD, LGD and EAD, and the one line that joins them</a:t>
            </a:r>
          </a:p>
        </p:txBody>
      </p:sp>
      <p:sp>
        <p:nvSpPr>
          <p:cNvPr id="10" name="TextBox 9"/>
          <p:cNvSpPr txBox="1"/>
          <p:nvPr/>
        </p:nvSpPr>
        <p:spPr>
          <a:xfrm>
            <a:off x="804672" y="3218688"/>
            <a:ext cx="3108960" cy="457200"/>
          </a:xfrm>
          <a:prstGeom prst="rect">
            <a:avLst/>
          </a:prstGeom>
          <a:noFill/>
        </p:spPr>
        <p:txBody>
          <a:bodyPr wrap="square" lIns="0" tIns="0" rIns="0" bIns="0" anchor="t">
            <a:spAutoFit/>
          </a:bodyPr>
          <a:lstStyle/>
          <a:p>
            <a:pPr algn="l"/>
            <a:r>
              <a:rPr sz="1000" b="1">
                <a:solidFill>
                  <a:srgbClr val="C9A227"/>
                </a:solidFill>
              </a:rPr>
              <a:t>▪</a:t>
            </a:r>
            <a:r>
              <a:rPr sz="1000" b="0">
                <a:solidFill>
                  <a:srgbClr val="1B2A41"/>
                </a:solidFill>
              </a:rPr>
              <a:t>Basel II and where the bank is allowed to use its own model</a:t>
            </a:r>
          </a:p>
        </p:txBody>
      </p:sp>
      <p:sp>
        <p:nvSpPr>
          <p:cNvPr id="11" name="TextBox 10"/>
          <p:cNvSpPr txBox="1"/>
          <p:nvPr/>
        </p:nvSpPr>
        <p:spPr>
          <a:xfrm>
            <a:off x="804672" y="3694176"/>
            <a:ext cx="3108960" cy="457200"/>
          </a:xfrm>
          <a:prstGeom prst="rect">
            <a:avLst/>
          </a:prstGeom>
          <a:noFill/>
        </p:spPr>
        <p:txBody>
          <a:bodyPr wrap="square" lIns="0" tIns="0" rIns="0" bIns="0" anchor="t">
            <a:spAutoFit/>
          </a:bodyPr>
          <a:lstStyle/>
          <a:p>
            <a:pPr algn="l"/>
            <a:r>
              <a:rPr sz="1000" b="1">
                <a:solidFill>
                  <a:srgbClr val="C9A227"/>
                </a:solidFill>
              </a:rPr>
              <a:t>▪</a:t>
            </a:r>
            <a:r>
              <a:rPr sz="1000" b="0">
                <a:solidFill>
                  <a:srgbClr val="1B2A41"/>
                </a:solidFill>
              </a:rPr>
              <a:t>Building a PD model: logistic regression, trees, XGBoost</a:t>
            </a:r>
          </a:p>
        </p:txBody>
      </p:sp>
      <p:sp>
        <p:nvSpPr>
          <p:cNvPr id="12" name="TextBox 11"/>
          <p:cNvSpPr txBox="1"/>
          <p:nvPr/>
        </p:nvSpPr>
        <p:spPr>
          <a:xfrm>
            <a:off x="804672" y="4169664"/>
            <a:ext cx="3108960" cy="457200"/>
          </a:xfrm>
          <a:prstGeom prst="rect">
            <a:avLst/>
          </a:prstGeom>
          <a:noFill/>
        </p:spPr>
        <p:txBody>
          <a:bodyPr wrap="square" lIns="0" tIns="0" rIns="0" bIns="0" anchor="t">
            <a:spAutoFit/>
          </a:bodyPr>
          <a:lstStyle/>
          <a:p>
            <a:pPr algn="l"/>
            <a:r>
              <a:rPr sz="1000" b="1">
                <a:solidFill>
                  <a:srgbClr val="C9A227"/>
                </a:solidFill>
              </a:rPr>
              <a:t>▪</a:t>
            </a:r>
            <a:r>
              <a:rPr sz="1000" b="0">
                <a:solidFill>
                  <a:srgbClr val="1B2A41"/>
                </a:solidFill>
              </a:rPr>
              <a:t>Reading the score: Gini, KS, AUC-ROC, and SHAP</a:t>
            </a:r>
          </a:p>
        </p:txBody>
      </p:sp>
      <p:sp>
        <p:nvSpPr>
          <p:cNvPr id="13" name="Rectangle 12"/>
          <p:cNvSpPr/>
          <p:nvPr/>
        </p:nvSpPr>
        <p:spPr>
          <a:xfrm>
            <a:off x="4315968" y="1572768"/>
            <a:ext cx="361188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15968" y="157276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0" y="1847088"/>
            <a:ext cx="3108960" cy="274320"/>
          </a:xfrm>
          <a:prstGeom prst="rect">
            <a:avLst/>
          </a:prstGeom>
          <a:noFill/>
        </p:spPr>
        <p:txBody>
          <a:bodyPr wrap="square" lIns="0" tIns="0" rIns="0" bIns="0" anchor="t">
            <a:spAutoFit/>
          </a:bodyPr>
          <a:lstStyle/>
          <a:p>
            <a:pPr algn="l"/>
            <a:r>
              <a:rPr sz="950" b="1">
                <a:solidFill>
                  <a:srgbClr val="3A5C9E"/>
                </a:solidFill>
              </a:rPr>
              <a:t>HOUR 2 · 60 MIN</a:t>
            </a:r>
          </a:p>
        </p:txBody>
      </p:sp>
      <p:sp>
        <p:nvSpPr>
          <p:cNvPr id="16" name="TextBox 15"/>
          <p:cNvSpPr txBox="1"/>
          <p:nvPr/>
        </p:nvSpPr>
        <p:spPr>
          <a:xfrm>
            <a:off x="4572000" y="2176272"/>
            <a:ext cx="3108960" cy="411480"/>
          </a:xfrm>
          <a:prstGeom prst="rect">
            <a:avLst/>
          </a:prstGeom>
          <a:noFill/>
        </p:spPr>
        <p:txBody>
          <a:bodyPr wrap="square" lIns="0" tIns="0" rIns="0" bIns="0" anchor="t">
            <a:spAutoFit/>
          </a:bodyPr>
          <a:lstStyle/>
          <a:p>
            <a:pPr algn="l"/>
            <a:r>
              <a:rPr sz="1700" b="1">
                <a:solidFill>
                  <a:srgbClr val="0F2145"/>
                </a:solidFill>
                <a:latin typeface="Georgia"/>
              </a:rPr>
              <a:t>How much can we lose?</a:t>
            </a:r>
          </a:p>
        </p:txBody>
      </p:sp>
      <p:sp>
        <p:nvSpPr>
          <p:cNvPr id="17" name="TextBox 16"/>
          <p:cNvSpPr txBox="1"/>
          <p:nvPr/>
        </p:nvSpPr>
        <p:spPr>
          <a:xfrm>
            <a:off x="4572000" y="2743200"/>
            <a:ext cx="3108960" cy="457200"/>
          </a:xfrm>
          <a:prstGeom prst="rect">
            <a:avLst/>
          </a:prstGeom>
          <a:noFill/>
        </p:spPr>
        <p:txBody>
          <a:bodyPr wrap="square" lIns="0" tIns="0" rIns="0" bIns="0" anchor="t">
            <a:spAutoFit/>
          </a:bodyPr>
          <a:lstStyle/>
          <a:p>
            <a:pPr algn="l"/>
            <a:r>
              <a:rPr sz="1000" b="1">
                <a:solidFill>
                  <a:srgbClr val="C9A227"/>
                </a:solidFill>
              </a:rPr>
              <a:t>▪</a:t>
            </a:r>
            <a:r>
              <a:rPr sz="1000" b="0">
                <a:solidFill>
                  <a:srgbClr val="1B2A41"/>
                </a:solidFill>
              </a:rPr>
              <a:t>Three ways to compute VaR, and why they disagree</a:t>
            </a:r>
          </a:p>
        </p:txBody>
      </p:sp>
      <p:sp>
        <p:nvSpPr>
          <p:cNvPr id="18" name="TextBox 17"/>
          <p:cNvSpPr txBox="1"/>
          <p:nvPr/>
        </p:nvSpPr>
        <p:spPr>
          <a:xfrm>
            <a:off x="4572000" y="3218688"/>
            <a:ext cx="3108960" cy="457200"/>
          </a:xfrm>
          <a:prstGeom prst="rect">
            <a:avLst/>
          </a:prstGeom>
          <a:noFill/>
        </p:spPr>
        <p:txBody>
          <a:bodyPr wrap="square" lIns="0" tIns="0" rIns="0" bIns="0" anchor="t">
            <a:spAutoFit/>
          </a:bodyPr>
          <a:lstStyle/>
          <a:p>
            <a:pPr algn="l"/>
            <a:r>
              <a:rPr sz="1000" b="1">
                <a:solidFill>
                  <a:srgbClr val="C9A227"/>
                </a:solidFill>
              </a:rPr>
              <a:t>▪</a:t>
            </a:r>
            <a:r>
              <a:rPr sz="1000" b="0">
                <a:solidFill>
                  <a:srgbClr val="1B2A41"/>
                </a:solidFill>
              </a:rPr>
              <a:t>10,000 simulated days on a multi-asset portfolio</a:t>
            </a:r>
          </a:p>
        </p:txBody>
      </p:sp>
      <p:sp>
        <p:nvSpPr>
          <p:cNvPr id="19" name="TextBox 18"/>
          <p:cNvSpPr txBox="1"/>
          <p:nvPr/>
        </p:nvSpPr>
        <p:spPr>
          <a:xfrm>
            <a:off x="4572000" y="3694176"/>
            <a:ext cx="3108960" cy="457200"/>
          </a:xfrm>
          <a:prstGeom prst="rect">
            <a:avLst/>
          </a:prstGeom>
          <a:noFill/>
        </p:spPr>
        <p:txBody>
          <a:bodyPr wrap="square" lIns="0" tIns="0" rIns="0" bIns="0" anchor="t">
            <a:spAutoFit/>
          </a:bodyPr>
          <a:lstStyle/>
          <a:p>
            <a:pPr algn="l"/>
            <a:r>
              <a:rPr sz="1000" b="1">
                <a:solidFill>
                  <a:srgbClr val="C9A227"/>
                </a:solidFill>
              </a:rPr>
              <a:t>▪</a:t>
            </a:r>
            <a:r>
              <a:rPr sz="1000" b="0">
                <a:solidFill>
                  <a:srgbClr val="1B2A41"/>
                </a:solidFill>
              </a:rPr>
              <a:t>CVaR: the question VaR refuses to answer</a:t>
            </a:r>
          </a:p>
        </p:txBody>
      </p:sp>
      <p:sp>
        <p:nvSpPr>
          <p:cNvPr id="20" name="TextBox 19"/>
          <p:cNvSpPr txBox="1"/>
          <p:nvPr/>
        </p:nvSpPr>
        <p:spPr>
          <a:xfrm>
            <a:off x="4572000" y="4169664"/>
            <a:ext cx="3108960" cy="457200"/>
          </a:xfrm>
          <a:prstGeom prst="rect">
            <a:avLst/>
          </a:prstGeom>
          <a:noFill/>
        </p:spPr>
        <p:txBody>
          <a:bodyPr wrap="square" lIns="0" tIns="0" rIns="0" bIns="0" anchor="t">
            <a:spAutoFit/>
          </a:bodyPr>
          <a:lstStyle/>
          <a:p>
            <a:pPr algn="l"/>
            <a:r>
              <a:rPr sz="1000" b="1">
                <a:solidFill>
                  <a:srgbClr val="C9A227"/>
                </a:solidFill>
              </a:rPr>
              <a:t>▪</a:t>
            </a:r>
            <a:r>
              <a:rPr sz="1000" b="0">
                <a:solidFill>
                  <a:srgbClr val="1B2A41"/>
                </a:solidFill>
              </a:rPr>
              <a:t>Basel III thresholds at 95% and 99%</a:t>
            </a:r>
          </a:p>
        </p:txBody>
      </p:sp>
      <p:sp>
        <p:nvSpPr>
          <p:cNvPr id="21" name="Rectangle 20"/>
          <p:cNvSpPr/>
          <p:nvPr/>
        </p:nvSpPr>
        <p:spPr>
          <a:xfrm>
            <a:off x="8083296" y="1572768"/>
            <a:ext cx="361188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83296" y="157276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339327" y="1847088"/>
            <a:ext cx="3108960" cy="274320"/>
          </a:xfrm>
          <a:prstGeom prst="rect">
            <a:avLst/>
          </a:prstGeom>
          <a:noFill/>
        </p:spPr>
        <p:txBody>
          <a:bodyPr wrap="square" lIns="0" tIns="0" rIns="0" bIns="0" anchor="t">
            <a:spAutoFit/>
          </a:bodyPr>
          <a:lstStyle/>
          <a:p>
            <a:pPr algn="l"/>
            <a:r>
              <a:rPr sz="950" b="1">
                <a:solidFill>
                  <a:srgbClr val="3A5C9E"/>
                </a:solidFill>
              </a:rPr>
              <a:t>HOUR 3 · 60 MIN</a:t>
            </a:r>
          </a:p>
        </p:txBody>
      </p:sp>
      <p:sp>
        <p:nvSpPr>
          <p:cNvPr id="24" name="TextBox 23"/>
          <p:cNvSpPr txBox="1"/>
          <p:nvPr/>
        </p:nvSpPr>
        <p:spPr>
          <a:xfrm>
            <a:off x="8339327" y="2176272"/>
            <a:ext cx="3108960" cy="411480"/>
          </a:xfrm>
          <a:prstGeom prst="rect">
            <a:avLst/>
          </a:prstGeom>
          <a:noFill/>
        </p:spPr>
        <p:txBody>
          <a:bodyPr wrap="square" lIns="0" tIns="0" rIns="0" bIns="0" anchor="t">
            <a:spAutoFit/>
          </a:bodyPr>
          <a:lstStyle/>
          <a:p>
            <a:pPr algn="l"/>
            <a:r>
              <a:rPr sz="1700" b="1">
                <a:solidFill>
                  <a:srgbClr val="0F2145"/>
                </a:solidFill>
                <a:latin typeface="Georgia"/>
              </a:rPr>
              <a:t>Build it</a:t>
            </a:r>
          </a:p>
        </p:txBody>
      </p:sp>
      <p:sp>
        <p:nvSpPr>
          <p:cNvPr id="25" name="TextBox 24"/>
          <p:cNvSpPr txBox="1"/>
          <p:nvPr/>
        </p:nvSpPr>
        <p:spPr>
          <a:xfrm>
            <a:off x="8339327" y="2743200"/>
            <a:ext cx="3108960" cy="457200"/>
          </a:xfrm>
          <a:prstGeom prst="rect">
            <a:avLst/>
          </a:prstGeom>
          <a:noFill/>
        </p:spPr>
        <p:txBody>
          <a:bodyPr wrap="square" lIns="0" tIns="0" rIns="0" bIns="0" anchor="t">
            <a:spAutoFit/>
          </a:bodyPr>
          <a:lstStyle/>
          <a:p>
            <a:pPr algn="l"/>
            <a:r>
              <a:rPr sz="1000" b="1">
                <a:solidFill>
                  <a:srgbClr val="C9A227"/>
                </a:solidFill>
              </a:rPr>
              <a:t>▪</a:t>
            </a:r>
            <a:r>
              <a:rPr sz="1000" b="0">
                <a:solidFill>
                  <a:srgbClr val="1B2A41"/>
                </a:solidFill>
              </a:rPr>
              <a:t>A Monte Carlo VaR engine on five NSE stocks</a:t>
            </a:r>
          </a:p>
        </p:txBody>
      </p:sp>
      <p:sp>
        <p:nvSpPr>
          <p:cNvPr id="26" name="TextBox 25"/>
          <p:cNvSpPr txBox="1"/>
          <p:nvPr/>
        </p:nvSpPr>
        <p:spPr>
          <a:xfrm>
            <a:off x="8339327" y="3218688"/>
            <a:ext cx="3108960" cy="457200"/>
          </a:xfrm>
          <a:prstGeom prst="rect">
            <a:avLst/>
          </a:prstGeom>
          <a:noFill/>
        </p:spPr>
        <p:txBody>
          <a:bodyPr wrap="square" lIns="0" tIns="0" rIns="0" bIns="0" anchor="t">
            <a:spAutoFit/>
          </a:bodyPr>
          <a:lstStyle/>
          <a:p>
            <a:pPr algn="l"/>
            <a:r>
              <a:rPr sz="1000" b="1">
                <a:solidFill>
                  <a:srgbClr val="C9A227"/>
                </a:solidFill>
              </a:rPr>
              <a:t>▪</a:t>
            </a:r>
            <a:r>
              <a:rPr sz="1000" b="0">
                <a:solidFill>
                  <a:srgbClr val="1B2A41"/>
                </a:solidFill>
              </a:rPr>
              <a:t>10,000 paths, then 95% and 99% VaR and CVaR</a:t>
            </a:r>
          </a:p>
        </p:txBody>
      </p:sp>
      <p:sp>
        <p:nvSpPr>
          <p:cNvPr id="27" name="TextBox 26"/>
          <p:cNvSpPr txBox="1"/>
          <p:nvPr/>
        </p:nvSpPr>
        <p:spPr>
          <a:xfrm>
            <a:off x="8339327" y="3694176"/>
            <a:ext cx="3108960" cy="457200"/>
          </a:xfrm>
          <a:prstGeom prst="rect">
            <a:avLst/>
          </a:prstGeom>
          <a:noFill/>
        </p:spPr>
        <p:txBody>
          <a:bodyPr wrap="square" lIns="0" tIns="0" rIns="0" bIns="0" anchor="t">
            <a:spAutoFit/>
          </a:bodyPr>
          <a:lstStyle/>
          <a:p>
            <a:pPr algn="l"/>
            <a:r>
              <a:rPr sz="1000" b="1">
                <a:solidFill>
                  <a:srgbClr val="C9A227"/>
                </a:solidFill>
              </a:rPr>
              <a:t>▪</a:t>
            </a:r>
            <a:r>
              <a:rPr sz="1000" b="0">
                <a:solidFill>
                  <a:srgbClr val="1B2A41"/>
                </a:solidFill>
              </a:rPr>
              <a:t>An AI-written risk note, checked against the numbers</a:t>
            </a:r>
          </a:p>
        </p:txBody>
      </p:sp>
      <p:sp>
        <p:nvSpPr>
          <p:cNvPr id="28" name="TextBox 27"/>
          <p:cNvSpPr txBox="1"/>
          <p:nvPr/>
        </p:nvSpPr>
        <p:spPr>
          <a:xfrm>
            <a:off x="8339327" y="4169664"/>
            <a:ext cx="3108960" cy="457200"/>
          </a:xfrm>
          <a:prstGeom prst="rect">
            <a:avLst/>
          </a:prstGeom>
          <a:noFill/>
        </p:spPr>
        <p:txBody>
          <a:bodyPr wrap="square" lIns="0" tIns="0" rIns="0" bIns="0" anchor="t">
            <a:spAutoFit/>
          </a:bodyPr>
          <a:lstStyle/>
          <a:p>
            <a:pPr algn="l"/>
            <a:r>
              <a:rPr sz="1000" b="1">
                <a:solidFill>
                  <a:srgbClr val="C9A227"/>
                </a:solidFill>
              </a:rPr>
              <a:t>▪</a:t>
            </a:r>
            <a:r>
              <a:rPr sz="1000" b="0">
                <a:solidFill>
                  <a:srgbClr val="1B2A41"/>
                </a:solidFill>
              </a:rPr>
              <a:t>One PDF report you can hand to somebody</a:t>
            </a:r>
          </a:p>
        </p:txBody>
      </p:sp>
      <p:sp>
        <p:nvSpPr>
          <p:cNvPr id="29" name="Rectangle 28"/>
          <p:cNvSpPr/>
          <p:nvPr/>
        </p:nvSpPr>
        <p:spPr>
          <a:xfrm>
            <a:off x="548640" y="4956048"/>
            <a:ext cx="11091672" cy="603504"/>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48640" y="4956048"/>
            <a:ext cx="64008" cy="60350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68680" y="4956048"/>
            <a:ext cx="10515600" cy="603504"/>
          </a:xfrm>
          <a:prstGeom prst="rect">
            <a:avLst/>
          </a:prstGeom>
          <a:noFill/>
        </p:spPr>
        <p:txBody>
          <a:bodyPr wrap="square" lIns="0" tIns="0" rIns="0" bIns="0" anchor="ctr">
            <a:spAutoFit/>
          </a:bodyPr>
          <a:lstStyle/>
          <a:p>
            <a:pPr algn="l"/>
            <a:r>
              <a:rPr sz="1100" b="1">
                <a:solidFill>
                  <a:srgbClr val="3A5C9E"/>
                </a:solidFill>
              </a:rPr>
              <a:t>THE GRADED ASSIGNMENT IS INTRODUCED TODAY.</a:t>
            </a:r>
            <a:r>
              <a:rPr sz="1100" b="0">
                <a:solidFill>
                  <a:srgbClr val="1B2A41"/>
                </a:solidFill>
              </a:rPr>
              <a:t>You will build a risk report on a portfolio of your own and defend the numbers in it.</a:t>
            </a:r>
          </a:p>
        </p:txBody>
      </p:sp>
      <p:sp>
        <p:nvSpPr>
          <p:cNvPr id="32" name="Rectangle 31"/>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22960" y="5760720"/>
            <a:ext cx="10543032" cy="603504"/>
          </a:xfrm>
          <a:prstGeom prst="rect">
            <a:avLst/>
          </a:prstGeom>
          <a:noFill/>
        </p:spPr>
        <p:txBody>
          <a:bodyPr wrap="square" lIns="0" tIns="0" rIns="0" bIns="0" anchor="ctr">
            <a:spAutoFit/>
          </a:bodyPr>
          <a:lstStyle/>
          <a:p>
            <a:pPr algn="l"/>
            <a:r>
              <a:rPr sz="1200" b="1">
                <a:solidFill>
                  <a:srgbClr val="C9A227"/>
                </a:solidFill>
              </a:rPr>
              <a:t>The whole module in one line:</a:t>
            </a:r>
            <a:r>
              <a:rPr sz="1200" b="0">
                <a:solidFill>
                  <a:srgbClr val="FFFFFF"/>
                </a:solidFill>
              </a:rPr>
              <a:t>two questions, two numbers, and the honesty to say how wrong each number could be.</a:t>
            </a:r>
          </a:p>
        </p:txBody>
      </p:sp>
      <p:sp>
        <p:nvSpPr>
          <p:cNvPr id="35" name="TextBox 34"/>
          <p:cNvSpPr txBox="1"/>
          <p:nvPr/>
        </p:nvSpPr>
        <p:spPr>
          <a:xfrm>
            <a:off x="548640" y="6473952"/>
            <a:ext cx="7315200" cy="228600"/>
          </a:xfrm>
          <a:prstGeom prst="rect">
            <a:avLst/>
          </a:prstGeom>
          <a:noFill/>
        </p:spPr>
        <p:txBody>
          <a:bodyPr wrap="square" lIns="0" tIns="0" rIns="0" bIns="0" anchor="t">
            <a:spAutoFit/>
          </a:bodyPr>
          <a:lstStyle/>
          <a:p>
            <a:pPr algn="l"/>
            <a:r>
              <a:rPr sz="800" b="0">
                <a:solidFill>
                  <a:srgbClr val="5D6B7E"/>
                </a:solidFill>
              </a:rPr>
              <a:t>AI IN FINANCE · THE COMPLETE CRASH COURSE</a:t>
            </a:r>
          </a:p>
        </p:txBody>
      </p:sp>
      <p:sp>
        <p:nvSpPr>
          <p:cNvPr id="36" name="TextBox 35"/>
          <p:cNvSpPr txBox="1"/>
          <p:nvPr/>
        </p:nvSpPr>
        <p:spPr>
          <a:xfrm>
            <a:off x="9262872" y="6473952"/>
            <a:ext cx="2377440" cy="228600"/>
          </a:xfrm>
          <a:prstGeom prst="rect">
            <a:avLst/>
          </a:prstGeom>
          <a:noFill/>
        </p:spPr>
        <p:txBody>
          <a:bodyPr wrap="square" lIns="0" tIns="0" rIns="0" bIns="0" anchor="t">
            <a:spAutoFit/>
          </a:bodyPr>
          <a:lstStyle/>
          <a:p>
            <a:pPr algn="r"/>
            <a:r>
              <a:rPr sz="800" b="0">
                <a:solidFill>
                  <a:srgbClr val="5D6B7E"/>
                </a:solidFill>
              </a:rPr>
              <a:t>MODULE 5  ·  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1E5FA8"/>
          </a:solidFill>
          <a:ln w="12700">
            <a:solidFill>
              <a:srgbClr val="1E5FA8"/>
            </a:solidFill>
            <a:prstDash val="solid"/>
          </a:ln>
        </p:spPr>
        <p:txBody>
          <a:bodyPr/>
          <a:lstStyle/>
          <a:p>
            <a:endParaRPr lang="en-US" sz="2400"/>
          </a:p>
        </p:txBody>
      </p:sp>
      <p:sp>
        <p:nvSpPr>
          <p:cNvPr id="3" name="Shape 1"/>
          <p:cNvSpPr/>
          <p:nvPr/>
        </p:nvSpPr>
        <p:spPr>
          <a:xfrm>
            <a:off x="426720" y="207264"/>
            <a:ext cx="1950720" cy="670560"/>
          </a:xfrm>
          <a:prstGeom prst="roundRect">
            <a:avLst>
              <a:gd name="adj" fmla="val 14545"/>
            </a:avLst>
          </a:prstGeom>
          <a:solidFill>
            <a:srgbClr val="FFFFFF">
              <a:alpha val="80000"/>
            </a:srgbClr>
          </a:solidFill>
          <a:ln w="12700">
            <a:solidFill>
              <a:srgbClr val="FFFFFF"/>
            </a:solidFill>
            <a:prstDash val="solid"/>
          </a:ln>
        </p:spPr>
        <p:txBody>
          <a:bodyPr/>
          <a:lstStyle/>
          <a:p>
            <a:endParaRPr lang="en-US" sz="2400"/>
          </a:p>
        </p:txBody>
      </p:sp>
      <p:sp>
        <p:nvSpPr>
          <p:cNvPr id="4" name="Text 2"/>
          <p:cNvSpPr/>
          <p:nvPr/>
        </p:nvSpPr>
        <p:spPr>
          <a:xfrm>
            <a:off x="426720" y="207264"/>
            <a:ext cx="1950720" cy="670560"/>
          </a:xfrm>
          <a:prstGeom prst="rect">
            <a:avLst/>
          </a:prstGeom>
          <a:noFill/>
          <a:ln/>
        </p:spPr>
        <p:txBody>
          <a:bodyPr wrap="square" lIns="0" tIns="0" rIns="0" bIns="0" rtlCol="0" anchor="ctr"/>
          <a:lstStyle/>
          <a:p>
            <a:pPr algn="ctr"/>
            <a:r>
              <a:rPr lang="en-US" sz="1867" b="1" dirty="0">
                <a:solidFill>
                  <a:srgbClr val="1E5FA8"/>
                </a:solidFill>
              </a:rPr>
              <a:t>BASEL II</a:t>
            </a:r>
            <a:endParaRPr lang="en-US" sz="1867" dirty="0"/>
          </a:p>
        </p:txBody>
      </p:sp>
      <p:sp>
        <p:nvSpPr>
          <p:cNvPr id="5" name="Text 3"/>
          <p:cNvSpPr/>
          <p:nvPr/>
        </p:nvSpPr>
        <p:spPr>
          <a:xfrm>
            <a:off x="2560320" y="207264"/>
            <a:ext cx="6096000" cy="670560"/>
          </a:xfrm>
          <a:prstGeom prst="rect">
            <a:avLst/>
          </a:prstGeom>
          <a:noFill/>
          <a:ln/>
        </p:spPr>
        <p:txBody>
          <a:bodyPr wrap="square" lIns="0" tIns="0" rIns="0" bIns="0" rtlCol="0" anchor="ctr"/>
          <a:lstStyle/>
          <a:p>
            <a:r>
              <a:rPr lang="en-US" sz="2533" b="1" dirty="0">
                <a:solidFill>
                  <a:srgbClr val="FFFFFF"/>
                </a:solidFill>
              </a:rPr>
              <a:t>Basel II  (2004) — Three Pillars</a:t>
            </a:r>
            <a:endParaRPr lang="en-US" sz="2533" dirty="0"/>
          </a:p>
        </p:txBody>
      </p:sp>
      <p:sp>
        <p:nvSpPr>
          <p:cNvPr id="6" name="Text 4"/>
          <p:cNvSpPr/>
          <p:nvPr/>
        </p:nvSpPr>
        <p:spPr>
          <a:xfrm>
            <a:off x="426720" y="1341120"/>
            <a:ext cx="11338560" cy="426720"/>
          </a:xfrm>
          <a:prstGeom prst="rect">
            <a:avLst/>
          </a:prstGeom>
          <a:noFill/>
          <a:ln/>
        </p:spPr>
        <p:txBody>
          <a:bodyPr wrap="square" rtlCol="0" anchor="ctr"/>
          <a:lstStyle/>
          <a:p>
            <a:r>
              <a:rPr lang="en-US" sz="1600" i="1" dirty="0">
                <a:solidFill>
                  <a:srgbClr val="5A6A80"/>
                </a:solidFill>
              </a:rPr>
              <a:t>Expanded to cover Credit, Market &amp; Operational Risk using the famous '3 Pillar' structure.</a:t>
            </a:r>
            <a:endParaRPr lang="en-US" sz="1600" dirty="0"/>
          </a:p>
        </p:txBody>
      </p:sp>
      <p:sp>
        <p:nvSpPr>
          <p:cNvPr id="7" name="Shape 5"/>
          <p:cNvSpPr/>
          <p:nvPr/>
        </p:nvSpPr>
        <p:spPr>
          <a:xfrm>
            <a:off x="365760" y="1828800"/>
            <a:ext cx="3657600" cy="3108960"/>
          </a:xfrm>
          <a:prstGeom prst="rect">
            <a:avLst/>
          </a:prstGeom>
          <a:solidFill>
            <a:srgbClr val="FFFFFF"/>
          </a:solidFill>
          <a:ln w="12700">
            <a:solidFill>
              <a:srgbClr val="D8E4F4"/>
            </a:solidFill>
            <a:prstDash val="solid"/>
          </a:ln>
          <a:effectLst>
            <a:outerShdw blurRad="76200" dist="38100" dir="8100000" algn="bl" rotWithShape="0">
              <a:srgbClr val="000000">
                <a:alpha val="12000"/>
              </a:srgbClr>
            </a:outerShdw>
          </a:effectLst>
        </p:spPr>
        <p:txBody>
          <a:bodyPr/>
          <a:lstStyle/>
          <a:p>
            <a:endParaRPr lang="en-US" sz="2400"/>
          </a:p>
        </p:txBody>
      </p:sp>
      <p:sp>
        <p:nvSpPr>
          <p:cNvPr id="8" name="Shape 6"/>
          <p:cNvSpPr/>
          <p:nvPr/>
        </p:nvSpPr>
        <p:spPr>
          <a:xfrm>
            <a:off x="365760" y="1828800"/>
            <a:ext cx="3657600" cy="463296"/>
          </a:xfrm>
          <a:prstGeom prst="rect">
            <a:avLst/>
          </a:prstGeom>
          <a:solidFill>
            <a:srgbClr val="1B2A4A"/>
          </a:solidFill>
          <a:ln w="12700">
            <a:solidFill>
              <a:srgbClr val="1B2A4A"/>
            </a:solidFill>
            <a:prstDash val="solid"/>
          </a:ln>
        </p:spPr>
        <p:txBody>
          <a:bodyPr/>
          <a:lstStyle/>
          <a:p>
            <a:endParaRPr lang="en-US" sz="2400"/>
          </a:p>
        </p:txBody>
      </p:sp>
      <p:sp>
        <p:nvSpPr>
          <p:cNvPr id="9" name="Text 7"/>
          <p:cNvSpPr/>
          <p:nvPr/>
        </p:nvSpPr>
        <p:spPr>
          <a:xfrm>
            <a:off x="512064" y="1828800"/>
            <a:ext cx="3474720" cy="463296"/>
          </a:xfrm>
          <a:prstGeom prst="rect">
            <a:avLst/>
          </a:prstGeom>
          <a:noFill/>
          <a:ln/>
        </p:spPr>
        <p:txBody>
          <a:bodyPr wrap="square" lIns="0" tIns="0" rIns="0" bIns="0" rtlCol="0" anchor="ctr"/>
          <a:lstStyle/>
          <a:p>
            <a:r>
              <a:rPr lang="en-US" sz="1467" b="1" dirty="0">
                <a:solidFill>
                  <a:srgbClr val="FFFFFF"/>
                </a:solidFill>
              </a:rPr>
              <a:t>🏛️  Pillar 1 — Minimum Capital</a:t>
            </a:r>
            <a:endParaRPr lang="en-US" sz="1467" dirty="0"/>
          </a:p>
        </p:txBody>
      </p:sp>
      <p:sp>
        <p:nvSpPr>
          <p:cNvPr id="10" name="Text 8"/>
          <p:cNvSpPr/>
          <p:nvPr/>
        </p:nvSpPr>
        <p:spPr>
          <a:xfrm>
            <a:off x="512064" y="2340864"/>
            <a:ext cx="3413760" cy="2438400"/>
          </a:xfrm>
          <a:prstGeom prst="rect">
            <a:avLst/>
          </a:prstGeom>
          <a:noFill/>
          <a:ln/>
        </p:spPr>
        <p:txBody>
          <a:bodyPr wrap="square" rtlCol="0" anchor="t"/>
          <a:lstStyle/>
          <a:p>
            <a:pPr marL="457189" indent="-457189">
              <a:spcAft>
                <a:spcPts val="267"/>
              </a:spcAft>
              <a:buSzPct val="100000"/>
              <a:buChar char="•"/>
            </a:pPr>
            <a:r>
              <a:rPr lang="en-US" sz="1400" dirty="0">
                <a:solidFill>
                  <a:srgbClr val="1C2A3A"/>
                </a:solidFill>
              </a:rPr>
              <a:t>Still 8% CAR (same as Basel I)</a:t>
            </a:r>
            <a:endParaRPr lang="en-US" sz="1400" dirty="0"/>
          </a:p>
          <a:p>
            <a:pPr marL="457189" indent="-457189">
              <a:spcAft>
                <a:spcPts val="267"/>
              </a:spcAft>
              <a:buSzPct val="100000"/>
              <a:buChar char="•"/>
            </a:pPr>
            <a:r>
              <a:rPr lang="en-US" sz="1400" dirty="0">
                <a:solidFill>
                  <a:srgbClr val="1C2A3A"/>
                </a:solidFill>
              </a:rPr>
              <a:t>CREDIT RISK: Standard, IRB (basic), Advanced IRB</a:t>
            </a:r>
            <a:endParaRPr lang="en-US" sz="1400" dirty="0"/>
          </a:p>
          <a:p>
            <a:pPr marL="457189" indent="-457189">
              <a:spcAft>
                <a:spcPts val="267"/>
              </a:spcAft>
              <a:buSzPct val="100000"/>
              <a:buChar char="•"/>
            </a:pPr>
            <a:r>
              <a:rPr lang="en-US" sz="1400" dirty="0">
                <a:solidFill>
                  <a:srgbClr val="1C2A3A"/>
                </a:solidFill>
              </a:rPr>
              <a:t>MARKET RISK: Standardised or Internal Model (VaR)</a:t>
            </a:r>
            <a:endParaRPr lang="en-US" sz="1400" dirty="0"/>
          </a:p>
          <a:p>
            <a:pPr marL="457189" indent="-457189">
              <a:spcAft>
                <a:spcPts val="267"/>
              </a:spcAft>
              <a:buSzPct val="100000"/>
              <a:buChar char="•"/>
            </a:pPr>
            <a:r>
              <a:rPr lang="en-US" sz="1400" dirty="0">
                <a:solidFill>
                  <a:srgbClr val="1C2A3A"/>
                </a:solidFill>
              </a:rPr>
              <a:t>OPS RISK: Basic Ind. (15%), Standardised (12–18%),</a:t>
            </a:r>
            <a:endParaRPr lang="en-US" sz="1400" dirty="0"/>
          </a:p>
          <a:p>
            <a:pPr marL="457189" indent="-457189">
              <a:spcAft>
                <a:spcPts val="267"/>
              </a:spcAft>
              <a:buSzPct val="100000"/>
              <a:buChar char="•"/>
            </a:pPr>
            <a:r>
              <a:rPr lang="en-US" sz="1400" dirty="0">
                <a:solidFill>
                  <a:srgbClr val="1C2A3A"/>
                </a:solidFill>
              </a:rPr>
              <a:t>AMA (own model)</a:t>
            </a:r>
            <a:endParaRPr lang="en-US" sz="1400" dirty="0"/>
          </a:p>
        </p:txBody>
      </p:sp>
      <p:sp>
        <p:nvSpPr>
          <p:cNvPr id="11" name="Shape 9"/>
          <p:cNvSpPr/>
          <p:nvPr/>
        </p:nvSpPr>
        <p:spPr>
          <a:xfrm>
            <a:off x="4303776" y="1828800"/>
            <a:ext cx="3657600" cy="3108960"/>
          </a:xfrm>
          <a:prstGeom prst="rect">
            <a:avLst/>
          </a:prstGeom>
          <a:solidFill>
            <a:srgbClr val="FFFFFF"/>
          </a:solidFill>
          <a:ln w="12700">
            <a:solidFill>
              <a:srgbClr val="D8E4F4"/>
            </a:solidFill>
            <a:prstDash val="solid"/>
          </a:ln>
          <a:effectLst>
            <a:outerShdw blurRad="76200" dist="38100" dir="8100000" algn="bl" rotWithShape="0">
              <a:srgbClr val="000000">
                <a:alpha val="12000"/>
              </a:srgbClr>
            </a:outerShdw>
          </a:effectLst>
        </p:spPr>
        <p:txBody>
          <a:bodyPr/>
          <a:lstStyle/>
          <a:p>
            <a:endParaRPr lang="en-US" sz="2400"/>
          </a:p>
        </p:txBody>
      </p:sp>
      <p:sp>
        <p:nvSpPr>
          <p:cNvPr id="12" name="Shape 10"/>
          <p:cNvSpPr/>
          <p:nvPr/>
        </p:nvSpPr>
        <p:spPr>
          <a:xfrm>
            <a:off x="4303776" y="1828800"/>
            <a:ext cx="3657600" cy="463296"/>
          </a:xfrm>
          <a:prstGeom prst="rect">
            <a:avLst/>
          </a:prstGeom>
          <a:solidFill>
            <a:srgbClr val="0D8A8A"/>
          </a:solidFill>
          <a:ln w="12700">
            <a:solidFill>
              <a:srgbClr val="0D8A8A"/>
            </a:solidFill>
            <a:prstDash val="solid"/>
          </a:ln>
        </p:spPr>
        <p:txBody>
          <a:bodyPr/>
          <a:lstStyle/>
          <a:p>
            <a:endParaRPr lang="en-US" sz="2400"/>
          </a:p>
        </p:txBody>
      </p:sp>
      <p:sp>
        <p:nvSpPr>
          <p:cNvPr id="13" name="Text 11"/>
          <p:cNvSpPr/>
          <p:nvPr/>
        </p:nvSpPr>
        <p:spPr>
          <a:xfrm>
            <a:off x="4450080" y="1828800"/>
            <a:ext cx="3474720" cy="463296"/>
          </a:xfrm>
          <a:prstGeom prst="rect">
            <a:avLst/>
          </a:prstGeom>
          <a:noFill/>
          <a:ln/>
        </p:spPr>
        <p:txBody>
          <a:bodyPr wrap="square" lIns="0" tIns="0" rIns="0" bIns="0" rtlCol="0" anchor="ctr"/>
          <a:lstStyle/>
          <a:p>
            <a:r>
              <a:rPr lang="en-US" sz="1467" b="1" dirty="0">
                <a:solidFill>
                  <a:srgbClr val="FFFFFF"/>
                </a:solidFill>
              </a:rPr>
              <a:t>🔍  Pillar 2 — Supervisory Review</a:t>
            </a:r>
            <a:endParaRPr lang="en-US" sz="1467" dirty="0"/>
          </a:p>
        </p:txBody>
      </p:sp>
      <p:sp>
        <p:nvSpPr>
          <p:cNvPr id="14" name="Text 12"/>
          <p:cNvSpPr/>
          <p:nvPr/>
        </p:nvSpPr>
        <p:spPr>
          <a:xfrm>
            <a:off x="4450080" y="2340864"/>
            <a:ext cx="3413760" cy="2438400"/>
          </a:xfrm>
          <a:prstGeom prst="rect">
            <a:avLst/>
          </a:prstGeom>
          <a:noFill/>
          <a:ln/>
        </p:spPr>
        <p:txBody>
          <a:bodyPr wrap="square" rtlCol="0" anchor="t"/>
          <a:lstStyle/>
          <a:p>
            <a:pPr marL="457189" indent="-457189">
              <a:spcAft>
                <a:spcPts val="267"/>
              </a:spcAft>
              <a:buSzPct val="100000"/>
              <a:buChar char="•"/>
            </a:pPr>
            <a:r>
              <a:rPr lang="en-US" sz="1400" dirty="0">
                <a:solidFill>
                  <a:srgbClr val="1C2A3A"/>
                </a:solidFill>
              </a:rPr>
              <a:t>Regulators check if banks hold ENOUGH capital</a:t>
            </a:r>
            <a:endParaRPr lang="en-US" sz="1400" dirty="0"/>
          </a:p>
          <a:p>
            <a:pPr marL="457189" indent="-457189">
              <a:spcAft>
                <a:spcPts val="267"/>
              </a:spcAft>
              <a:buSzPct val="100000"/>
              <a:buChar char="•"/>
            </a:pPr>
            <a:r>
              <a:rPr lang="en-US" sz="1400" dirty="0">
                <a:solidFill>
                  <a:srgbClr val="1C2A3A"/>
                </a:solidFill>
              </a:rPr>
              <a:t>Bank must have ICAAP (Internal Capital Adequacy</a:t>
            </a:r>
            <a:endParaRPr lang="en-US" sz="1400" dirty="0"/>
          </a:p>
          <a:p>
            <a:pPr marL="457189" indent="-457189">
              <a:spcAft>
                <a:spcPts val="267"/>
              </a:spcAft>
              <a:buSzPct val="100000"/>
              <a:buChar char="•"/>
            </a:pPr>
            <a:r>
              <a:rPr lang="en-US" sz="1400" dirty="0">
                <a:solidFill>
                  <a:srgbClr val="1C2A3A"/>
                </a:solidFill>
              </a:rPr>
              <a:t>Assessment Process)</a:t>
            </a:r>
            <a:endParaRPr lang="en-US" sz="1400" dirty="0"/>
          </a:p>
          <a:p>
            <a:pPr marL="457189" indent="-457189">
              <a:spcAft>
                <a:spcPts val="267"/>
              </a:spcAft>
              <a:buSzPct val="100000"/>
              <a:buChar char="•"/>
            </a:pPr>
            <a:r>
              <a:rPr lang="en-US" sz="1400" dirty="0">
                <a:solidFill>
                  <a:srgbClr val="1C2A3A"/>
                </a:solidFill>
              </a:rPr>
              <a:t>Regulator can demand MORE capital than minimum</a:t>
            </a:r>
            <a:endParaRPr lang="en-US" sz="1400" dirty="0"/>
          </a:p>
        </p:txBody>
      </p:sp>
      <p:sp>
        <p:nvSpPr>
          <p:cNvPr id="15" name="Shape 13"/>
          <p:cNvSpPr/>
          <p:nvPr/>
        </p:nvSpPr>
        <p:spPr>
          <a:xfrm>
            <a:off x="8241792" y="1828800"/>
            <a:ext cx="3657600" cy="3108960"/>
          </a:xfrm>
          <a:prstGeom prst="rect">
            <a:avLst/>
          </a:prstGeom>
          <a:solidFill>
            <a:srgbClr val="FFFFFF"/>
          </a:solidFill>
          <a:ln w="12700">
            <a:solidFill>
              <a:srgbClr val="D8E4F4"/>
            </a:solidFill>
            <a:prstDash val="solid"/>
          </a:ln>
          <a:effectLst>
            <a:outerShdw blurRad="76200" dist="38100" dir="8100000" algn="bl" rotWithShape="0">
              <a:srgbClr val="000000">
                <a:alpha val="12000"/>
              </a:srgbClr>
            </a:outerShdw>
          </a:effectLst>
        </p:spPr>
        <p:txBody>
          <a:bodyPr/>
          <a:lstStyle/>
          <a:p>
            <a:endParaRPr lang="en-US" sz="2400"/>
          </a:p>
        </p:txBody>
      </p:sp>
      <p:sp>
        <p:nvSpPr>
          <p:cNvPr id="16" name="Shape 14"/>
          <p:cNvSpPr/>
          <p:nvPr/>
        </p:nvSpPr>
        <p:spPr>
          <a:xfrm>
            <a:off x="8241792" y="1828800"/>
            <a:ext cx="3657600" cy="463296"/>
          </a:xfrm>
          <a:prstGeom prst="rect">
            <a:avLst/>
          </a:prstGeom>
          <a:solidFill>
            <a:srgbClr val="D95D2B"/>
          </a:solidFill>
          <a:ln w="12700">
            <a:solidFill>
              <a:srgbClr val="D95D2B"/>
            </a:solidFill>
            <a:prstDash val="solid"/>
          </a:ln>
        </p:spPr>
        <p:txBody>
          <a:bodyPr/>
          <a:lstStyle/>
          <a:p>
            <a:endParaRPr lang="en-US" sz="2400"/>
          </a:p>
        </p:txBody>
      </p:sp>
      <p:sp>
        <p:nvSpPr>
          <p:cNvPr id="17" name="Text 15"/>
          <p:cNvSpPr/>
          <p:nvPr/>
        </p:nvSpPr>
        <p:spPr>
          <a:xfrm>
            <a:off x="8388096" y="1828800"/>
            <a:ext cx="3474720" cy="463296"/>
          </a:xfrm>
          <a:prstGeom prst="rect">
            <a:avLst/>
          </a:prstGeom>
          <a:noFill/>
          <a:ln/>
        </p:spPr>
        <p:txBody>
          <a:bodyPr wrap="square" lIns="0" tIns="0" rIns="0" bIns="0" rtlCol="0" anchor="ctr"/>
          <a:lstStyle/>
          <a:p>
            <a:r>
              <a:rPr lang="en-US" sz="1467" b="1" dirty="0">
                <a:solidFill>
                  <a:srgbClr val="FFFFFF"/>
                </a:solidFill>
              </a:rPr>
              <a:t>📢  Pillar 3 — Market Discipline</a:t>
            </a:r>
            <a:endParaRPr lang="en-US" sz="1467" dirty="0"/>
          </a:p>
        </p:txBody>
      </p:sp>
      <p:sp>
        <p:nvSpPr>
          <p:cNvPr id="18" name="Text 16"/>
          <p:cNvSpPr/>
          <p:nvPr/>
        </p:nvSpPr>
        <p:spPr>
          <a:xfrm>
            <a:off x="8388096" y="2340864"/>
            <a:ext cx="3413760" cy="2438400"/>
          </a:xfrm>
          <a:prstGeom prst="rect">
            <a:avLst/>
          </a:prstGeom>
          <a:noFill/>
          <a:ln/>
        </p:spPr>
        <p:txBody>
          <a:bodyPr wrap="square" rtlCol="0" anchor="t"/>
          <a:lstStyle/>
          <a:p>
            <a:pPr marL="457189" indent="-457189">
              <a:spcAft>
                <a:spcPts val="267"/>
              </a:spcAft>
              <a:buSzPct val="100000"/>
              <a:buChar char="•"/>
            </a:pPr>
            <a:r>
              <a:rPr lang="en-US" sz="1400" dirty="0">
                <a:solidFill>
                  <a:srgbClr val="1C2A3A"/>
                </a:solidFill>
              </a:rPr>
              <a:t>Banks must DISCLOSE their risks publicly</a:t>
            </a:r>
            <a:endParaRPr lang="en-US" sz="1400" dirty="0"/>
          </a:p>
          <a:p>
            <a:pPr marL="457189" indent="-457189">
              <a:spcAft>
                <a:spcPts val="267"/>
              </a:spcAft>
              <a:buSzPct val="100000"/>
              <a:buChar char="•"/>
            </a:pPr>
            <a:r>
              <a:rPr lang="en-US" sz="1400" dirty="0">
                <a:solidFill>
                  <a:srgbClr val="1C2A3A"/>
                </a:solidFill>
              </a:rPr>
              <a:t>Capital structure, risk exposures, &amp; RWA</a:t>
            </a:r>
            <a:endParaRPr lang="en-US" sz="1400" dirty="0"/>
          </a:p>
          <a:p>
            <a:pPr marL="457189" indent="-457189">
              <a:spcAft>
                <a:spcPts val="267"/>
              </a:spcAft>
              <a:buSzPct val="100000"/>
              <a:buChar char="•"/>
            </a:pPr>
            <a:r>
              <a:rPr lang="en-US" sz="1400" dirty="0">
                <a:solidFill>
                  <a:srgbClr val="1C2A3A"/>
                </a:solidFill>
              </a:rPr>
              <a:t>Aims to let markets penalise risky banks</a:t>
            </a:r>
            <a:endParaRPr lang="en-US" sz="1400" dirty="0"/>
          </a:p>
        </p:txBody>
      </p:sp>
      <p:sp>
        <p:nvSpPr>
          <p:cNvPr id="19" name="Text 17"/>
          <p:cNvSpPr/>
          <p:nvPr/>
        </p:nvSpPr>
        <p:spPr>
          <a:xfrm>
            <a:off x="365760" y="4937760"/>
            <a:ext cx="11460480" cy="365760"/>
          </a:xfrm>
          <a:prstGeom prst="rect">
            <a:avLst/>
          </a:prstGeom>
          <a:noFill/>
          <a:ln/>
        </p:spPr>
        <p:txBody>
          <a:bodyPr wrap="square" rtlCol="0" anchor="ctr"/>
          <a:lstStyle/>
          <a:p>
            <a:r>
              <a:rPr lang="en-US" sz="1467" b="1" dirty="0">
                <a:solidFill>
                  <a:srgbClr val="1B2A4A"/>
                </a:solidFill>
              </a:rPr>
              <a:t>Key Formulas at a Glance</a:t>
            </a:r>
            <a:endParaRPr lang="en-US" sz="1467" dirty="0"/>
          </a:p>
        </p:txBody>
      </p:sp>
      <p:sp>
        <p:nvSpPr>
          <p:cNvPr id="20" name="Shape 18"/>
          <p:cNvSpPr/>
          <p:nvPr/>
        </p:nvSpPr>
        <p:spPr>
          <a:xfrm>
            <a:off x="365760" y="5340096"/>
            <a:ext cx="3596640" cy="1036320"/>
          </a:xfrm>
          <a:prstGeom prst="rect">
            <a:avLst/>
          </a:prstGeom>
          <a:solidFill>
            <a:srgbClr val="EFF5FF"/>
          </a:solidFill>
          <a:ln w="25400">
            <a:solidFill>
              <a:srgbClr val="1B2A4A"/>
            </a:solidFill>
            <a:prstDash val="solid"/>
          </a:ln>
        </p:spPr>
        <p:txBody>
          <a:bodyPr/>
          <a:lstStyle/>
          <a:p>
            <a:endParaRPr lang="en-US" sz="2400"/>
          </a:p>
        </p:txBody>
      </p:sp>
      <p:sp>
        <p:nvSpPr>
          <p:cNvPr id="21" name="Shape 19"/>
          <p:cNvSpPr/>
          <p:nvPr/>
        </p:nvSpPr>
        <p:spPr>
          <a:xfrm>
            <a:off x="365760" y="5340096"/>
            <a:ext cx="85344" cy="1036320"/>
          </a:xfrm>
          <a:prstGeom prst="rect">
            <a:avLst/>
          </a:prstGeom>
          <a:solidFill>
            <a:srgbClr val="1B2A4A"/>
          </a:solidFill>
          <a:ln w="12700">
            <a:solidFill>
              <a:srgbClr val="1B2A4A"/>
            </a:solidFill>
            <a:prstDash val="solid"/>
          </a:ln>
        </p:spPr>
        <p:txBody>
          <a:bodyPr/>
          <a:lstStyle/>
          <a:p>
            <a:endParaRPr lang="en-US" sz="2400"/>
          </a:p>
        </p:txBody>
      </p:sp>
      <p:sp>
        <p:nvSpPr>
          <p:cNvPr id="22" name="Text 20"/>
          <p:cNvSpPr/>
          <p:nvPr/>
        </p:nvSpPr>
        <p:spPr>
          <a:xfrm>
            <a:off x="536448" y="5340096"/>
            <a:ext cx="3352800" cy="365760"/>
          </a:xfrm>
          <a:prstGeom prst="rect">
            <a:avLst/>
          </a:prstGeom>
          <a:noFill/>
          <a:ln/>
        </p:spPr>
        <p:txBody>
          <a:bodyPr wrap="square" lIns="0" tIns="0" rIns="0" bIns="0" rtlCol="0" anchor="ctr"/>
          <a:lstStyle/>
          <a:p>
            <a:r>
              <a:rPr lang="en-US" sz="1200" b="1" dirty="0">
                <a:solidFill>
                  <a:srgbClr val="1B2A4A"/>
                </a:solidFill>
              </a:rPr>
              <a:t>Credit Risk (Standardised)</a:t>
            </a:r>
            <a:endParaRPr lang="en-US" sz="1200" dirty="0"/>
          </a:p>
        </p:txBody>
      </p:sp>
      <p:sp>
        <p:nvSpPr>
          <p:cNvPr id="23" name="Text 21"/>
          <p:cNvSpPr/>
          <p:nvPr/>
        </p:nvSpPr>
        <p:spPr>
          <a:xfrm>
            <a:off x="536448" y="5681472"/>
            <a:ext cx="3352800" cy="646176"/>
          </a:xfrm>
          <a:prstGeom prst="rect">
            <a:avLst/>
          </a:prstGeom>
          <a:noFill/>
          <a:ln/>
        </p:spPr>
        <p:txBody>
          <a:bodyPr wrap="square" lIns="0" tIns="0" rIns="0" bIns="0" rtlCol="0" anchor="t"/>
          <a:lstStyle/>
          <a:p>
            <a:r>
              <a:rPr lang="en-US" sz="1400" b="1" dirty="0">
                <a:solidFill>
                  <a:srgbClr val="1B2A4A"/>
                </a:solidFill>
                <a:latin typeface="Consolas" pitchFamily="34" charset="0"/>
                <a:ea typeface="Consolas" pitchFamily="34" charset="-122"/>
                <a:cs typeface="Consolas" pitchFamily="34" charset="-120"/>
              </a:rPr>
              <a:t>RWA = Exposure × Risk Weight</a:t>
            </a:r>
            <a:endParaRPr lang="en-US" sz="1400" dirty="0"/>
          </a:p>
          <a:p>
            <a:r>
              <a:rPr lang="en-US" sz="1400" b="1" dirty="0">
                <a:solidFill>
                  <a:srgbClr val="1B2A4A"/>
                </a:solidFill>
                <a:latin typeface="Consolas" pitchFamily="34" charset="0"/>
                <a:ea typeface="Consolas" pitchFamily="34" charset="-122"/>
                <a:cs typeface="Consolas" pitchFamily="34" charset="-120"/>
              </a:rPr>
              <a:t>CAR = Capital / RWA ≥ 8%</a:t>
            </a:r>
            <a:endParaRPr lang="en-US" sz="1400" dirty="0"/>
          </a:p>
        </p:txBody>
      </p:sp>
      <p:sp>
        <p:nvSpPr>
          <p:cNvPr id="24" name="Shape 22"/>
          <p:cNvSpPr/>
          <p:nvPr/>
        </p:nvSpPr>
        <p:spPr>
          <a:xfrm>
            <a:off x="4242816" y="5340096"/>
            <a:ext cx="3596640" cy="1036320"/>
          </a:xfrm>
          <a:prstGeom prst="rect">
            <a:avLst/>
          </a:prstGeom>
          <a:solidFill>
            <a:srgbClr val="EFF5FF"/>
          </a:solidFill>
          <a:ln w="25400">
            <a:solidFill>
              <a:srgbClr val="1E5FA8"/>
            </a:solidFill>
            <a:prstDash val="solid"/>
          </a:ln>
        </p:spPr>
        <p:txBody>
          <a:bodyPr/>
          <a:lstStyle/>
          <a:p>
            <a:endParaRPr lang="en-US" sz="2400"/>
          </a:p>
        </p:txBody>
      </p:sp>
      <p:sp>
        <p:nvSpPr>
          <p:cNvPr id="25" name="Shape 23"/>
          <p:cNvSpPr/>
          <p:nvPr/>
        </p:nvSpPr>
        <p:spPr>
          <a:xfrm>
            <a:off x="4242816" y="5340096"/>
            <a:ext cx="85344" cy="1036320"/>
          </a:xfrm>
          <a:prstGeom prst="rect">
            <a:avLst/>
          </a:prstGeom>
          <a:solidFill>
            <a:srgbClr val="1E5FA8"/>
          </a:solidFill>
          <a:ln w="12700">
            <a:solidFill>
              <a:srgbClr val="1E5FA8"/>
            </a:solidFill>
            <a:prstDash val="solid"/>
          </a:ln>
        </p:spPr>
        <p:txBody>
          <a:bodyPr/>
          <a:lstStyle/>
          <a:p>
            <a:endParaRPr lang="en-US" sz="2400"/>
          </a:p>
        </p:txBody>
      </p:sp>
      <p:sp>
        <p:nvSpPr>
          <p:cNvPr id="26" name="Text 24"/>
          <p:cNvSpPr/>
          <p:nvPr/>
        </p:nvSpPr>
        <p:spPr>
          <a:xfrm>
            <a:off x="4413504" y="5340096"/>
            <a:ext cx="3352800" cy="365760"/>
          </a:xfrm>
          <a:prstGeom prst="rect">
            <a:avLst/>
          </a:prstGeom>
          <a:noFill/>
          <a:ln/>
        </p:spPr>
        <p:txBody>
          <a:bodyPr wrap="square" lIns="0" tIns="0" rIns="0" bIns="0" rtlCol="0" anchor="ctr"/>
          <a:lstStyle/>
          <a:p>
            <a:r>
              <a:rPr lang="en-US" sz="1200" b="1" dirty="0">
                <a:solidFill>
                  <a:srgbClr val="1E5FA8"/>
                </a:solidFill>
              </a:rPr>
              <a:t>Market Risk (VaR)</a:t>
            </a:r>
            <a:endParaRPr lang="en-US" sz="1200" dirty="0"/>
          </a:p>
        </p:txBody>
      </p:sp>
      <p:sp>
        <p:nvSpPr>
          <p:cNvPr id="27" name="Text 25"/>
          <p:cNvSpPr/>
          <p:nvPr/>
        </p:nvSpPr>
        <p:spPr>
          <a:xfrm>
            <a:off x="4413504" y="5681472"/>
            <a:ext cx="3352800" cy="646176"/>
          </a:xfrm>
          <a:prstGeom prst="rect">
            <a:avLst/>
          </a:prstGeom>
          <a:noFill/>
          <a:ln/>
        </p:spPr>
        <p:txBody>
          <a:bodyPr wrap="square" lIns="0" tIns="0" rIns="0" bIns="0" rtlCol="0" anchor="t"/>
          <a:lstStyle/>
          <a:p>
            <a:r>
              <a:rPr lang="en-US" sz="1400" b="1" dirty="0">
                <a:solidFill>
                  <a:srgbClr val="1B2A4A"/>
                </a:solidFill>
                <a:latin typeface="Consolas" pitchFamily="34" charset="0"/>
                <a:ea typeface="Consolas" pitchFamily="34" charset="-122"/>
                <a:cs typeface="Consolas" pitchFamily="34" charset="-120"/>
              </a:rPr>
              <a:t>Capital = max(VaR, 3×avg VaR_60)</a:t>
            </a:r>
            <a:endParaRPr lang="en-US" sz="1400" dirty="0"/>
          </a:p>
          <a:p>
            <a:r>
              <a:rPr lang="en-US" sz="1400" b="1" dirty="0">
                <a:solidFill>
                  <a:srgbClr val="1B2A4A"/>
                </a:solidFill>
                <a:latin typeface="Consolas" pitchFamily="34" charset="0"/>
                <a:ea typeface="Consolas" pitchFamily="34" charset="-122"/>
                <a:cs typeface="Consolas" pitchFamily="34" charset="-120"/>
              </a:rPr>
              <a:t>VaR: 99% confidence, 10-day</a:t>
            </a:r>
            <a:endParaRPr lang="en-US" sz="1400" dirty="0"/>
          </a:p>
        </p:txBody>
      </p:sp>
      <p:sp>
        <p:nvSpPr>
          <p:cNvPr id="28" name="Shape 26"/>
          <p:cNvSpPr/>
          <p:nvPr/>
        </p:nvSpPr>
        <p:spPr>
          <a:xfrm>
            <a:off x="8107680" y="5340096"/>
            <a:ext cx="3596640" cy="1036320"/>
          </a:xfrm>
          <a:prstGeom prst="rect">
            <a:avLst/>
          </a:prstGeom>
          <a:solidFill>
            <a:srgbClr val="EFF5FF"/>
          </a:solidFill>
          <a:ln w="25400">
            <a:solidFill>
              <a:srgbClr val="D95D2B"/>
            </a:solidFill>
            <a:prstDash val="solid"/>
          </a:ln>
        </p:spPr>
        <p:txBody>
          <a:bodyPr/>
          <a:lstStyle/>
          <a:p>
            <a:endParaRPr lang="en-US" sz="2400"/>
          </a:p>
        </p:txBody>
      </p:sp>
      <p:sp>
        <p:nvSpPr>
          <p:cNvPr id="29" name="Shape 27"/>
          <p:cNvSpPr/>
          <p:nvPr/>
        </p:nvSpPr>
        <p:spPr>
          <a:xfrm>
            <a:off x="8107680" y="5340096"/>
            <a:ext cx="85344" cy="1036320"/>
          </a:xfrm>
          <a:prstGeom prst="rect">
            <a:avLst/>
          </a:prstGeom>
          <a:solidFill>
            <a:srgbClr val="D95D2B"/>
          </a:solidFill>
          <a:ln w="12700">
            <a:solidFill>
              <a:srgbClr val="D95D2B"/>
            </a:solidFill>
            <a:prstDash val="solid"/>
          </a:ln>
        </p:spPr>
        <p:txBody>
          <a:bodyPr/>
          <a:lstStyle/>
          <a:p>
            <a:endParaRPr lang="en-US" sz="2400"/>
          </a:p>
        </p:txBody>
      </p:sp>
      <p:sp>
        <p:nvSpPr>
          <p:cNvPr id="30" name="Text 28"/>
          <p:cNvSpPr/>
          <p:nvPr/>
        </p:nvSpPr>
        <p:spPr>
          <a:xfrm>
            <a:off x="8278368" y="5340096"/>
            <a:ext cx="3352800" cy="365760"/>
          </a:xfrm>
          <a:prstGeom prst="rect">
            <a:avLst/>
          </a:prstGeom>
          <a:noFill/>
          <a:ln/>
        </p:spPr>
        <p:txBody>
          <a:bodyPr wrap="square" lIns="0" tIns="0" rIns="0" bIns="0" rtlCol="0" anchor="ctr"/>
          <a:lstStyle/>
          <a:p>
            <a:r>
              <a:rPr lang="en-US" sz="1200" b="1" dirty="0">
                <a:solidFill>
                  <a:srgbClr val="D95D2B"/>
                </a:solidFill>
              </a:rPr>
              <a:t>Ops Risk (Basic Indicator)</a:t>
            </a:r>
            <a:endParaRPr lang="en-US" sz="1200" dirty="0"/>
          </a:p>
        </p:txBody>
      </p:sp>
      <p:sp>
        <p:nvSpPr>
          <p:cNvPr id="31" name="Text 29"/>
          <p:cNvSpPr/>
          <p:nvPr/>
        </p:nvSpPr>
        <p:spPr>
          <a:xfrm>
            <a:off x="8278368" y="5681472"/>
            <a:ext cx="3352800" cy="646176"/>
          </a:xfrm>
          <a:prstGeom prst="rect">
            <a:avLst/>
          </a:prstGeom>
          <a:noFill/>
          <a:ln/>
        </p:spPr>
        <p:txBody>
          <a:bodyPr wrap="square" lIns="0" tIns="0" rIns="0" bIns="0" rtlCol="0" anchor="t"/>
          <a:lstStyle/>
          <a:p>
            <a:r>
              <a:rPr lang="en-US" sz="1400" b="1" dirty="0">
                <a:solidFill>
                  <a:srgbClr val="1B2A4A"/>
                </a:solidFill>
                <a:latin typeface="Consolas" pitchFamily="34" charset="0"/>
                <a:ea typeface="Consolas" pitchFamily="34" charset="-122"/>
                <a:cs typeface="Consolas" pitchFamily="34" charset="-120"/>
              </a:rPr>
              <a:t>Capital = 15% × Avg Gross Income</a:t>
            </a:r>
            <a:endParaRPr lang="en-US" sz="1400" dirty="0"/>
          </a:p>
          <a:p>
            <a:r>
              <a:rPr lang="en-US" sz="1400" b="1" dirty="0">
                <a:solidFill>
                  <a:srgbClr val="1B2A4A"/>
                </a:solidFill>
                <a:latin typeface="Consolas" pitchFamily="34" charset="0"/>
                <a:ea typeface="Consolas" pitchFamily="34" charset="-122"/>
                <a:cs typeface="Consolas" pitchFamily="34" charset="-120"/>
              </a:rPr>
              <a:t>(avg of last 3 positive years)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86384" y="310896"/>
            <a:ext cx="10817352" cy="274320"/>
          </a:xfrm>
          <a:prstGeom prst="rect">
            <a:avLst/>
          </a:prstGeom>
          <a:noFill/>
        </p:spPr>
        <p:txBody>
          <a:bodyPr wrap="square" lIns="0" tIns="0" rIns="0" bIns="0" anchor="t">
            <a:spAutoFit/>
          </a:bodyPr>
          <a:lstStyle/>
          <a:p>
            <a:pPr algn="l"/>
            <a:r>
              <a:rPr sz="1100" b="1">
                <a:solidFill>
                  <a:srgbClr val="C9A227"/>
                </a:solidFill>
              </a:rPr>
              <a:t>HOUR 1 · CREDIT RISK</a:t>
            </a:r>
          </a:p>
        </p:txBody>
      </p:sp>
      <p:sp>
        <p:nvSpPr>
          <p:cNvPr id="4" name="TextBox 3"/>
          <p:cNvSpPr txBox="1"/>
          <p:nvPr/>
        </p:nvSpPr>
        <p:spPr>
          <a:xfrm>
            <a:off x="548640" y="621792"/>
            <a:ext cx="11091672" cy="731520"/>
          </a:xfrm>
          <a:prstGeom prst="rect">
            <a:avLst/>
          </a:prstGeom>
          <a:noFill/>
        </p:spPr>
        <p:txBody>
          <a:bodyPr wrap="square" lIns="0" tIns="0" rIns="0" bIns="0" anchor="t">
            <a:spAutoFit/>
          </a:bodyPr>
          <a:lstStyle/>
          <a:p>
            <a:pPr algn="l"/>
            <a:r>
              <a:rPr sz="2900" b="1">
                <a:solidFill>
                  <a:srgbClr val="0F2145"/>
                </a:solidFill>
                <a:latin typeface="Georgia"/>
              </a:rPr>
              <a:t>Three numbers, one multiplication</a:t>
            </a:r>
          </a:p>
        </p:txBody>
      </p:sp>
      <p:sp>
        <p:nvSpPr>
          <p:cNvPr id="5" name="Rectangle 4"/>
          <p:cNvSpPr/>
          <p:nvPr/>
        </p:nvSpPr>
        <p:spPr>
          <a:xfrm>
            <a:off x="548640" y="1572768"/>
            <a:ext cx="3611880"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4672" y="1773936"/>
            <a:ext cx="1371600" cy="457200"/>
          </a:xfrm>
          <a:prstGeom prst="rect">
            <a:avLst/>
          </a:prstGeom>
          <a:noFill/>
        </p:spPr>
        <p:txBody>
          <a:bodyPr wrap="square" lIns="0" tIns="0" rIns="0" bIns="0" anchor="t">
            <a:spAutoFit/>
          </a:bodyPr>
          <a:lstStyle/>
          <a:p>
            <a:pPr algn="l"/>
            <a:r>
              <a:rPr sz="2600" b="1">
                <a:solidFill>
                  <a:srgbClr val="0F2145"/>
                </a:solidFill>
                <a:latin typeface="Georgia"/>
              </a:rPr>
              <a:t>PD</a:t>
            </a:r>
          </a:p>
        </p:txBody>
      </p:sp>
      <p:sp>
        <p:nvSpPr>
          <p:cNvPr id="7" name="TextBox 6"/>
          <p:cNvSpPr txBox="1"/>
          <p:nvPr/>
        </p:nvSpPr>
        <p:spPr>
          <a:xfrm>
            <a:off x="804672" y="2286000"/>
            <a:ext cx="3108960" cy="274320"/>
          </a:xfrm>
          <a:prstGeom prst="rect">
            <a:avLst/>
          </a:prstGeom>
          <a:noFill/>
        </p:spPr>
        <p:txBody>
          <a:bodyPr wrap="square" lIns="0" tIns="0" rIns="0" bIns="0" anchor="t">
            <a:spAutoFit/>
          </a:bodyPr>
          <a:lstStyle/>
          <a:p>
            <a:pPr algn="l"/>
            <a:r>
              <a:rPr sz="1000" b="1">
                <a:solidFill>
                  <a:srgbClr val="3A5C9E"/>
                </a:solidFill>
              </a:rPr>
              <a:t>Probability of Default</a:t>
            </a:r>
          </a:p>
        </p:txBody>
      </p:sp>
      <p:sp>
        <p:nvSpPr>
          <p:cNvPr id="8" name="TextBox 7"/>
          <p:cNvSpPr txBox="1"/>
          <p:nvPr/>
        </p:nvSpPr>
        <p:spPr>
          <a:xfrm>
            <a:off x="804672" y="2596896"/>
            <a:ext cx="3108960" cy="548640"/>
          </a:xfrm>
          <a:prstGeom prst="rect">
            <a:avLst/>
          </a:prstGeom>
          <a:noFill/>
        </p:spPr>
        <p:txBody>
          <a:bodyPr wrap="square" lIns="0" tIns="0" rIns="0" bIns="0" anchor="t">
            <a:spAutoFit/>
          </a:bodyPr>
          <a:lstStyle/>
          <a:p>
            <a:pPr algn="l"/>
            <a:r>
              <a:rPr sz="1050" b="0">
                <a:solidFill>
                  <a:srgbClr val="1B2A41"/>
                </a:solidFill>
              </a:rPr>
              <a:t>How likely is it that this borrower stops paying in the next year?</a:t>
            </a:r>
          </a:p>
        </p:txBody>
      </p:sp>
      <p:sp>
        <p:nvSpPr>
          <p:cNvPr id="9" name="Rectangle 8"/>
          <p:cNvSpPr/>
          <p:nvPr/>
        </p:nvSpPr>
        <p:spPr>
          <a:xfrm>
            <a:off x="2834640" y="1737360"/>
            <a:ext cx="1097280" cy="45720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834640" y="1737360"/>
            <a:ext cx="1097280" cy="457200"/>
          </a:xfrm>
          <a:prstGeom prst="rect">
            <a:avLst/>
          </a:prstGeom>
          <a:noFill/>
        </p:spPr>
        <p:txBody>
          <a:bodyPr wrap="square" lIns="0" tIns="0" rIns="0" bIns="0" anchor="ctr">
            <a:spAutoFit/>
          </a:bodyPr>
          <a:lstStyle/>
          <a:p>
            <a:pPr algn="ctr"/>
            <a:r>
              <a:rPr sz="1300" b="1">
                <a:solidFill>
                  <a:srgbClr val="3A5C9E"/>
                </a:solidFill>
              </a:rPr>
              <a:t>4%</a:t>
            </a:r>
          </a:p>
        </p:txBody>
      </p:sp>
      <p:sp>
        <p:nvSpPr>
          <p:cNvPr id="11" name="Rectangle 10"/>
          <p:cNvSpPr/>
          <p:nvPr/>
        </p:nvSpPr>
        <p:spPr>
          <a:xfrm>
            <a:off x="4315968" y="1572768"/>
            <a:ext cx="3611880"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1773936"/>
            <a:ext cx="1371600" cy="457200"/>
          </a:xfrm>
          <a:prstGeom prst="rect">
            <a:avLst/>
          </a:prstGeom>
          <a:noFill/>
        </p:spPr>
        <p:txBody>
          <a:bodyPr wrap="square" lIns="0" tIns="0" rIns="0" bIns="0" anchor="t">
            <a:spAutoFit/>
          </a:bodyPr>
          <a:lstStyle/>
          <a:p>
            <a:pPr algn="l"/>
            <a:r>
              <a:rPr sz="2600" b="1">
                <a:solidFill>
                  <a:srgbClr val="0F2145"/>
                </a:solidFill>
                <a:latin typeface="Georgia"/>
              </a:rPr>
              <a:t>LGD</a:t>
            </a:r>
          </a:p>
        </p:txBody>
      </p:sp>
      <p:sp>
        <p:nvSpPr>
          <p:cNvPr id="13" name="TextBox 12"/>
          <p:cNvSpPr txBox="1"/>
          <p:nvPr/>
        </p:nvSpPr>
        <p:spPr>
          <a:xfrm>
            <a:off x="4572000" y="2286000"/>
            <a:ext cx="3108960" cy="274320"/>
          </a:xfrm>
          <a:prstGeom prst="rect">
            <a:avLst/>
          </a:prstGeom>
          <a:noFill/>
        </p:spPr>
        <p:txBody>
          <a:bodyPr wrap="square" lIns="0" tIns="0" rIns="0" bIns="0" anchor="t">
            <a:spAutoFit/>
          </a:bodyPr>
          <a:lstStyle/>
          <a:p>
            <a:pPr algn="l"/>
            <a:r>
              <a:rPr sz="1000" b="1">
                <a:solidFill>
                  <a:srgbClr val="3A5C9E"/>
                </a:solidFill>
              </a:rPr>
              <a:t>Loss Given Default</a:t>
            </a:r>
          </a:p>
        </p:txBody>
      </p:sp>
      <p:sp>
        <p:nvSpPr>
          <p:cNvPr id="14" name="TextBox 13"/>
          <p:cNvSpPr txBox="1"/>
          <p:nvPr/>
        </p:nvSpPr>
        <p:spPr>
          <a:xfrm>
            <a:off x="4572000" y="2596896"/>
            <a:ext cx="3108960" cy="548640"/>
          </a:xfrm>
          <a:prstGeom prst="rect">
            <a:avLst/>
          </a:prstGeom>
          <a:noFill/>
        </p:spPr>
        <p:txBody>
          <a:bodyPr wrap="square" lIns="0" tIns="0" rIns="0" bIns="0" anchor="t">
            <a:spAutoFit/>
          </a:bodyPr>
          <a:lstStyle/>
          <a:p>
            <a:pPr algn="l"/>
            <a:r>
              <a:rPr sz="1050" b="0">
                <a:solidFill>
                  <a:srgbClr val="1B2A41"/>
                </a:solidFill>
              </a:rPr>
              <a:t>If they do stop, how much of the money do we never get back?</a:t>
            </a:r>
          </a:p>
        </p:txBody>
      </p:sp>
      <p:sp>
        <p:nvSpPr>
          <p:cNvPr id="15" name="Rectangle 14"/>
          <p:cNvSpPr/>
          <p:nvPr/>
        </p:nvSpPr>
        <p:spPr>
          <a:xfrm>
            <a:off x="6601968" y="1737360"/>
            <a:ext cx="1097280" cy="45720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01968" y="1737360"/>
            <a:ext cx="1097280" cy="457200"/>
          </a:xfrm>
          <a:prstGeom prst="rect">
            <a:avLst/>
          </a:prstGeom>
          <a:noFill/>
        </p:spPr>
        <p:txBody>
          <a:bodyPr wrap="square" lIns="0" tIns="0" rIns="0" bIns="0" anchor="ctr">
            <a:spAutoFit/>
          </a:bodyPr>
          <a:lstStyle/>
          <a:p>
            <a:pPr algn="ctr"/>
            <a:r>
              <a:rPr sz="1300" b="1">
                <a:solidFill>
                  <a:srgbClr val="3A5C9E"/>
                </a:solidFill>
              </a:rPr>
              <a:t>45%</a:t>
            </a:r>
          </a:p>
        </p:txBody>
      </p:sp>
      <p:sp>
        <p:nvSpPr>
          <p:cNvPr id="17" name="Rectangle 16"/>
          <p:cNvSpPr/>
          <p:nvPr/>
        </p:nvSpPr>
        <p:spPr>
          <a:xfrm>
            <a:off x="8083296" y="1572768"/>
            <a:ext cx="3611880"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39327" y="1773936"/>
            <a:ext cx="1371600" cy="457200"/>
          </a:xfrm>
          <a:prstGeom prst="rect">
            <a:avLst/>
          </a:prstGeom>
          <a:noFill/>
        </p:spPr>
        <p:txBody>
          <a:bodyPr wrap="square" lIns="0" tIns="0" rIns="0" bIns="0" anchor="t">
            <a:spAutoFit/>
          </a:bodyPr>
          <a:lstStyle/>
          <a:p>
            <a:pPr algn="l"/>
            <a:r>
              <a:rPr sz="2600" b="1">
                <a:solidFill>
                  <a:srgbClr val="0F2145"/>
                </a:solidFill>
                <a:latin typeface="Georgia"/>
              </a:rPr>
              <a:t>EAD</a:t>
            </a:r>
          </a:p>
        </p:txBody>
      </p:sp>
      <p:sp>
        <p:nvSpPr>
          <p:cNvPr id="19" name="TextBox 18"/>
          <p:cNvSpPr txBox="1"/>
          <p:nvPr/>
        </p:nvSpPr>
        <p:spPr>
          <a:xfrm>
            <a:off x="8339327" y="2286000"/>
            <a:ext cx="3108960" cy="274320"/>
          </a:xfrm>
          <a:prstGeom prst="rect">
            <a:avLst/>
          </a:prstGeom>
          <a:noFill/>
        </p:spPr>
        <p:txBody>
          <a:bodyPr wrap="square" lIns="0" tIns="0" rIns="0" bIns="0" anchor="t">
            <a:spAutoFit/>
          </a:bodyPr>
          <a:lstStyle/>
          <a:p>
            <a:pPr algn="l"/>
            <a:r>
              <a:rPr sz="1000" b="1">
                <a:solidFill>
                  <a:srgbClr val="3A5C9E"/>
                </a:solidFill>
              </a:rPr>
              <a:t>Exposure at Default</a:t>
            </a:r>
          </a:p>
        </p:txBody>
      </p:sp>
      <p:sp>
        <p:nvSpPr>
          <p:cNvPr id="20" name="TextBox 19"/>
          <p:cNvSpPr txBox="1"/>
          <p:nvPr/>
        </p:nvSpPr>
        <p:spPr>
          <a:xfrm>
            <a:off x="8339327" y="2596896"/>
            <a:ext cx="3108960" cy="548640"/>
          </a:xfrm>
          <a:prstGeom prst="rect">
            <a:avLst/>
          </a:prstGeom>
          <a:noFill/>
        </p:spPr>
        <p:txBody>
          <a:bodyPr wrap="square" lIns="0" tIns="0" rIns="0" bIns="0" anchor="t">
            <a:spAutoFit/>
          </a:bodyPr>
          <a:lstStyle/>
          <a:p>
            <a:pPr algn="l"/>
            <a:r>
              <a:rPr sz="1050" b="0">
                <a:solidFill>
                  <a:srgbClr val="1B2A41"/>
                </a:solidFill>
              </a:rPr>
              <a:t>How much will actually be outstanding on the day they stop?</a:t>
            </a:r>
          </a:p>
        </p:txBody>
      </p:sp>
      <p:sp>
        <p:nvSpPr>
          <p:cNvPr id="21" name="Rectangle 20"/>
          <p:cNvSpPr/>
          <p:nvPr/>
        </p:nvSpPr>
        <p:spPr>
          <a:xfrm>
            <a:off x="10369296" y="1737360"/>
            <a:ext cx="1097280" cy="45720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369296" y="1737360"/>
            <a:ext cx="1097280" cy="457200"/>
          </a:xfrm>
          <a:prstGeom prst="rect">
            <a:avLst/>
          </a:prstGeom>
          <a:noFill/>
        </p:spPr>
        <p:txBody>
          <a:bodyPr wrap="square" lIns="0" tIns="0" rIns="0" bIns="0" anchor="ctr">
            <a:spAutoFit/>
          </a:bodyPr>
          <a:lstStyle/>
          <a:p>
            <a:pPr algn="ctr"/>
            <a:r>
              <a:rPr sz="1300" b="1">
                <a:solidFill>
                  <a:srgbClr val="3A5C9E"/>
                </a:solidFill>
              </a:rPr>
              <a:t>₹8,00,000</a:t>
            </a:r>
          </a:p>
        </p:txBody>
      </p:sp>
      <p:sp>
        <p:nvSpPr>
          <p:cNvPr id="23" name="Rectangle 22"/>
          <p:cNvSpPr/>
          <p:nvPr/>
        </p:nvSpPr>
        <p:spPr>
          <a:xfrm>
            <a:off x="548640" y="3584448"/>
            <a:ext cx="11091672" cy="78638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48640" y="3584448"/>
            <a:ext cx="64008" cy="78638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68680" y="3584448"/>
            <a:ext cx="10515600" cy="786384"/>
          </a:xfrm>
          <a:prstGeom prst="rect">
            <a:avLst/>
          </a:prstGeom>
          <a:noFill/>
        </p:spPr>
        <p:txBody>
          <a:bodyPr wrap="square" lIns="0" tIns="0" rIns="0" bIns="0" anchor="ctr">
            <a:spAutoFit/>
          </a:bodyPr>
          <a:lstStyle/>
          <a:p>
            <a:pPr algn="l"/>
            <a:r>
              <a:rPr sz="1700" b="1">
                <a:solidFill>
                  <a:srgbClr val="C9A227"/>
                </a:solidFill>
                <a:latin typeface="Georgia"/>
              </a:rPr>
              <a:t>EXPECTED LOSS  =  PD  ×  LGD  ×  EAD</a:t>
            </a:r>
            <a:r>
              <a:rPr sz="1700" b="1">
                <a:solidFill>
                  <a:srgbClr val="FFFFFF"/>
                </a:solidFill>
                <a:latin typeface="Georgia"/>
              </a:rPr>
              <a:t>4%  ×  45%  ×  ₹8,00,000  =  ₹14,400 per loan</a:t>
            </a:r>
          </a:p>
        </p:txBody>
      </p:sp>
      <p:sp>
        <p:nvSpPr>
          <p:cNvPr id="26" name="TextBox 25"/>
          <p:cNvSpPr txBox="1"/>
          <p:nvPr/>
        </p:nvSpPr>
        <p:spPr>
          <a:xfrm>
            <a:off x="548640" y="4572000"/>
            <a:ext cx="5486400" cy="1097280"/>
          </a:xfrm>
          <a:prstGeom prst="rect">
            <a:avLst/>
          </a:prstGeom>
          <a:noFill/>
        </p:spPr>
        <p:txBody>
          <a:bodyPr wrap="square" lIns="0" tIns="0" rIns="0" bIns="0" anchor="t">
            <a:spAutoFit/>
          </a:bodyPr>
          <a:lstStyle/>
          <a:p>
            <a:pPr algn="l"/>
            <a:r>
              <a:rPr sz="1500" b="1">
                <a:solidFill>
                  <a:srgbClr val="0F2145"/>
                </a:solidFill>
                <a:latin typeface="Georgia"/>
              </a:rPr>
              <a:t>Say it in words</a:t>
            </a:r>
          </a:p>
          <a:p>
            <a:pPr algn="l">
              <a:spcBef>
                <a:spcPts val="600"/>
              </a:spcBef>
            </a:pPr>
            <a:r>
              <a:rPr sz="1150" b="0">
                <a:solidFill>
                  <a:srgbClr val="1B2A41"/>
                </a:solidFill>
              </a:rPr>
              <a:t>Out of a hundred loans like this one, four go bad. When one goes bad we lose 45 paise in the rupee on the ₹8 lakh still outstanding. So we price ₹14,400 into every loan, whether it goes bad or not.</a:t>
            </a:r>
          </a:p>
        </p:txBody>
      </p:sp>
      <p:sp>
        <p:nvSpPr>
          <p:cNvPr id="27" name="TextBox 26"/>
          <p:cNvSpPr txBox="1"/>
          <p:nvPr/>
        </p:nvSpPr>
        <p:spPr>
          <a:xfrm>
            <a:off x="6309360" y="4572000"/>
            <a:ext cx="5330952" cy="1097280"/>
          </a:xfrm>
          <a:prstGeom prst="rect">
            <a:avLst/>
          </a:prstGeom>
          <a:noFill/>
        </p:spPr>
        <p:txBody>
          <a:bodyPr wrap="square" lIns="0" tIns="0" rIns="0" bIns="0" anchor="t">
            <a:spAutoFit/>
          </a:bodyPr>
          <a:lstStyle/>
          <a:p>
            <a:pPr algn="l"/>
            <a:r>
              <a:rPr sz="1500" b="1">
                <a:solidFill>
                  <a:srgbClr val="0F2145"/>
                </a:solidFill>
                <a:latin typeface="Georgia"/>
              </a:rPr>
              <a:t>The part students miss</a:t>
            </a:r>
          </a:p>
          <a:p>
            <a:pPr algn="l">
              <a:spcBef>
                <a:spcPts val="600"/>
              </a:spcBef>
            </a:pPr>
            <a:r>
              <a:rPr sz="1150" b="0">
                <a:solidFill>
                  <a:srgbClr val="1B2A41"/>
                </a:solidFill>
              </a:rPr>
              <a:t>Expected loss is a cost, not a surprise. It is budgeted and priced in. Capital is held for the UNEXPECTED loss, which is the year four loans becomes eleven.</a:t>
            </a:r>
          </a:p>
        </p:txBody>
      </p:sp>
      <p:sp>
        <p:nvSpPr>
          <p:cNvPr id="28" name="Rectangle 27"/>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2960" y="5760720"/>
            <a:ext cx="10543032" cy="603504"/>
          </a:xfrm>
          <a:prstGeom prst="rect">
            <a:avLst/>
          </a:prstGeom>
          <a:noFill/>
        </p:spPr>
        <p:txBody>
          <a:bodyPr wrap="square" lIns="0" tIns="0" rIns="0" bIns="0" anchor="ctr">
            <a:spAutoFit/>
          </a:bodyPr>
          <a:lstStyle/>
          <a:p>
            <a:pPr algn="l"/>
            <a:r>
              <a:rPr sz="1200" b="1">
                <a:solidFill>
                  <a:srgbClr val="C9A227"/>
                </a:solidFill>
              </a:rPr>
              <a:t>Basel II, in one sentence:</a:t>
            </a:r>
            <a:r>
              <a:rPr sz="1200" b="0">
                <a:solidFill>
                  <a:srgbClr val="FFFFFF"/>
                </a:solidFill>
              </a:rPr>
              <a:t>a bank that can prove its own PD, LGD and EAD models work is allowed to use them to set its own capital.</a:t>
            </a:r>
          </a:p>
        </p:txBody>
      </p:sp>
      <p:sp>
        <p:nvSpPr>
          <p:cNvPr id="31" name="TextBox 30"/>
          <p:cNvSpPr txBox="1"/>
          <p:nvPr/>
        </p:nvSpPr>
        <p:spPr>
          <a:xfrm>
            <a:off x="548640" y="6473952"/>
            <a:ext cx="7315200" cy="228600"/>
          </a:xfrm>
          <a:prstGeom prst="rect">
            <a:avLst/>
          </a:prstGeom>
          <a:noFill/>
        </p:spPr>
        <p:txBody>
          <a:bodyPr wrap="square" lIns="0" tIns="0" rIns="0" bIns="0" anchor="t">
            <a:spAutoFit/>
          </a:bodyPr>
          <a:lstStyle/>
          <a:p>
            <a:pPr algn="l"/>
            <a:r>
              <a:rPr sz="800" b="0">
                <a:solidFill>
                  <a:srgbClr val="5D6B7E"/>
                </a:solidFill>
              </a:rPr>
              <a:t>AI IN FINANCE · THE COMPLETE CRASH COURSE</a:t>
            </a:r>
          </a:p>
        </p:txBody>
      </p:sp>
      <p:sp>
        <p:nvSpPr>
          <p:cNvPr id="32" name="TextBox 31"/>
          <p:cNvSpPr txBox="1"/>
          <p:nvPr/>
        </p:nvSpPr>
        <p:spPr>
          <a:xfrm>
            <a:off x="9262872" y="6473952"/>
            <a:ext cx="2377440" cy="228600"/>
          </a:xfrm>
          <a:prstGeom prst="rect">
            <a:avLst/>
          </a:prstGeom>
          <a:noFill/>
        </p:spPr>
        <p:txBody>
          <a:bodyPr wrap="square" lIns="0" tIns="0" rIns="0" bIns="0" anchor="t">
            <a:spAutoFit/>
          </a:bodyPr>
          <a:lstStyle/>
          <a:p>
            <a:pPr algn="r"/>
            <a:r>
              <a:rPr sz="800" b="0">
                <a:solidFill>
                  <a:srgbClr val="5D6B7E"/>
                </a:solidFill>
              </a:rPr>
              <a:t>MODULE 5  ·  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99744"/>
          </a:xfrm>
          <a:prstGeom prst="rect">
            <a:avLst/>
          </a:prstGeom>
          <a:solidFill>
            <a:srgbClr val="16A34A"/>
          </a:solidFill>
          <a:ln w="12700">
            <a:solidFill>
              <a:srgbClr val="16A34A"/>
            </a:solidFill>
            <a:prstDash val="solid"/>
          </a:ln>
        </p:spPr>
        <p:txBody>
          <a:bodyPr/>
          <a:lstStyle/>
          <a:p>
            <a:endParaRPr lang="en-US" sz="2400"/>
          </a:p>
        </p:txBody>
      </p:sp>
      <p:sp>
        <p:nvSpPr>
          <p:cNvPr id="3" name="Text 1"/>
          <p:cNvSpPr/>
          <p:nvPr/>
        </p:nvSpPr>
        <p:spPr>
          <a:xfrm>
            <a:off x="426720" y="60960"/>
            <a:ext cx="11338560" cy="877824"/>
          </a:xfrm>
          <a:prstGeom prst="rect">
            <a:avLst/>
          </a:prstGeom>
          <a:noFill/>
          <a:ln/>
        </p:spPr>
        <p:txBody>
          <a:bodyPr wrap="square" lIns="0" tIns="0" rIns="0" bIns="0" rtlCol="0" anchor="ctr"/>
          <a:lstStyle/>
          <a:p>
            <a:r>
              <a:rPr lang="en-US" sz="2667" b="1" dirty="0">
                <a:solidFill>
                  <a:srgbClr val="FFFFFF"/>
                </a:solidFill>
              </a:rPr>
              <a:t>PUTTING IT ALL TOGETHER — Complete Basel III Capital Calculation</a:t>
            </a:r>
            <a:endParaRPr lang="en-US" sz="2667" dirty="0"/>
          </a:p>
        </p:txBody>
      </p:sp>
      <p:sp>
        <p:nvSpPr>
          <p:cNvPr id="4" name="Text 2"/>
          <p:cNvSpPr/>
          <p:nvPr/>
        </p:nvSpPr>
        <p:spPr>
          <a:xfrm>
            <a:off x="365760" y="1097280"/>
            <a:ext cx="11460480" cy="365760"/>
          </a:xfrm>
          <a:prstGeom prst="rect">
            <a:avLst/>
          </a:prstGeom>
          <a:noFill/>
          <a:ln/>
        </p:spPr>
        <p:txBody>
          <a:bodyPr wrap="square" rtlCol="0" anchor="ctr"/>
          <a:lstStyle/>
          <a:p>
            <a:r>
              <a:rPr lang="en-US" sz="1600" b="1" dirty="0">
                <a:solidFill>
                  <a:srgbClr val="1B2A4A"/>
                </a:solidFill>
              </a:rPr>
              <a:t>Step-by-step: Calculate total capital needed for a bank under Basel III:</a:t>
            </a:r>
            <a:endParaRPr lang="en-US" sz="1600" dirty="0"/>
          </a:p>
        </p:txBody>
      </p:sp>
      <p:graphicFrame>
        <p:nvGraphicFramePr>
          <p:cNvPr id="14" name="Table 0"/>
          <p:cNvGraphicFramePr>
            <a:graphicFrameLocks noGrp="1"/>
          </p:cNvGraphicFramePr>
          <p:nvPr/>
        </p:nvGraphicFramePr>
        <p:xfrm>
          <a:off x="365760" y="1548384"/>
          <a:ext cx="11460480" cy="2316480"/>
        </p:xfrm>
        <a:graphic>
          <a:graphicData uri="http://schemas.openxmlformats.org/drawingml/2006/table">
            <a:tbl>
              <a:tblPr/>
              <a:tblGrid>
                <a:gridCol w="2438400">
                  <a:extLst>
                    <a:ext uri="{9D8B030D-6E8A-4147-A177-3AD203B41FA5}">
                      <a16:colId xmlns:a16="http://schemas.microsoft.com/office/drawing/2014/main" val="20000"/>
                    </a:ext>
                  </a:extLst>
                </a:gridCol>
                <a:gridCol w="463296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gridCol w="1950720">
                  <a:extLst>
                    <a:ext uri="{9D8B030D-6E8A-4147-A177-3AD203B41FA5}">
                      <a16:colId xmlns:a16="http://schemas.microsoft.com/office/drawing/2014/main" val="20003"/>
                    </a:ext>
                  </a:extLst>
                </a:gridCol>
              </a:tblGrid>
              <a:tr h="463296">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Risk Type</a:t>
                      </a:r>
                      <a:endParaRPr lang="en-US" sz="1500" dirty="0">
                        <a:latin typeface="Calibri" charset="0"/>
                        <a:ea typeface="Calibri" charset="0"/>
                        <a:cs typeface="Calibri" charset="0"/>
                      </a:endParaRPr>
                    </a:p>
                  </a:txBody>
                  <a:tcPr marL="121920" marR="121920" marT="60960" marB="6096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4A"/>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Method</a:t>
                      </a:r>
                      <a:endParaRPr lang="en-US" sz="1500" dirty="0">
                        <a:latin typeface="Calibri" charset="0"/>
                        <a:ea typeface="Calibri" charset="0"/>
                        <a:cs typeface="Calibri" charset="0"/>
                      </a:endParaRPr>
                    </a:p>
                  </a:txBody>
                  <a:tcPr marL="121920" marR="121920" marT="60960" marB="6096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4A"/>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RWA (₹ Crore)</a:t>
                      </a:r>
                      <a:endParaRPr lang="en-US" sz="1500" dirty="0">
                        <a:latin typeface="Calibri" charset="0"/>
                        <a:ea typeface="Calibri" charset="0"/>
                        <a:cs typeface="Calibri" charset="0"/>
                      </a:endParaRPr>
                    </a:p>
                  </a:txBody>
                  <a:tcPr marL="121920" marR="121920" marT="60960" marB="6096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4A"/>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Capital = RWA × 8%</a:t>
                      </a:r>
                      <a:endParaRPr lang="en-US" sz="1500" dirty="0">
                        <a:latin typeface="Calibri" charset="0"/>
                        <a:ea typeface="Calibri" charset="0"/>
                        <a:cs typeface="Calibri" charset="0"/>
                      </a:endParaRPr>
                    </a:p>
                  </a:txBody>
                  <a:tcPr marL="121920" marR="121920" marT="60960" marB="6096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63296">
                <a:tc>
                  <a:txBody>
                    <a:bodyPr/>
                    <a:lstStyle/>
                    <a:p>
                      <a:pPr marL="0" indent="0" algn="l">
                        <a:buNone/>
                      </a:pPr>
                      <a:r>
                        <a:rPr lang="en-US" sz="1500" dirty="0">
                          <a:solidFill>
                            <a:srgbClr val="000000"/>
                          </a:solidFill>
                          <a:latin typeface="Calibri" pitchFamily="34" charset="0"/>
                          <a:ea typeface="Calibri" pitchFamily="34" charset="-122"/>
                          <a:cs typeface="Calibri" pitchFamily="34" charset="-120"/>
                        </a:rPr>
                        <a:t>💳 Credit Risk</a:t>
                      </a:r>
                      <a:endParaRPr lang="en-US" sz="1500" dirty="0">
                        <a:latin typeface="Calibri" charset="0"/>
                        <a:ea typeface="Calibri" charset="0"/>
                        <a:cs typeface="Calibri" charset="0"/>
                      </a:endParaRPr>
                    </a:p>
                  </a:txBody>
                  <a:tcPr marL="121920" marR="121920" marT="60960" marB="6096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lgn="l">
                        <a:buNone/>
                      </a:pPr>
                      <a:r>
                        <a:rPr lang="en-US" sz="1500" dirty="0">
                          <a:solidFill>
                            <a:srgbClr val="000000"/>
                          </a:solidFill>
                          <a:latin typeface="Calibri" pitchFamily="34" charset="0"/>
                          <a:ea typeface="Calibri" pitchFamily="34" charset="-122"/>
                          <a:cs typeface="Calibri" pitchFamily="34" charset="-120"/>
                        </a:rPr>
                        <a:t>Standardised: loans × risk weights</a:t>
                      </a:r>
                      <a:endParaRPr lang="en-US" sz="1500" dirty="0">
                        <a:latin typeface="Calibri" charset="0"/>
                        <a:ea typeface="Calibri" charset="0"/>
                        <a:cs typeface="Calibri" charset="0"/>
                      </a:endParaRPr>
                    </a:p>
                  </a:txBody>
                  <a:tcPr marL="121920" marR="121920" marT="60960" marB="6096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500" dirty="0">
                          <a:solidFill>
                            <a:srgbClr val="000000"/>
                          </a:solidFill>
                          <a:latin typeface="Calibri" pitchFamily="34" charset="0"/>
                          <a:ea typeface="Calibri" pitchFamily="34" charset="-122"/>
                          <a:cs typeface="Calibri" pitchFamily="34" charset="-120"/>
                        </a:rPr>
                        <a:t>9,00,000</a:t>
                      </a:r>
                      <a:endParaRPr lang="en-US" sz="1500" dirty="0">
                        <a:latin typeface="Calibri" charset="0"/>
                        <a:ea typeface="Calibri" charset="0"/>
                        <a:cs typeface="Calibri" charset="0"/>
                      </a:endParaRPr>
                    </a:p>
                  </a:txBody>
                  <a:tcPr marL="121920" marR="121920" marT="60960" marB="6096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500" dirty="0">
                          <a:solidFill>
                            <a:srgbClr val="000000"/>
                          </a:solidFill>
                          <a:latin typeface="Calibri" pitchFamily="34" charset="0"/>
                          <a:ea typeface="Calibri" pitchFamily="34" charset="-122"/>
                          <a:cs typeface="Calibri" pitchFamily="34" charset="-120"/>
                        </a:rPr>
                        <a:t>72,000</a:t>
                      </a:r>
                      <a:endParaRPr lang="en-US" sz="1500" dirty="0">
                        <a:latin typeface="Calibri" charset="0"/>
                        <a:ea typeface="Calibri" charset="0"/>
                        <a:cs typeface="Calibri" charset="0"/>
                      </a:endParaRPr>
                    </a:p>
                  </a:txBody>
                  <a:tcPr marL="121920" marR="121920" marT="60960" marB="6096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3296">
                <a:tc>
                  <a:txBody>
                    <a:bodyPr/>
                    <a:lstStyle/>
                    <a:p>
                      <a:pPr marL="0" indent="0" algn="l">
                        <a:buNone/>
                      </a:pPr>
                      <a:r>
                        <a:rPr lang="en-US" sz="1500" dirty="0">
                          <a:solidFill>
                            <a:srgbClr val="000000"/>
                          </a:solidFill>
                          <a:latin typeface="Calibri" pitchFamily="34" charset="0"/>
                          <a:ea typeface="Calibri" pitchFamily="34" charset="-122"/>
                          <a:cs typeface="Calibri" pitchFamily="34" charset="-120"/>
                        </a:rPr>
                        <a:t>📉 Market Risk</a:t>
                      </a:r>
                      <a:endParaRPr lang="en-US" sz="1500" dirty="0">
                        <a:latin typeface="Calibri" charset="0"/>
                        <a:ea typeface="Calibri" charset="0"/>
                        <a:cs typeface="Calibri" charset="0"/>
                      </a:endParaRPr>
                    </a:p>
                  </a:txBody>
                  <a:tcPr marL="121920" marR="121920" marT="60960" marB="6096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7ED"/>
                    </a:solidFill>
                  </a:tcPr>
                </a:tc>
                <a:tc>
                  <a:txBody>
                    <a:bodyPr/>
                    <a:lstStyle/>
                    <a:p>
                      <a:pPr marL="0" indent="0" algn="l">
                        <a:buNone/>
                      </a:pPr>
                      <a:r>
                        <a:rPr lang="en-US" sz="1500" dirty="0">
                          <a:solidFill>
                            <a:srgbClr val="000000"/>
                          </a:solidFill>
                          <a:latin typeface="Calibri" pitchFamily="34" charset="0"/>
                          <a:ea typeface="Calibri" pitchFamily="34" charset="-122"/>
                          <a:cs typeface="Calibri" pitchFamily="34" charset="-120"/>
                        </a:rPr>
                        <a:t>VaR × √10 × 3 → RWA = Capital × 12.5</a:t>
                      </a:r>
                      <a:endParaRPr lang="en-US" sz="1500" dirty="0">
                        <a:latin typeface="Calibri" charset="0"/>
                        <a:ea typeface="Calibri" charset="0"/>
                        <a:cs typeface="Calibri" charset="0"/>
                      </a:endParaRPr>
                    </a:p>
                  </a:txBody>
                  <a:tcPr marL="121920" marR="121920" marT="60960" marB="6096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500" dirty="0">
                          <a:solidFill>
                            <a:srgbClr val="000000"/>
                          </a:solidFill>
                          <a:latin typeface="Calibri" pitchFamily="34" charset="0"/>
                          <a:ea typeface="Calibri" pitchFamily="34" charset="-122"/>
                          <a:cs typeface="Calibri" pitchFamily="34" charset="-120"/>
                        </a:rPr>
                        <a:t>1,25,000</a:t>
                      </a:r>
                      <a:endParaRPr lang="en-US" sz="1500" dirty="0">
                        <a:latin typeface="Calibri" charset="0"/>
                        <a:ea typeface="Calibri" charset="0"/>
                        <a:cs typeface="Calibri" charset="0"/>
                      </a:endParaRPr>
                    </a:p>
                  </a:txBody>
                  <a:tcPr marL="121920" marR="121920" marT="60960" marB="6096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500" dirty="0">
                          <a:solidFill>
                            <a:srgbClr val="000000"/>
                          </a:solidFill>
                          <a:latin typeface="Calibri" pitchFamily="34" charset="0"/>
                          <a:ea typeface="Calibri" pitchFamily="34" charset="-122"/>
                          <a:cs typeface="Calibri" pitchFamily="34" charset="-120"/>
                        </a:rPr>
                        <a:t>10,000</a:t>
                      </a:r>
                      <a:endParaRPr lang="en-US" sz="1500" dirty="0">
                        <a:latin typeface="Calibri" charset="0"/>
                        <a:ea typeface="Calibri" charset="0"/>
                        <a:cs typeface="Calibri" charset="0"/>
                      </a:endParaRPr>
                    </a:p>
                  </a:txBody>
                  <a:tcPr marL="121920" marR="121920" marT="60960" marB="6096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3296">
                <a:tc>
                  <a:txBody>
                    <a:bodyPr/>
                    <a:lstStyle/>
                    <a:p>
                      <a:pPr marL="0" indent="0" algn="l">
                        <a:buNone/>
                      </a:pPr>
                      <a:r>
                        <a:rPr lang="en-US" sz="1500" dirty="0">
                          <a:solidFill>
                            <a:srgbClr val="000000"/>
                          </a:solidFill>
                          <a:latin typeface="Calibri" pitchFamily="34" charset="0"/>
                          <a:ea typeface="Calibri" pitchFamily="34" charset="-122"/>
                          <a:cs typeface="Calibri" pitchFamily="34" charset="-120"/>
                        </a:rPr>
                        <a:t>⚙️  Operational Risk</a:t>
                      </a:r>
                      <a:endParaRPr lang="en-US" sz="1500" dirty="0">
                        <a:latin typeface="Calibri" charset="0"/>
                        <a:ea typeface="Calibri" charset="0"/>
                        <a:cs typeface="Calibri" charset="0"/>
                      </a:endParaRPr>
                    </a:p>
                  </a:txBody>
                  <a:tcPr marL="121920" marR="121920" marT="60960" marB="6096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EF2F2"/>
                    </a:solidFill>
                  </a:tcPr>
                </a:tc>
                <a:tc>
                  <a:txBody>
                    <a:bodyPr/>
                    <a:lstStyle/>
                    <a:p>
                      <a:pPr marL="0" indent="0" algn="l">
                        <a:buNone/>
                      </a:pPr>
                      <a:r>
                        <a:rPr lang="en-US" sz="1500" dirty="0">
                          <a:solidFill>
                            <a:srgbClr val="000000"/>
                          </a:solidFill>
                          <a:latin typeface="Calibri" pitchFamily="34" charset="0"/>
                          <a:ea typeface="Calibri" pitchFamily="34" charset="-122"/>
                          <a:cs typeface="Calibri" pitchFamily="34" charset="-120"/>
                        </a:rPr>
                        <a:t>Basic Indicator: 15% of avg gross income × 12.5</a:t>
                      </a:r>
                      <a:endParaRPr lang="en-US" sz="1500" dirty="0">
                        <a:latin typeface="Calibri" charset="0"/>
                        <a:ea typeface="Calibri" charset="0"/>
                        <a:cs typeface="Calibri" charset="0"/>
                      </a:endParaRPr>
                    </a:p>
                  </a:txBody>
                  <a:tcPr marL="121920" marR="121920" marT="60960" marB="6096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500" dirty="0">
                          <a:solidFill>
                            <a:srgbClr val="000000"/>
                          </a:solidFill>
                          <a:latin typeface="Calibri" pitchFamily="34" charset="0"/>
                          <a:ea typeface="Calibri" pitchFamily="34" charset="-122"/>
                          <a:cs typeface="Calibri" pitchFamily="34" charset="-120"/>
                        </a:rPr>
                        <a:t>93,750</a:t>
                      </a:r>
                      <a:endParaRPr lang="en-US" sz="1500" dirty="0">
                        <a:latin typeface="Calibri" charset="0"/>
                        <a:ea typeface="Calibri" charset="0"/>
                        <a:cs typeface="Calibri" charset="0"/>
                      </a:endParaRPr>
                    </a:p>
                  </a:txBody>
                  <a:tcPr marL="121920" marR="121920" marT="60960" marB="6096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500" dirty="0">
                          <a:solidFill>
                            <a:srgbClr val="000000"/>
                          </a:solidFill>
                          <a:latin typeface="Calibri" pitchFamily="34" charset="0"/>
                          <a:ea typeface="Calibri" pitchFamily="34" charset="-122"/>
                          <a:cs typeface="Calibri" pitchFamily="34" charset="-120"/>
                        </a:rPr>
                        <a:t>7,500</a:t>
                      </a:r>
                      <a:endParaRPr lang="en-US" sz="1500" dirty="0">
                        <a:latin typeface="Calibri" charset="0"/>
                        <a:ea typeface="Calibri" charset="0"/>
                        <a:cs typeface="Calibri" charset="0"/>
                      </a:endParaRPr>
                    </a:p>
                  </a:txBody>
                  <a:tcPr marL="121920" marR="121920" marT="60960" marB="6096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3296">
                <a:tc>
                  <a:txBody>
                    <a:bodyPr/>
                    <a:lstStyle/>
                    <a:p>
                      <a:pPr marL="0" indent="0" algn="l">
                        <a:buNone/>
                      </a:pPr>
                      <a:r>
                        <a:rPr lang="en-US" sz="1500" b="1" dirty="0">
                          <a:solidFill>
                            <a:srgbClr val="000000"/>
                          </a:solidFill>
                          <a:latin typeface="Calibri" pitchFamily="34" charset="0"/>
                          <a:ea typeface="Calibri" pitchFamily="34" charset="-122"/>
                          <a:cs typeface="Calibri" pitchFamily="34" charset="-120"/>
                        </a:rPr>
                        <a:t>TOTAL RWA / CAPITAL</a:t>
                      </a:r>
                      <a:endParaRPr lang="en-US" sz="1500" dirty="0">
                        <a:latin typeface="Calibri" charset="0"/>
                        <a:ea typeface="Calibri" charset="0"/>
                        <a:cs typeface="Calibri" charset="0"/>
                      </a:endParaRPr>
                    </a:p>
                  </a:txBody>
                  <a:tcPr marL="121920" marR="121920" marT="60960" marB="6096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0F9FF"/>
                    </a:solidFill>
                  </a:tcPr>
                </a:tc>
                <a:tc>
                  <a:txBody>
                    <a:bodyPr/>
                    <a:lstStyle/>
                    <a:p>
                      <a:pPr marL="0" indent="0" algn="l">
                        <a:buNone/>
                      </a:pPr>
                      <a:endParaRPr lang="en-US" sz="1500" dirty="0">
                        <a:latin typeface="Calibri" charset="0"/>
                        <a:ea typeface="Calibri" charset="0"/>
                        <a:cs typeface="Calibri" charset="0"/>
                      </a:endParaRPr>
                    </a:p>
                  </a:txBody>
                  <a:tcPr marL="121920" marR="121920" marT="60960" marB="6096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500" b="1" dirty="0">
                          <a:solidFill>
                            <a:srgbClr val="2563EB"/>
                          </a:solidFill>
                          <a:latin typeface="Calibri" pitchFamily="34" charset="0"/>
                          <a:ea typeface="Calibri" pitchFamily="34" charset="-122"/>
                          <a:cs typeface="Calibri" pitchFamily="34" charset="-120"/>
                        </a:rPr>
                        <a:t>11,18,750</a:t>
                      </a:r>
                      <a:endParaRPr lang="en-US" sz="1500" dirty="0">
                        <a:latin typeface="Calibri" charset="0"/>
                        <a:ea typeface="Calibri" charset="0"/>
                        <a:cs typeface="Calibri" charset="0"/>
                      </a:endParaRPr>
                    </a:p>
                  </a:txBody>
                  <a:tcPr marL="121920" marR="121920" marT="60960" marB="6096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500" b="1" dirty="0">
                          <a:solidFill>
                            <a:srgbClr val="16A34A"/>
                          </a:solidFill>
                          <a:latin typeface="Calibri" pitchFamily="34" charset="0"/>
                          <a:ea typeface="Calibri" pitchFamily="34" charset="-122"/>
                          <a:cs typeface="Calibri" pitchFamily="34" charset="-120"/>
                        </a:rPr>
                        <a:t>89,500</a:t>
                      </a:r>
                      <a:endParaRPr lang="en-US" sz="1500" dirty="0">
                        <a:latin typeface="Calibri" charset="0"/>
                        <a:ea typeface="Calibri" charset="0"/>
                        <a:cs typeface="Calibri" charset="0"/>
                      </a:endParaRPr>
                    </a:p>
                  </a:txBody>
                  <a:tcPr marL="121920" marR="121920" marT="60960" marB="6096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ext 3"/>
          <p:cNvSpPr/>
          <p:nvPr/>
        </p:nvSpPr>
        <p:spPr>
          <a:xfrm>
            <a:off x="365760" y="4047744"/>
            <a:ext cx="11460480" cy="365760"/>
          </a:xfrm>
          <a:prstGeom prst="rect">
            <a:avLst/>
          </a:prstGeom>
          <a:noFill/>
          <a:ln/>
        </p:spPr>
        <p:txBody>
          <a:bodyPr wrap="square" rtlCol="0" anchor="ctr"/>
          <a:lstStyle/>
          <a:p>
            <a:r>
              <a:rPr lang="en-US" sz="1600" b="1" dirty="0">
                <a:solidFill>
                  <a:srgbClr val="1B2A4A"/>
                </a:solidFill>
              </a:rPr>
              <a:t>Now break down that ₹89,500 Crore MINIMUM into Basel III tiers — the buffer sits on top of it:</a:t>
            </a:r>
            <a:endParaRPr lang="en-US" sz="1600" dirty="0"/>
          </a:p>
        </p:txBody>
      </p:sp>
      <p:sp>
        <p:nvSpPr>
          <p:cNvPr id="7" name="Shape 4"/>
          <p:cNvSpPr/>
          <p:nvPr/>
        </p:nvSpPr>
        <p:spPr>
          <a:xfrm>
            <a:off x="365760" y="4486656"/>
            <a:ext cx="4937760" cy="585216"/>
          </a:xfrm>
          <a:prstGeom prst="rect">
            <a:avLst/>
          </a:prstGeom>
          <a:solidFill>
            <a:srgbClr val="16A34A"/>
          </a:solidFill>
          <a:ln w="12700">
            <a:solidFill>
              <a:srgbClr val="16A34A"/>
            </a:solidFill>
            <a:prstDash val="solid"/>
          </a:ln>
        </p:spPr>
        <p:txBody>
          <a:bodyPr/>
          <a:lstStyle/>
          <a:p>
            <a:endParaRPr lang="en-US" sz="2400"/>
          </a:p>
        </p:txBody>
      </p:sp>
      <p:sp>
        <p:nvSpPr>
          <p:cNvPr id="8" name="Text 5"/>
          <p:cNvSpPr/>
          <p:nvPr/>
        </p:nvSpPr>
        <p:spPr>
          <a:xfrm>
            <a:off x="365760" y="4486656"/>
            <a:ext cx="4937760" cy="585216"/>
          </a:xfrm>
          <a:prstGeom prst="rect">
            <a:avLst/>
          </a:prstGeom>
          <a:noFill/>
          <a:ln/>
        </p:spPr>
        <p:txBody>
          <a:bodyPr wrap="square" rtlCol="0" anchor="ctr"/>
          <a:lstStyle/>
          <a:p>
            <a:pPr algn="ctr"/>
            <a:r>
              <a:rPr lang="en-US" sz="1267" b="1" dirty="0">
                <a:solidFill>
                  <a:srgbClr val="FFFFFF"/>
                </a:solidFill>
              </a:rPr>
              <a:t>CET1 (4.5%)</a:t>
            </a:r>
            <a:endParaRPr lang="en-US" sz="1267" dirty="0"/>
          </a:p>
        </p:txBody>
      </p:sp>
      <p:sp>
        <p:nvSpPr>
          <p:cNvPr id="9" name="Text 6"/>
          <p:cNvSpPr/>
          <p:nvPr/>
        </p:nvSpPr>
        <p:spPr>
          <a:xfrm>
            <a:off x="365760" y="5120640"/>
            <a:ext cx="4937760" cy="365760"/>
          </a:xfrm>
          <a:prstGeom prst="rect">
            <a:avLst/>
          </a:prstGeom>
          <a:noFill/>
          <a:ln/>
        </p:spPr>
        <p:txBody>
          <a:bodyPr wrap="square" lIns="0" tIns="0" rIns="0" bIns="0" rtlCol="0" anchor="ctr"/>
          <a:lstStyle/>
          <a:p>
            <a:pPr algn="ctr"/>
            <a:r>
              <a:rPr lang="en-US" sz="1333" b="1" dirty="0">
                <a:solidFill>
                  <a:srgbClr val="16A34A"/>
                </a:solidFill>
              </a:rPr>
              <a:t>50,344 Cr</a:t>
            </a:r>
            <a:endParaRPr lang="en-US" sz="1333" dirty="0"/>
          </a:p>
        </p:txBody>
      </p:sp>
      <p:sp>
        <p:nvSpPr>
          <p:cNvPr id="10" name="Text 7"/>
          <p:cNvSpPr/>
          <p:nvPr/>
        </p:nvSpPr>
        <p:spPr>
          <a:xfrm>
            <a:off x="365760" y="5486400"/>
            <a:ext cx="4937760" cy="341376"/>
          </a:xfrm>
          <a:prstGeom prst="rect">
            <a:avLst/>
          </a:prstGeom>
          <a:noFill/>
          <a:ln/>
        </p:spPr>
        <p:txBody>
          <a:bodyPr wrap="square" lIns="0" tIns="0" rIns="0" bIns="0" rtlCol="0" anchor="ctr"/>
          <a:lstStyle/>
          <a:p>
            <a:pPr algn="ctr"/>
            <a:r>
              <a:rPr lang="en-US" sz="1200" dirty="0">
                <a:solidFill>
                  <a:srgbClr val="64748B"/>
                </a:solidFill>
              </a:rPr>
              <a:t>Equity + Retained Earnings</a:t>
            </a:r>
            <a:endParaRPr lang="en-US" sz="1200" dirty="0"/>
          </a:p>
        </p:txBody>
      </p:sp>
      <p:sp>
        <p:nvSpPr>
          <p:cNvPr id="11" name="Shape 8"/>
          <p:cNvSpPr/>
          <p:nvPr/>
        </p:nvSpPr>
        <p:spPr>
          <a:xfrm>
            <a:off x="5303520" y="4486656"/>
            <a:ext cx="1645920" cy="585216"/>
          </a:xfrm>
          <a:prstGeom prst="rect">
            <a:avLst/>
          </a:prstGeom>
          <a:solidFill>
            <a:srgbClr val="2563EB"/>
          </a:solidFill>
          <a:ln w="12700">
            <a:solidFill>
              <a:srgbClr val="2563EB"/>
            </a:solidFill>
            <a:prstDash val="solid"/>
          </a:ln>
        </p:spPr>
        <p:txBody>
          <a:bodyPr/>
          <a:lstStyle/>
          <a:p>
            <a:endParaRPr lang="en-US" sz="2400"/>
          </a:p>
        </p:txBody>
      </p:sp>
      <p:sp>
        <p:nvSpPr>
          <p:cNvPr id="12" name="Text 9"/>
          <p:cNvSpPr/>
          <p:nvPr/>
        </p:nvSpPr>
        <p:spPr>
          <a:xfrm>
            <a:off x="5303520" y="4486656"/>
            <a:ext cx="1645920" cy="585216"/>
          </a:xfrm>
          <a:prstGeom prst="rect">
            <a:avLst/>
          </a:prstGeom>
          <a:noFill/>
          <a:ln/>
        </p:spPr>
        <p:txBody>
          <a:bodyPr wrap="square" rtlCol="0" anchor="ctr"/>
          <a:lstStyle/>
          <a:p>
            <a:pPr algn="ctr"/>
            <a:r>
              <a:rPr lang="en-US" sz="1267" b="1" dirty="0">
                <a:solidFill>
                  <a:srgbClr val="FFFFFF"/>
                </a:solidFill>
              </a:rPr>
              <a:t>AT1 (1.5%)</a:t>
            </a:r>
            <a:endParaRPr lang="en-US" sz="1267" dirty="0"/>
          </a:p>
        </p:txBody>
      </p:sp>
      <p:sp>
        <p:nvSpPr>
          <p:cNvPr id="13" name="Text 10"/>
          <p:cNvSpPr/>
          <p:nvPr/>
        </p:nvSpPr>
        <p:spPr>
          <a:xfrm>
            <a:off x="5303520" y="5120640"/>
            <a:ext cx="1645920" cy="365760"/>
          </a:xfrm>
          <a:prstGeom prst="rect">
            <a:avLst/>
          </a:prstGeom>
          <a:noFill/>
          <a:ln/>
        </p:spPr>
        <p:txBody>
          <a:bodyPr wrap="square" lIns="0" tIns="0" rIns="0" bIns="0" rtlCol="0" anchor="ctr"/>
          <a:lstStyle/>
          <a:p>
            <a:pPr algn="ctr"/>
            <a:r>
              <a:rPr lang="en-US" sz="1333" b="1" dirty="0">
                <a:solidFill>
                  <a:srgbClr val="2563EB"/>
                </a:solidFill>
              </a:rPr>
              <a:t>16,781 Cr</a:t>
            </a:r>
            <a:endParaRPr lang="en-US" sz="1333" dirty="0"/>
          </a:p>
        </p:txBody>
      </p:sp>
      <p:sp>
        <p:nvSpPr>
          <p:cNvPr id="5" name="Text 11"/>
          <p:cNvSpPr/>
          <p:nvPr/>
        </p:nvSpPr>
        <p:spPr>
          <a:xfrm>
            <a:off x="5303520" y="5486400"/>
            <a:ext cx="1645920" cy="341376"/>
          </a:xfrm>
          <a:prstGeom prst="rect">
            <a:avLst/>
          </a:prstGeom>
          <a:noFill/>
          <a:ln/>
        </p:spPr>
        <p:txBody>
          <a:bodyPr wrap="square" lIns="0" tIns="0" rIns="0" bIns="0" rtlCol="0" anchor="ctr"/>
          <a:lstStyle/>
          <a:p>
            <a:pPr algn="ctr"/>
            <a:r>
              <a:rPr lang="en-US" sz="1200" dirty="0">
                <a:solidFill>
                  <a:srgbClr val="64748B"/>
                </a:solidFill>
              </a:rPr>
              <a:t>Special bonds</a:t>
            </a:r>
            <a:endParaRPr lang="en-US" sz="1200" dirty="0"/>
          </a:p>
        </p:txBody>
      </p:sp>
      <p:sp>
        <p:nvSpPr>
          <p:cNvPr id="15" name="Shape 12"/>
          <p:cNvSpPr/>
          <p:nvPr/>
        </p:nvSpPr>
        <p:spPr>
          <a:xfrm>
            <a:off x="6949440" y="4486656"/>
            <a:ext cx="2194560" cy="585216"/>
          </a:xfrm>
          <a:prstGeom prst="rect">
            <a:avLst/>
          </a:prstGeom>
          <a:solidFill>
            <a:srgbClr val="EA580C"/>
          </a:solidFill>
          <a:ln w="12700">
            <a:solidFill>
              <a:srgbClr val="EA580C"/>
            </a:solidFill>
            <a:prstDash val="solid"/>
          </a:ln>
        </p:spPr>
        <p:txBody>
          <a:bodyPr/>
          <a:lstStyle/>
          <a:p>
            <a:endParaRPr lang="en-US" sz="2400"/>
          </a:p>
        </p:txBody>
      </p:sp>
      <p:sp>
        <p:nvSpPr>
          <p:cNvPr id="16" name="Text 13"/>
          <p:cNvSpPr/>
          <p:nvPr/>
        </p:nvSpPr>
        <p:spPr>
          <a:xfrm>
            <a:off x="6949440" y="4486656"/>
            <a:ext cx="2194560" cy="585216"/>
          </a:xfrm>
          <a:prstGeom prst="rect">
            <a:avLst/>
          </a:prstGeom>
          <a:noFill/>
          <a:ln/>
        </p:spPr>
        <p:txBody>
          <a:bodyPr wrap="square" rtlCol="0" anchor="ctr"/>
          <a:lstStyle/>
          <a:p>
            <a:pPr algn="ctr"/>
            <a:r>
              <a:rPr lang="en-US" sz="1267" b="1" dirty="0">
                <a:solidFill>
                  <a:srgbClr val="FFFFFF"/>
                </a:solidFill>
              </a:rPr>
              <a:t>Tier 2 (2%)</a:t>
            </a:r>
            <a:endParaRPr lang="en-US" sz="1267" dirty="0"/>
          </a:p>
        </p:txBody>
      </p:sp>
      <p:sp>
        <p:nvSpPr>
          <p:cNvPr id="17" name="Text 14"/>
          <p:cNvSpPr/>
          <p:nvPr/>
        </p:nvSpPr>
        <p:spPr>
          <a:xfrm>
            <a:off x="6949440" y="5120640"/>
            <a:ext cx="2194560" cy="365760"/>
          </a:xfrm>
          <a:prstGeom prst="rect">
            <a:avLst/>
          </a:prstGeom>
          <a:noFill/>
          <a:ln/>
        </p:spPr>
        <p:txBody>
          <a:bodyPr wrap="square" lIns="0" tIns="0" rIns="0" bIns="0" rtlCol="0" anchor="ctr"/>
          <a:lstStyle/>
          <a:p>
            <a:pPr algn="ctr"/>
            <a:r>
              <a:rPr lang="en-US" sz="1333" b="1" dirty="0">
                <a:solidFill>
                  <a:srgbClr val="EA580C"/>
                </a:solidFill>
              </a:rPr>
              <a:t>22,375 Cr</a:t>
            </a:r>
            <a:endParaRPr lang="en-US" sz="1333" dirty="0"/>
          </a:p>
        </p:txBody>
      </p:sp>
      <p:sp>
        <p:nvSpPr>
          <p:cNvPr id="18" name="Text 15"/>
          <p:cNvSpPr/>
          <p:nvPr/>
        </p:nvSpPr>
        <p:spPr>
          <a:xfrm>
            <a:off x="6949440" y="5486400"/>
            <a:ext cx="2194560" cy="341376"/>
          </a:xfrm>
          <a:prstGeom prst="rect">
            <a:avLst/>
          </a:prstGeom>
          <a:noFill/>
          <a:ln/>
        </p:spPr>
        <p:txBody>
          <a:bodyPr wrap="square" lIns="0" tIns="0" rIns="0" bIns="0" rtlCol="0" anchor="ctr"/>
          <a:lstStyle/>
          <a:p>
            <a:pPr algn="ctr"/>
            <a:r>
              <a:rPr lang="en-US" sz="1200" dirty="0">
                <a:solidFill>
                  <a:srgbClr val="64748B"/>
                </a:solidFill>
              </a:rPr>
              <a:t>Subordinated debt</a:t>
            </a:r>
            <a:endParaRPr lang="en-US" sz="1200" dirty="0"/>
          </a:p>
        </p:txBody>
      </p:sp>
      <p:sp>
        <p:nvSpPr>
          <p:cNvPr id="19" name="Shape 16"/>
          <p:cNvSpPr/>
          <p:nvPr/>
        </p:nvSpPr>
        <p:spPr>
          <a:xfrm>
            <a:off x="9144000" y="4486656"/>
            <a:ext cx="2743200" cy="585216"/>
          </a:xfrm>
          <a:prstGeom prst="rect">
            <a:avLst/>
          </a:prstGeom>
          <a:solidFill>
            <a:srgbClr val="7C3AED"/>
          </a:solidFill>
          <a:ln w="12700">
            <a:solidFill>
              <a:srgbClr val="7C3AED"/>
            </a:solidFill>
            <a:prstDash val="solid"/>
          </a:ln>
        </p:spPr>
        <p:txBody>
          <a:bodyPr/>
          <a:lstStyle/>
          <a:p>
            <a:endParaRPr lang="en-US" sz="2400"/>
          </a:p>
        </p:txBody>
      </p:sp>
      <p:sp>
        <p:nvSpPr>
          <p:cNvPr id="20" name="Text 17"/>
          <p:cNvSpPr/>
          <p:nvPr/>
        </p:nvSpPr>
        <p:spPr>
          <a:xfrm>
            <a:off x="9144000" y="4486656"/>
            <a:ext cx="2743200" cy="585216"/>
          </a:xfrm>
          <a:prstGeom prst="rect">
            <a:avLst/>
          </a:prstGeom>
          <a:noFill/>
          <a:ln/>
        </p:spPr>
        <p:txBody>
          <a:bodyPr wrap="square" rtlCol="0" anchor="ctr"/>
          <a:lstStyle/>
          <a:p>
            <a:pPr algn="ctr"/>
            <a:r>
              <a:rPr lang="en-US" sz="1267" b="1" dirty="0">
                <a:solidFill>
                  <a:srgbClr val="FFFFFF"/>
                </a:solidFill>
              </a:rPr>
              <a:t>Buffer (2.5%)</a:t>
            </a:r>
            <a:endParaRPr lang="en-US" sz="1267" dirty="0"/>
          </a:p>
        </p:txBody>
      </p:sp>
      <p:sp>
        <p:nvSpPr>
          <p:cNvPr id="21" name="Text 18"/>
          <p:cNvSpPr/>
          <p:nvPr/>
        </p:nvSpPr>
        <p:spPr>
          <a:xfrm>
            <a:off x="9144000" y="5120640"/>
            <a:ext cx="2743200" cy="365760"/>
          </a:xfrm>
          <a:prstGeom prst="rect">
            <a:avLst/>
          </a:prstGeom>
          <a:noFill/>
          <a:ln/>
        </p:spPr>
        <p:txBody>
          <a:bodyPr wrap="square" lIns="0" tIns="0" rIns="0" bIns="0" rtlCol="0" anchor="ctr"/>
          <a:lstStyle/>
          <a:p>
            <a:pPr algn="ctr"/>
            <a:r>
              <a:rPr lang="en-US" sz="1333" b="1" dirty="0">
                <a:solidFill>
                  <a:srgbClr val="7C3AED"/>
                </a:solidFill>
              </a:rPr>
              <a:t>27,969 Cr</a:t>
            </a:r>
            <a:endParaRPr lang="en-US" sz="1333" dirty="0"/>
          </a:p>
        </p:txBody>
      </p:sp>
      <p:sp>
        <p:nvSpPr>
          <p:cNvPr id="22" name="Text 19"/>
          <p:cNvSpPr/>
          <p:nvPr/>
        </p:nvSpPr>
        <p:spPr>
          <a:xfrm>
            <a:off x="9144000" y="5486400"/>
            <a:ext cx="2743200" cy="341376"/>
          </a:xfrm>
          <a:prstGeom prst="rect">
            <a:avLst/>
          </a:prstGeom>
          <a:noFill/>
          <a:ln/>
        </p:spPr>
        <p:txBody>
          <a:bodyPr wrap="square" lIns="0" tIns="0" rIns="0" bIns="0" rtlCol="0" anchor="ctr"/>
          <a:lstStyle/>
          <a:p>
            <a:pPr algn="ctr"/>
            <a:r>
              <a:rPr lang="en-US" sz="1200" dirty="0">
                <a:solidFill>
                  <a:srgbClr val="64748B"/>
                </a:solidFill>
              </a:rPr>
              <a:t>Conservation buffer — extra, on top of the 8%</a:t>
            </a:r>
            <a:endParaRPr lang="en-US" sz="1200" dirty="0"/>
          </a:p>
        </p:txBody>
      </p:sp>
      <p:sp>
        <p:nvSpPr>
          <p:cNvPr id="23" name="Shape 20"/>
          <p:cNvSpPr/>
          <p:nvPr/>
        </p:nvSpPr>
        <p:spPr>
          <a:xfrm>
            <a:off x="365760" y="5949696"/>
            <a:ext cx="5547360" cy="670560"/>
          </a:xfrm>
          <a:prstGeom prst="rect">
            <a:avLst/>
          </a:prstGeom>
          <a:solidFill>
            <a:srgbClr val="F0FDFA"/>
          </a:solidFill>
          <a:ln w="12700">
            <a:solidFill>
              <a:srgbClr val="0D9488"/>
            </a:solidFill>
            <a:prstDash val="solid"/>
          </a:ln>
        </p:spPr>
        <p:txBody>
          <a:bodyPr/>
          <a:lstStyle/>
          <a:p>
            <a:endParaRPr lang="en-US" sz="2400"/>
          </a:p>
        </p:txBody>
      </p:sp>
      <p:sp>
        <p:nvSpPr>
          <p:cNvPr id="24" name="Text 21"/>
          <p:cNvSpPr/>
          <p:nvPr/>
        </p:nvSpPr>
        <p:spPr>
          <a:xfrm>
            <a:off x="548640" y="6010656"/>
            <a:ext cx="5181600" cy="548640"/>
          </a:xfrm>
          <a:prstGeom prst="rect">
            <a:avLst/>
          </a:prstGeom>
          <a:noFill/>
          <a:ln/>
        </p:spPr>
        <p:txBody>
          <a:bodyPr wrap="square" lIns="0" tIns="0" rIns="0" bIns="0" rtlCol="0" anchor="ctr"/>
          <a:lstStyle/>
          <a:p>
            <a:r>
              <a:rPr lang="en-US" sz="1400" dirty="0">
                <a:solidFill>
                  <a:srgbClr val="0D9488"/>
                </a:solidFill>
              </a:rPr>
              <a:t>💧 LCR Check: HQLA ÷ 30-day outflows ≥ 100%</a:t>
            </a:r>
            <a:endParaRPr lang="en-US" sz="1400" dirty="0"/>
          </a:p>
          <a:p>
            <a:r>
              <a:rPr lang="en-US" sz="1400" dirty="0">
                <a:solidFill>
                  <a:srgbClr val="0D9488"/>
                </a:solidFill>
              </a:rPr>
              <a:t>Example: 1,200 ÷ 950 = 126.3%  ✅</a:t>
            </a:r>
            <a:endParaRPr lang="en-US" sz="1400" dirty="0"/>
          </a:p>
        </p:txBody>
      </p:sp>
      <p:sp>
        <p:nvSpPr>
          <p:cNvPr id="25" name="Shape 22"/>
          <p:cNvSpPr/>
          <p:nvPr/>
        </p:nvSpPr>
        <p:spPr>
          <a:xfrm>
            <a:off x="6278880" y="5949696"/>
            <a:ext cx="5547360" cy="670560"/>
          </a:xfrm>
          <a:prstGeom prst="rect">
            <a:avLst/>
          </a:prstGeom>
          <a:solidFill>
            <a:srgbClr val="FAF5FF"/>
          </a:solidFill>
          <a:ln w="12700">
            <a:solidFill>
              <a:srgbClr val="7C3AED"/>
            </a:solidFill>
            <a:prstDash val="solid"/>
          </a:ln>
        </p:spPr>
        <p:txBody>
          <a:bodyPr/>
          <a:lstStyle/>
          <a:p>
            <a:endParaRPr lang="en-US" sz="2400"/>
          </a:p>
        </p:txBody>
      </p:sp>
      <p:sp>
        <p:nvSpPr>
          <p:cNvPr id="26" name="Text 23"/>
          <p:cNvSpPr/>
          <p:nvPr/>
        </p:nvSpPr>
        <p:spPr>
          <a:xfrm>
            <a:off x="6461760" y="6010656"/>
            <a:ext cx="5181600" cy="548640"/>
          </a:xfrm>
          <a:prstGeom prst="rect">
            <a:avLst/>
          </a:prstGeom>
          <a:noFill/>
          <a:ln/>
        </p:spPr>
        <p:txBody>
          <a:bodyPr wrap="square" lIns="0" tIns="0" rIns="0" bIns="0" rtlCol="0" anchor="ctr"/>
          <a:lstStyle/>
          <a:p>
            <a:r>
              <a:rPr lang="en-US" sz="1400" dirty="0">
                <a:solidFill>
                  <a:srgbClr val="7C3AED"/>
                </a:solidFill>
              </a:rPr>
              <a:t>⚖️ Leverage Check: Tier 1 ÷ Total Exposure ≥ 3%</a:t>
            </a:r>
            <a:endParaRPr lang="en-US" sz="1400" dirty="0"/>
          </a:p>
          <a:p>
            <a:r>
              <a:rPr lang="en-US" sz="1400" dirty="0">
                <a:solidFill>
                  <a:srgbClr val="7C3AED"/>
                </a:solidFill>
              </a:rPr>
              <a:t>Example: 67,125 ÷ 14,00,000 = 4.8%  ✅</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86384" y="310896"/>
            <a:ext cx="10817352" cy="274320"/>
          </a:xfrm>
          <a:prstGeom prst="rect">
            <a:avLst/>
          </a:prstGeom>
          <a:noFill/>
        </p:spPr>
        <p:txBody>
          <a:bodyPr wrap="square" lIns="0" tIns="0" rIns="0" bIns="0" anchor="t">
            <a:spAutoFit/>
          </a:bodyPr>
          <a:lstStyle/>
          <a:p>
            <a:pPr algn="l"/>
            <a:r>
              <a:rPr sz="1100" b="1">
                <a:solidFill>
                  <a:srgbClr val="C9A227"/>
                </a:solidFill>
              </a:rPr>
              <a:t>HOUR 1 · BASEL II</a:t>
            </a:r>
          </a:p>
        </p:txBody>
      </p:sp>
      <p:sp>
        <p:nvSpPr>
          <p:cNvPr id="4" name="TextBox 3"/>
          <p:cNvSpPr txBox="1"/>
          <p:nvPr/>
        </p:nvSpPr>
        <p:spPr>
          <a:xfrm>
            <a:off x="548640" y="621792"/>
            <a:ext cx="11091672" cy="731520"/>
          </a:xfrm>
          <a:prstGeom prst="rect">
            <a:avLst/>
          </a:prstGeom>
          <a:noFill/>
        </p:spPr>
        <p:txBody>
          <a:bodyPr wrap="square" lIns="0" tIns="0" rIns="0" bIns="0" anchor="t">
            <a:spAutoFit/>
          </a:bodyPr>
          <a:lstStyle/>
          <a:p>
            <a:pPr algn="l"/>
            <a:r>
              <a:rPr sz="2900" b="1">
                <a:solidFill>
                  <a:srgbClr val="0F2145"/>
                </a:solidFill>
                <a:latin typeface="Georgia"/>
              </a:rPr>
              <a:t>Who is allowed to use their own model?</a:t>
            </a:r>
          </a:p>
        </p:txBody>
      </p:sp>
      <p:sp>
        <p:nvSpPr>
          <p:cNvPr id="5" name="TextBox 4"/>
          <p:cNvSpPr txBox="1"/>
          <p:nvPr/>
        </p:nvSpPr>
        <p:spPr>
          <a:xfrm>
            <a:off x="548640" y="1444752"/>
            <a:ext cx="11091672" cy="292608"/>
          </a:xfrm>
          <a:prstGeom prst="rect">
            <a:avLst/>
          </a:prstGeom>
          <a:noFill/>
        </p:spPr>
        <p:txBody>
          <a:bodyPr wrap="square" lIns="0" tIns="0" rIns="0" bIns="0" anchor="t">
            <a:spAutoFit/>
          </a:bodyPr>
          <a:lstStyle/>
          <a:p>
            <a:pPr algn="l"/>
            <a:r>
              <a:rPr sz="1200" b="0">
                <a:solidFill>
                  <a:srgbClr val="5D6B7E"/>
                </a:solidFill>
              </a:rPr>
              <a:t>Every bank must hold capital against its loans. Basel II gave banks two ways to work out how much.</a:t>
            </a:r>
          </a:p>
        </p:txBody>
      </p:sp>
      <p:sp>
        <p:nvSpPr>
          <p:cNvPr id="6" name="Rectangle 5"/>
          <p:cNvSpPr/>
          <p:nvPr/>
        </p:nvSpPr>
        <p:spPr>
          <a:xfrm>
            <a:off x="548640" y="1828800"/>
            <a:ext cx="5486400" cy="2377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2011680"/>
            <a:ext cx="4937760" cy="274320"/>
          </a:xfrm>
          <a:prstGeom prst="rect">
            <a:avLst/>
          </a:prstGeom>
          <a:noFill/>
        </p:spPr>
        <p:txBody>
          <a:bodyPr wrap="square" lIns="0" tIns="0" rIns="0" bIns="0" anchor="t">
            <a:spAutoFit/>
          </a:bodyPr>
          <a:lstStyle/>
          <a:p>
            <a:pPr algn="l"/>
            <a:r>
              <a:rPr sz="950" b="1">
                <a:solidFill>
                  <a:srgbClr val="3A5C9E"/>
                </a:solidFill>
              </a:rPr>
              <a:t>THE STANDARDISED APPROACH</a:t>
            </a:r>
          </a:p>
        </p:txBody>
      </p:sp>
      <p:sp>
        <p:nvSpPr>
          <p:cNvPr id="8" name="TextBox 7"/>
          <p:cNvSpPr txBox="1"/>
          <p:nvPr/>
        </p:nvSpPr>
        <p:spPr>
          <a:xfrm>
            <a:off x="804672" y="2322576"/>
            <a:ext cx="4937760" cy="329184"/>
          </a:xfrm>
          <a:prstGeom prst="rect">
            <a:avLst/>
          </a:prstGeom>
          <a:noFill/>
        </p:spPr>
        <p:txBody>
          <a:bodyPr wrap="square" lIns="0" tIns="0" rIns="0" bIns="0" anchor="t">
            <a:spAutoFit/>
          </a:bodyPr>
          <a:lstStyle/>
          <a:p>
            <a:pPr algn="l"/>
            <a:r>
              <a:rPr sz="1500" b="1">
                <a:solidFill>
                  <a:srgbClr val="0F2145"/>
                </a:solidFill>
                <a:latin typeface="Georgia"/>
              </a:rPr>
              <a:t>The regulator gives you the numbers.</a:t>
            </a:r>
          </a:p>
        </p:txBody>
      </p:sp>
      <p:sp>
        <p:nvSpPr>
          <p:cNvPr id="9" name="TextBox 8"/>
          <p:cNvSpPr txBox="1"/>
          <p:nvPr/>
        </p:nvSpPr>
        <p:spPr>
          <a:xfrm>
            <a:off x="804672" y="2743200"/>
            <a:ext cx="4937760" cy="347472"/>
          </a:xfrm>
          <a:prstGeom prst="rect">
            <a:avLst/>
          </a:prstGeom>
          <a:noFill/>
        </p:spPr>
        <p:txBody>
          <a:bodyPr wrap="square" lIns="0" tIns="0" rIns="0" bIns="0" anchor="t">
            <a:spAutoFit/>
          </a:bodyPr>
          <a:lstStyle/>
          <a:p>
            <a:pPr algn="l"/>
            <a:r>
              <a:rPr sz="950" b="1">
                <a:solidFill>
                  <a:srgbClr val="C9A227"/>
                </a:solidFill>
              </a:rPr>
              <a:t>▪</a:t>
            </a:r>
            <a:r>
              <a:rPr sz="950" b="0">
                <a:solidFill>
                  <a:srgbClr val="1B2A41"/>
                </a:solidFill>
              </a:rPr>
              <a:t>A loan gets a risk weight from a published table.</a:t>
            </a:r>
          </a:p>
        </p:txBody>
      </p:sp>
      <p:sp>
        <p:nvSpPr>
          <p:cNvPr id="10" name="TextBox 9"/>
          <p:cNvSpPr txBox="1"/>
          <p:nvPr/>
        </p:nvSpPr>
        <p:spPr>
          <a:xfrm>
            <a:off x="804672" y="3108960"/>
            <a:ext cx="4937760" cy="347472"/>
          </a:xfrm>
          <a:prstGeom prst="rect">
            <a:avLst/>
          </a:prstGeom>
          <a:noFill/>
        </p:spPr>
        <p:txBody>
          <a:bodyPr wrap="square" lIns="0" tIns="0" rIns="0" bIns="0" anchor="t">
            <a:spAutoFit/>
          </a:bodyPr>
          <a:lstStyle/>
          <a:p>
            <a:pPr algn="l"/>
            <a:r>
              <a:rPr sz="950" b="1">
                <a:solidFill>
                  <a:srgbClr val="C9A227"/>
                </a:solidFill>
              </a:rPr>
              <a:t>▪</a:t>
            </a:r>
            <a:r>
              <a:rPr sz="950" b="0">
                <a:solidFill>
                  <a:srgbClr val="1B2A41"/>
                </a:solidFill>
              </a:rPr>
              <a:t>The weight comes off the borrower's external rating.</a:t>
            </a:r>
          </a:p>
        </p:txBody>
      </p:sp>
      <p:sp>
        <p:nvSpPr>
          <p:cNvPr id="11" name="TextBox 10"/>
          <p:cNvSpPr txBox="1"/>
          <p:nvPr/>
        </p:nvSpPr>
        <p:spPr>
          <a:xfrm>
            <a:off x="804672" y="3474720"/>
            <a:ext cx="4937760" cy="347472"/>
          </a:xfrm>
          <a:prstGeom prst="rect">
            <a:avLst/>
          </a:prstGeom>
          <a:noFill/>
        </p:spPr>
        <p:txBody>
          <a:bodyPr wrap="square" lIns="0" tIns="0" rIns="0" bIns="0" anchor="t">
            <a:spAutoFit/>
          </a:bodyPr>
          <a:lstStyle/>
          <a:p>
            <a:pPr algn="l"/>
            <a:r>
              <a:rPr sz="950" b="1">
                <a:solidFill>
                  <a:srgbClr val="C9A227"/>
                </a:solidFill>
              </a:rPr>
              <a:t>▪</a:t>
            </a:r>
            <a:r>
              <a:rPr sz="950" b="0">
                <a:solidFill>
                  <a:srgbClr val="1B2A41"/>
                </a:solidFill>
              </a:rPr>
              <a:t>The bank models nothing and estimates nothing.</a:t>
            </a:r>
          </a:p>
        </p:txBody>
      </p:sp>
      <p:sp>
        <p:nvSpPr>
          <p:cNvPr id="12" name="TextBox 11"/>
          <p:cNvSpPr txBox="1"/>
          <p:nvPr/>
        </p:nvSpPr>
        <p:spPr>
          <a:xfrm>
            <a:off x="804672" y="3840480"/>
            <a:ext cx="4937760" cy="347472"/>
          </a:xfrm>
          <a:prstGeom prst="rect">
            <a:avLst/>
          </a:prstGeom>
          <a:noFill/>
        </p:spPr>
        <p:txBody>
          <a:bodyPr wrap="square" lIns="0" tIns="0" rIns="0" bIns="0" anchor="t">
            <a:spAutoFit/>
          </a:bodyPr>
          <a:lstStyle/>
          <a:p>
            <a:pPr algn="l"/>
            <a:r>
              <a:rPr sz="950" b="1">
                <a:solidFill>
                  <a:srgbClr val="C9A227"/>
                </a:solidFill>
              </a:rPr>
              <a:t>▪</a:t>
            </a:r>
            <a:r>
              <a:rPr sz="950" b="0">
                <a:solidFill>
                  <a:srgbClr val="1B2A41"/>
                </a:solidFill>
              </a:rPr>
              <a:t>Simple to run, and it usually demands more capital.</a:t>
            </a:r>
          </a:p>
        </p:txBody>
      </p:sp>
      <p:sp>
        <p:nvSpPr>
          <p:cNvPr id="13" name="Rectangle 12"/>
          <p:cNvSpPr/>
          <p:nvPr/>
        </p:nvSpPr>
        <p:spPr>
          <a:xfrm>
            <a:off x="6153912" y="1828800"/>
            <a:ext cx="5486400" cy="237744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9944" y="2011680"/>
            <a:ext cx="4937760" cy="274320"/>
          </a:xfrm>
          <a:prstGeom prst="rect">
            <a:avLst/>
          </a:prstGeom>
          <a:noFill/>
        </p:spPr>
        <p:txBody>
          <a:bodyPr wrap="square" lIns="0" tIns="0" rIns="0" bIns="0" anchor="t">
            <a:spAutoFit/>
          </a:bodyPr>
          <a:lstStyle/>
          <a:p>
            <a:pPr algn="l"/>
            <a:r>
              <a:rPr sz="950" b="1">
                <a:solidFill>
                  <a:srgbClr val="C9A227"/>
                </a:solidFill>
              </a:rPr>
              <a:t>THE IRB APPROACH</a:t>
            </a:r>
          </a:p>
        </p:txBody>
      </p:sp>
      <p:sp>
        <p:nvSpPr>
          <p:cNvPr id="15" name="TextBox 14"/>
          <p:cNvSpPr txBox="1"/>
          <p:nvPr/>
        </p:nvSpPr>
        <p:spPr>
          <a:xfrm>
            <a:off x="6409944" y="2322576"/>
            <a:ext cx="4937760" cy="329184"/>
          </a:xfrm>
          <a:prstGeom prst="rect">
            <a:avLst/>
          </a:prstGeom>
          <a:noFill/>
        </p:spPr>
        <p:txBody>
          <a:bodyPr wrap="square" lIns="0" tIns="0" rIns="0" bIns="0" anchor="t">
            <a:spAutoFit/>
          </a:bodyPr>
          <a:lstStyle/>
          <a:p>
            <a:pPr algn="l"/>
            <a:r>
              <a:rPr sz="1500" b="1">
                <a:solidFill>
                  <a:srgbClr val="FFFFFF"/>
                </a:solidFill>
                <a:latin typeface="Georgia"/>
              </a:rPr>
              <a:t>The bank estimates its own numbers.</a:t>
            </a:r>
          </a:p>
        </p:txBody>
      </p:sp>
      <p:sp>
        <p:nvSpPr>
          <p:cNvPr id="16" name="TextBox 15"/>
          <p:cNvSpPr txBox="1"/>
          <p:nvPr/>
        </p:nvSpPr>
        <p:spPr>
          <a:xfrm>
            <a:off x="6409944" y="2743200"/>
            <a:ext cx="4937760" cy="347472"/>
          </a:xfrm>
          <a:prstGeom prst="rect">
            <a:avLst/>
          </a:prstGeom>
          <a:noFill/>
        </p:spPr>
        <p:txBody>
          <a:bodyPr wrap="square" lIns="0" tIns="0" rIns="0" bIns="0" anchor="t">
            <a:spAutoFit/>
          </a:bodyPr>
          <a:lstStyle/>
          <a:p>
            <a:pPr algn="l"/>
            <a:r>
              <a:rPr sz="950" b="1">
                <a:solidFill>
                  <a:srgbClr val="C9A227"/>
                </a:solidFill>
              </a:rPr>
              <a:t>▪</a:t>
            </a:r>
            <a:r>
              <a:rPr sz="950" b="0">
                <a:solidFill>
                  <a:srgbClr val="C9D6EE"/>
                </a:solidFill>
              </a:rPr>
              <a:t>Foundation IRB: the bank estimates PD. The regulator still sets LGD and EAD.</a:t>
            </a:r>
          </a:p>
        </p:txBody>
      </p:sp>
      <p:sp>
        <p:nvSpPr>
          <p:cNvPr id="17" name="TextBox 16"/>
          <p:cNvSpPr txBox="1"/>
          <p:nvPr/>
        </p:nvSpPr>
        <p:spPr>
          <a:xfrm>
            <a:off x="6409944" y="3108960"/>
            <a:ext cx="4937760" cy="347472"/>
          </a:xfrm>
          <a:prstGeom prst="rect">
            <a:avLst/>
          </a:prstGeom>
          <a:noFill/>
        </p:spPr>
        <p:txBody>
          <a:bodyPr wrap="square" lIns="0" tIns="0" rIns="0" bIns="0" anchor="t">
            <a:spAutoFit/>
          </a:bodyPr>
          <a:lstStyle/>
          <a:p>
            <a:pPr algn="l"/>
            <a:r>
              <a:rPr sz="950" b="1">
                <a:solidFill>
                  <a:srgbClr val="C9A227"/>
                </a:solidFill>
              </a:rPr>
              <a:t>▪</a:t>
            </a:r>
            <a:r>
              <a:rPr sz="950" b="0">
                <a:solidFill>
                  <a:srgbClr val="C9D6EE"/>
                </a:solidFill>
              </a:rPr>
              <a:t>Advanced IRB: the bank estimates PD, LGD and EAD itself.</a:t>
            </a:r>
          </a:p>
        </p:txBody>
      </p:sp>
      <p:sp>
        <p:nvSpPr>
          <p:cNvPr id="18" name="TextBox 17"/>
          <p:cNvSpPr txBox="1"/>
          <p:nvPr/>
        </p:nvSpPr>
        <p:spPr>
          <a:xfrm>
            <a:off x="6409944" y="3474720"/>
            <a:ext cx="4937760" cy="347472"/>
          </a:xfrm>
          <a:prstGeom prst="rect">
            <a:avLst/>
          </a:prstGeom>
          <a:noFill/>
        </p:spPr>
        <p:txBody>
          <a:bodyPr wrap="square" lIns="0" tIns="0" rIns="0" bIns="0" anchor="t">
            <a:spAutoFit/>
          </a:bodyPr>
          <a:lstStyle/>
          <a:p>
            <a:pPr algn="l"/>
            <a:r>
              <a:rPr sz="950" b="1">
                <a:solidFill>
                  <a:srgbClr val="C9A227"/>
                </a:solidFill>
              </a:rPr>
              <a:t>▪</a:t>
            </a:r>
            <a:r>
              <a:rPr sz="950" b="0">
                <a:solidFill>
                  <a:srgbClr val="C9D6EE"/>
                </a:solidFill>
              </a:rPr>
              <a:t>This is where every model in this module actually gets used.</a:t>
            </a:r>
          </a:p>
        </p:txBody>
      </p:sp>
      <p:sp>
        <p:nvSpPr>
          <p:cNvPr id="19" name="TextBox 18"/>
          <p:cNvSpPr txBox="1"/>
          <p:nvPr/>
        </p:nvSpPr>
        <p:spPr>
          <a:xfrm>
            <a:off x="6409944" y="3840480"/>
            <a:ext cx="4937760" cy="347472"/>
          </a:xfrm>
          <a:prstGeom prst="rect">
            <a:avLst/>
          </a:prstGeom>
          <a:noFill/>
        </p:spPr>
        <p:txBody>
          <a:bodyPr wrap="square" lIns="0" tIns="0" rIns="0" bIns="0" anchor="t">
            <a:spAutoFit/>
          </a:bodyPr>
          <a:lstStyle/>
          <a:p>
            <a:pPr algn="l"/>
            <a:r>
              <a:rPr sz="950" b="1">
                <a:solidFill>
                  <a:srgbClr val="C9A227"/>
                </a:solidFill>
              </a:rPr>
              <a:t>▪</a:t>
            </a:r>
            <a:r>
              <a:rPr sz="950" b="0">
                <a:solidFill>
                  <a:srgbClr val="C9D6EE"/>
                </a:solidFill>
              </a:rPr>
              <a:t>Permission is granted by the supervisor, and it can be taken away.</a:t>
            </a:r>
          </a:p>
        </p:txBody>
      </p:sp>
      <p:sp>
        <p:nvSpPr>
          <p:cNvPr id="20" name="Rectangle 19"/>
          <p:cNvSpPr/>
          <p:nvPr/>
        </p:nvSpPr>
        <p:spPr>
          <a:xfrm>
            <a:off x="548640" y="4370832"/>
            <a:ext cx="11091672" cy="1060704"/>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48640" y="4370832"/>
            <a:ext cx="64008" cy="106070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8680" y="4517136"/>
            <a:ext cx="10515600" cy="822960"/>
          </a:xfrm>
          <a:prstGeom prst="rect">
            <a:avLst/>
          </a:prstGeom>
          <a:noFill/>
        </p:spPr>
        <p:txBody>
          <a:bodyPr wrap="square" lIns="0" tIns="0" rIns="0" bIns="0" anchor="t">
            <a:spAutoFit/>
          </a:bodyPr>
          <a:lstStyle/>
          <a:p>
            <a:pPr algn="l"/>
            <a:r>
              <a:rPr sz="950" b="1">
                <a:solidFill>
                  <a:srgbClr val="3A5C9E"/>
                </a:solidFill>
              </a:rPr>
              <a:t>WHY A BANK WANTS ITS OWN MODEL, IN ONE SUM</a:t>
            </a:r>
          </a:p>
          <a:p>
            <a:pPr algn="l">
              <a:spcBef>
                <a:spcPts val="400"/>
              </a:spcBef>
            </a:pPr>
            <a:r>
              <a:rPr sz="1100" b="0">
                <a:solidFill>
                  <a:srgbClr val="1B2A41"/>
                </a:solidFill>
              </a:rPr>
              <a:t>Take a ₹100 crore corporate book. On the standardised weight of 100% the bank holds 8% of ₹100 crore, which is ₹8 crore. Suppose its own model justifies an effective weight of 60%. Now it holds 8% of ₹60 crore, which is ₹4.8 crore. The same book has freed ₹3.2 crore of capital to lend again.</a:t>
            </a:r>
          </a:p>
        </p:txBody>
      </p:sp>
      <p:sp>
        <p:nvSpPr>
          <p:cNvPr id="23" name="Rectangle 22"/>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60" y="5760720"/>
            <a:ext cx="10543032" cy="603504"/>
          </a:xfrm>
          <a:prstGeom prst="rect">
            <a:avLst/>
          </a:prstGeom>
          <a:noFill/>
        </p:spPr>
        <p:txBody>
          <a:bodyPr wrap="square" lIns="0" tIns="0" rIns="0" bIns="0" anchor="ctr">
            <a:spAutoFit/>
          </a:bodyPr>
          <a:lstStyle/>
          <a:p>
            <a:pPr algn="l"/>
            <a:r>
              <a:rPr sz="1200" b="1">
                <a:solidFill>
                  <a:srgbClr val="C9A227"/>
                </a:solidFill>
              </a:rPr>
              <a:t>Basel II is a bargain, not a gift:</a:t>
            </a:r>
            <a:r>
              <a:rPr sz="1200" b="0">
                <a:solidFill>
                  <a:srgbClr val="FFFFFF"/>
                </a:solidFill>
              </a:rPr>
              <a:t>prove your model works and you may set your own capital. Fail to prove it and you go back to the regulator's table.</a:t>
            </a:r>
          </a:p>
        </p:txBody>
      </p:sp>
      <p:sp>
        <p:nvSpPr>
          <p:cNvPr id="26" name="TextBox 25"/>
          <p:cNvSpPr txBox="1"/>
          <p:nvPr/>
        </p:nvSpPr>
        <p:spPr>
          <a:xfrm>
            <a:off x="548640" y="6473952"/>
            <a:ext cx="7315200" cy="228600"/>
          </a:xfrm>
          <a:prstGeom prst="rect">
            <a:avLst/>
          </a:prstGeom>
          <a:noFill/>
        </p:spPr>
        <p:txBody>
          <a:bodyPr wrap="square" lIns="0" tIns="0" rIns="0" bIns="0" anchor="t">
            <a:spAutoFit/>
          </a:bodyPr>
          <a:lstStyle/>
          <a:p>
            <a:pPr algn="l"/>
            <a:r>
              <a:rPr sz="800" b="0">
                <a:solidFill>
                  <a:srgbClr val="5D6B7E"/>
                </a:solidFill>
              </a:rPr>
              <a:t>AI IN FINANCE · THE COMPLETE CRASH COURSE</a:t>
            </a:r>
          </a:p>
        </p:txBody>
      </p:sp>
      <p:sp>
        <p:nvSpPr>
          <p:cNvPr id="27" name="TextBox 26"/>
          <p:cNvSpPr txBox="1"/>
          <p:nvPr/>
        </p:nvSpPr>
        <p:spPr>
          <a:xfrm>
            <a:off x="9262872" y="6473952"/>
            <a:ext cx="2377440" cy="228600"/>
          </a:xfrm>
          <a:prstGeom prst="rect">
            <a:avLst/>
          </a:prstGeom>
          <a:noFill/>
        </p:spPr>
        <p:txBody>
          <a:bodyPr wrap="square" lIns="0" tIns="0" rIns="0" bIns="0" anchor="t">
            <a:spAutoFit/>
          </a:bodyPr>
          <a:lstStyle/>
          <a:p>
            <a:pPr algn="r"/>
            <a:r>
              <a:rPr sz="800" b="0">
                <a:solidFill>
                  <a:srgbClr val="5D6B7E"/>
                </a:solidFill>
              </a:rPr>
              <a:t>MODULE 5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86384" y="310896"/>
            <a:ext cx="10817352" cy="338554"/>
          </a:xfrm>
          <a:prstGeom prst="rect">
            <a:avLst/>
          </a:prstGeom>
          <a:noFill/>
        </p:spPr>
        <p:txBody>
          <a:bodyPr wrap="square" lIns="0" tIns="0" rIns="0" bIns="0" anchor="t">
            <a:spAutoFit/>
          </a:bodyPr>
          <a:lstStyle/>
          <a:p>
            <a:pPr algn="l"/>
            <a:r>
              <a:rPr sz="1100" b="1" dirty="0">
                <a:solidFill>
                  <a:srgbClr val="C9A227"/>
                </a:solidFill>
              </a:rPr>
              <a:t>HOUR 1 · BUILDING THE</a:t>
            </a:r>
            <a:r>
              <a:rPr lang="en-US" sz="1100" b="1" dirty="0">
                <a:solidFill>
                  <a:srgbClr val="C9A227"/>
                </a:solidFill>
              </a:rPr>
              <a:t/>
            </a:r>
            <a:r>
              <a:rPr lang="en-US" sz="1100" b="1" dirty="0" err="1">
                <a:solidFill>
                  <a:srgbClr val="C9A227"/>
                </a:solidFill>
              </a:rPr>
              <a:t>Probality</a:t>
            </a:r>
            <a:r>
              <a:rPr lang="en-US" sz="1100" b="1" dirty="0">
                <a:solidFill>
                  <a:srgbClr val="C9A227"/>
                </a:solidFill>
              </a:rPr>
              <a:t>of Default</a:t>
            </a:r>
          </a:p>
          <a:p>
            <a:pPr algn="l"/>
            <a:r>
              <a:rPr sz="1100" b="1" dirty="0">
                <a:solidFill>
                  <a:srgbClr val="C9A227"/>
                </a:solidFill>
              </a:rPr>
              <a:t>MODEL</a:t>
            </a:r>
          </a:p>
        </p:txBody>
      </p:sp>
      <p:sp>
        <p:nvSpPr>
          <p:cNvPr id="4" name="TextBox 3"/>
          <p:cNvSpPr txBox="1"/>
          <p:nvPr/>
        </p:nvSpPr>
        <p:spPr>
          <a:xfrm>
            <a:off x="548640" y="621792"/>
            <a:ext cx="11091672" cy="446276"/>
          </a:xfrm>
          <a:prstGeom prst="rect">
            <a:avLst/>
          </a:prstGeom>
          <a:noFill/>
        </p:spPr>
        <p:txBody>
          <a:bodyPr wrap="square" lIns="0" tIns="0" rIns="0" bIns="0" anchor="t">
            <a:spAutoFit/>
          </a:bodyPr>
          <a:lstStyle/>
          <a:p>
            <a:pPr algn="l"/>
            <a:r>
              <a:rPr sz="2900" b="1" dirty="0">
                <a:solidFill>
                  <a:srgbClr val="0F2145"/>
                </a:solidFill>
                <a:latin typeface="Georgia"/>
              </a:rPr>
              <a:t>From five ratios to one probability</a:t>
            </a:r>
            <a:r>
              <a:rPr lang="en-US" sz="2900" b="1" dirty="0">
                <a:solidFill>
                  <a:srgbClr val="0F2145"/>
                </a:solidFill>
                <a:latin typeface="Georgia"/>
              </a:rPr>
              <a:t>– Logistical Regression</a:t>
            </a:r>
            <a:endParaRPr sz="2900" b="1" dirty="0">
              <a:solidFill>
                <a:srgbClr val="0F2145"/>
              </a:solidFill>
              <a:latin typeface="Georgia"/>
            </a:endParaRPr>
          </a:p>
        </p:txBody>
      </p:sp>
      <p:sp>
        <p:nvSpPr>
          <p:cNvPr id="5" name="TextBox 4"/>
          <p:cNvSpPr txBox="1"/>
          <p:nvPr/>
        </p:nvSpPr>
        <p:spPr>
          <a:xfrm>
            <a:off x="548640" y="1444752"/>
            <a:ext cx="11091672" cy="292608"/>
          </a:xfrm>
          <a:prstGeom prst="rect">
            <a:avLst/>
          </a:prstGeom>
          <a:noFill/>
        </p:spPr>
        <p:txBody>
          <a:bodyPr wrap="square" lIns="0" tIns="0" rIns="0" bIns="0" anchor="t">
            <a:spAutoFit/>
          </a:bodyPr>
          <a:lstStyle/>
          <a:p>
            <a:pPr algn="l"/>
            <a:r>
              <a:rPr sz="1200" b="0">
                <a:solidFill>
                  <a:srgbClr val="5D6B7E"/>
                </a:solidFill>
              </a:rPr>
              <a:t>Here is one borrower. These are numbers you already know how to compute from a balance sheet.</a:t>
            </a:r>
          </a:p>
        </p:txBody>
      </p:sp>
      <p:sp>
        <p:nvSpPr>
          <p:cNvPr id="6" name="Rectangle 5"/>
          <p:cNvSpPr/>
          <p:nvPr/>
        </p:nvSpPr>
        <p:spPr>
          <a:xfrm>
            <a:off x="548640" y="1810512"/>
            <a:ext cx="210312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1920240"/>
            <a:ext cx="1783080" cy="274320"/>
          </a:xfrm>
          <a:prstGeom prst="rect">
            <a:avLst/>
          </a:prstGeom>
          <a:noFill/>
        </p:spPr>
        <p:txBody>
          <a:bodyPr wrap="square" lIns="0" tIns="0" rIns="0" bIns="0" anchor="t">
            <a:spAutoFit/>
          </a:bodyPr>
          <a:lstStyle/>
          <a:p>
            <a:pPr algn="l"/>
            <a:r>
              <a:rPr sz="900" b="1">
                <a:solidFill>
                  <a:srgbClr val="3A5C9E"/>
                </a:solidFill>
              </a:rPr>
              <a:t>Current ratio</a:t>
            </a:r>
          </a:p>
        </p:txBody>
      </p:sp>
      <p:sp>
        <p:nvSpPr>
          <p:cNvPr id="8" name="TextBox 7"/>
          <p:cNvSpPr txBox="1"/>
          <p:nvPr/>
        </p:nvSpPr>
        <p:spPr>
          <a:xfrm>
            <a:off x="713232" y="2194560"/>
            <a:ext cx="1783080" cy="347472"/>
          </a:xfrm>
          <a:prstGeom prst="rect">
            <a:avLst/>
          </a:prstGeom>
          <a:noFill/>
        </p:spPr>
        <p:txBody>
          <a:bodyPr wrap="square" lIns="0" tIns="0" rIns="0" bIns="0" anchor="t">
            <a:spAutoFit/>
          </a:bodyPr>
          <a:lstStyle/>
          <a:p>
            <a:pPr algn="l"/>
            <a:r>
              <a:rPr sz="1700" b="1">
                <a:solidFill>
                  <a:srgbClr val="0F2145"/>
                </a:solidFill>
                <a:latin typeface="Georgia"/>
              </a:rPr>
              <a:t>1.4</a:t>
            </a:r>
          </a:p>
        </p:txBody>
      </p:sp>
      <p:sp>
        <p:nvSpPr>
          <p:cNvPr id="9" name="Rectangle 8"/>
          <p:cNvSpPr/>
          <p:nvPr/>
        </p:nvSpPr>
        <p:spPr>
          <a:xfrm>
            <a:off x="2788920" y="1810512"/>
            <a:ext cx="210312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53512" y="1920240"/>
            <a:ext cx="1783080" cy="274320"/>
          </a:xfrm>
          <a:prstGeom prst="rect">
            <a:avLst/>
          </a:prstGeom>
          <a:noFill/>
        </p:spPr>
        <p:txBody>
          <a:bodyPr wrap="square" lIns="0" tIns="0" rIns="0" bIns="0" anchor="t">
            <a:spAutoFit/>
          </a:bodyPr>
          <a:lstStyle/>
          <a:p>
            <a:pPr algn="l"/>
            <a:r>
              <a:rPr sz="900" b="1">
                <a:solidFill>
                  <a:srgbClr val="3A5C9E"/>
                </a:solidFill>
              </a:rPr>
              <a:t>Debt to equity</a:t>
            </a:r>
          </a:p>
        </p:txBody>
      </p:sp>
      <p:sp>
        <p:nvSpPr>
          <p:cNvPr id="11" name="TextBox 10"/>
          <p:cNvSpPr txBox="1"/>
          <p:nvPr/>
        </p:nvSpPr>
        <p:spPr>
          <a:xfrm>
            <a:off x="2953512" y="2194560"/>
            <a:ext cx="1783080" cy="347472"/>
          </a:xfrm>
          <a:prstGeom prst="rect">
            <a:avLst/>
          </a:prstGeom>
          <a:noFill/>
        </p:spPr>
        <p:txBody>
          <a:bodyPr wrap="square" lIns="0" tIns="0" rIns="0" bIns="0" anchor="t">
            <a:spAutoFit/>
          </a:bodyPr>
          <a:lstStyle/>
          <a:p>
            <a:pPr algn="l"/>
            <a:r>
              <a:rPr sz="1700" b="1">
                <a:solidFill>
                  <a:srgbClr val="0F2145"/>
                </a:solidFill>
                <a:latin typeface="Georgia"/>
              </a:rPr>
              <a:t>2.1</a:t>
            </a:r>
          </a:p>
        </p:txBody>
      </p:sp>
      <p:sp>
        <p:nvSpPr>
          <p:cNvPr id="12" name="Rectangle 11"/>
          <p:cNvSpPr/>
          <p:nvPr/>
        </p:nvSpPr>
        <p:spPr>
          <a:xfrm>
            <a:off x="5029200" y="1810512"/>
            <a:ext cx="210312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93792" y="1920240"/>
            <a:ext cx="1783080" cy="274320"/>
          </a:xfrm>
          <a:prstGeom prst="rect">
            <a:avLst/>
          </a:prstGeom>
          <a:noFill/>
        </p:spPr>
        <p:txBody>
          <a:bodyPr wrap="square" lIns="0" tIns="0" rIns="0" bIns="0" anchor="t">
            <a:spAutoFit/>
          </a:bodyPr>
          <a:lstStyle/>
          <a:p>
            <a:pPr algn="l"/>
            <a:r>
              <a:rPr sz="900" b="1">
                <a:solidFill>
                  <a:srgbClr val="3A5C9E"/>
                </a:solidFill>
              </a:rPr>
              <a:t>Interest cover</a:t>
            </a:r>
          </a:p>
        </p:txBody>
      </p:sp>
      <p:sp>
        <p:nvSpPr>
          <p:cNvPr id="14" name="TextBox 13"/>
          <p:cNvSpPr txBox="1"/>
          <p:nvPr/>
        </p:nvSpPr>
        <p:spPr>
          <a:xfrm>
            <a:off x="5193792" y="2194560"/>
            <a:ext cx="1783080" cy="347472"/>
          </a:xfrm>
          <a:prstGeom prst="rect">
            <a:avLst/>
          </a:prstGeom>
          <a:noFill/>
        </p:spPr>
        <p:txBody>
          <a:bodyPr wrap="square" lIns="0" tIns="0" rIns="0" bIns="0" anchor="t">
            <a:spAutoFit/>
          </a:bodyPr>
          <a:lstStyle/>
          <a:p>
            <a:pPr algn="l"/>
            <a:r>
              <a:rPr sz="1700" b="1">
                <a:solidFill>
                  <a:srgbClr val="0F2145"/>
                </a:solidFill>
                <a:latin typeface="Georgia"/>
              </a:rPr>
              <a:t>2.3</a:t>
            </a:r>
          </a:p>
        </p:txBody>
      </p:sp>
      <p:sp>
        <p:nvSpPr>
          <p:cNvPr id="15" name="Rectangle 14"/>
          <p:cNvSpPr/>
          <p:nvPr/>
        </p:nvSpPr>
        <p:spPr>
          <a:xfrm>
            <a:off x="7269480" y="1810512"/>
            <a:ext cx="210312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34072" y="1920240"/>
            <a:ext cx="1783080" cy="274320"/>
          </a:xfrm>
          <a:prstGeom prst="rect">
            <a:avLst/>
          </a:prstGeom>
          <a:noFill/>
        </p:spPr>
        <p:txBody>
          <a:bodyPr wrap="square" lIns="0" tIns="0" rIns="0" bIns="0" anchor="t">
            <a:spAutoFit/>
          </a:bodyPr>
          <a:lstStyle/>
          <a:p>
            <a:pPr algn="l"/>
            <a:r>
              <a:rPr sz="900" b="1">
                <a:solidFill>
                  <a:srgbClr val="3A5C9E"/>
                </a:solidFill>
              </a:rPr>
              <a:t>Sales growth</a:t>
            </a:r>
          </a:p>
        </p:txBody>
      </p:sp>
      <p:sp>
        <p:nvSpPr>
          <p:cNvPr id="17" name="TextBox 16"/>
          <p:cNvSpPr txBox="1"/>
          <p:nvPr/>
        </p:nvSpPr>
        <p:spPr>
          <a:xfrm>
            <a:off x="7434072" y="2194560"/>
            <a:ext cx="1783080" cy="347472"/>
          </a:xfrm>
          <a:prstGeom prst="rect">
            <a:avLst/>
          </a:prstGeom>
          <a:noFill/>
        </p:spPr>
        <p:txBody>
          <a:bodyPr wrap="square" lIns="0" tIns="0" rIns="0" bIns="0" anchor="t">
            <a:spAutoFit/>
          </a:bodyPr>
          <a:lstStyle/>
          <a:p>
            <a:pPr algn="l"/>
            <a:r>
              <a:rPr sz="1700" b="1">
                <a:solidFill>
                  <a:srgbClr val="0F2145"/>
                </a:solidFill>
                <a:latin typeface="Georgia"/>
              </a:rPr>
              <a:t>−4%</a:t>
            </a:r>
          </a:p>
        </p:txBody>
      </p:sp>
      <p:sp>
        <p:nvSpPr>
          <p:cNvPr id="18" name="Rectangle 17"/>
          <p:cNvSpPr/>
          <p:nvPr/>
        </p:nvSpPr>
        <p:spPr>
          <a:xfrm>
            <a:off x="9509760" y="1810512"/>
            <a:ext cx="210312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74352" y="1920240"/>
            <a:ext cx="1783080" cy="274320"/>
          </a:xfrm>
          <a:prstGeom prst="rect">
            <a:avLst/>
          </a:prstGeom>
          <a:noFill/>
        </p:spPr>
        <p:txBody>
          <a:bodyPr wrap="square" lIns="0" tIns="0" rIns="0" bIns="0" anchor="t">
            <a:spAutoFit/>
          </a:bodyPr>
          <a:lstStyle/>
          <a:p>
            <a:pPr algn="l"/>
            <a:r>
              <a:rPr sz="900" b="1">
                <a:solidFill>
                  <a:srgbClr val="3A5C9E"/>
                </a:solidFill>
              </a:rPr>
              <a:t>Times paid late</a:t>
            </a:r>
          </a:p>
        </p:txBody>
      </p:sp>
      <p:sp>
        <p:nvSpPr>
          <p:cNvPr id="20" name="TextBox 19"/>
          <p:cNvSpPr txBox="1"/>
          <p:nvPr/>
        </p:nvSpPr>
        <p:spPr>
          <a:xfrm>
            <a:off x="9674352" y="2194560"/>
            <a:ext cx="1783080" cy="347472"/>
          </a:xfrm>
          <a:prstGeom prst="rect">
            <a:avLst/>
          </a:prstGeom>
          <a:noFill/>
        </p:spPr>
        <p:txBody>
          <a:bodyPr wrap="square" lIns="0" tIns="0" rIns="0" bIns="0" anchor="t">
            <a:spAutoFit/>
          </a:bodyPr>
          <a:lstStyle/>
          <a:p>
            <a:pPr algn="l"/>
            <a:r>
              <a:rPr sz="1700" b="1">
                <a:solidFill>
                  <a:srgbClr val="0F2145"/>
                </a:solidFill>
                <a:latin typeface="Georgia"/>
              </a:rPr>
              <a:t>3</a:t>
            </a:r>
          </a:p>
        </p:txBody>
      </p:sp>
      <p:sp>
        <p:nvSpPr>
          <p:cNvPr id="21" name="Rectangle 20"/>
          <p:cNvSpPr/>
          <p:nvPr/>
        </p:nvSpPr>
        <p:spPr>
          <a:xfrm>
            <a:off x="548640" y="2761488"/>
            <a:ext cx="11091672" cy="658368"/>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48640" y="2761488"/>
            <a:ext cx="64008" cy="65836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68680" y="2761488"/>
            <a:ext cx="10515600" cy="658368"/>
          </a:xfrm>
          <a:prstGeom prst="rect">
            <a:avLst/>
          </a:prstGeom>
          <a:noFill/>
        </p:spPr>
        <p:txBody>
          <a:bodyPr wrap="square" lIns="0" tIns="0" rIns="0" bIns="0" anchor="ctr">
            <a:spAutoFit/>
          </a:bodyPr>
          <a:lstStyle/>
          <a:p>
            <a:pPr algn="l"/>
            <a:r>
              <a:rPr sz="1300" b="1">
                <a:solidFill>
                  <a:srgbClr val="FFFFFF"/>
                </a:solidFill>
                <a:latin typeface="Georgia"/>
              </a:rPr>
              <a:t>SCORE  =  −3.2  +  (0.8 × debt to equity)  −  (0.5 × interest cover)  +  (0.4 × times late)</a:t>
            </a:r>
            <a:r>
              <a:rPr sz="1400" b="1">
                <a:solidFill>
                  <a:srgbClr val="C9A227"/>
                </a:solidFill>
                <a:latin typeface="Georgia"/>
              </a:rPr>
              <a:t>→  PD = 4%</a:t>
            </a:r>
          </a:p>
        </p:txBody>
      </p:sp>
      <p:sp>
        <p:nvSpPr>
          <p:cNvPr id="24" name="TextBox 23"/>
          <p:cNvSpPr txBox="1"/>
          <p:nvPr/>
        </p:nvSpPr>
        <p:spPr>
          <a:xfrm>
            <a:off x="548640" y="3602736"/>
            <a:ext cx="5486400" cy="1554480"/>
          </a:xfrm>
          <a:prstGeom prst="rect">
            <a:avLst/>
          </a:prstGeom>
          <a:noFill/>
        </p:spPr>
        <p:txBody>
          <a:bodyPr wrap="square" lIns="0" tIns="0" rIns="0" bIns="0" anchor="t">
            <a:spAutoFit/>
          </a:bodyPr>
          <a:lstStyle/>
          <a:p>
            <a:pPr algn="l"/>
            <a:r>
              <a:rPr sz="1500" b="1">
                <a:solidFill>
                  <a:srgbClr val="0F2145"/>
                </a:solidFill>
                <a:latin typeface="Georgia"/>
              </a:rPr>
              <a:t>Say what just happened</a:t>
            </a:r>
          </a:p>
          <a:p>
            <a:pPr algn="l">
              <a:spcBef>
                <a:spcPts val="600"/>
              </a:spcBef>
            </a:pPr>
            <a:r>
              <a:rPr sz="1100" b="0">
                <a:solidFill>
                  <a:srgbClr val="1B2A41"/>
                </a:solidFill>
              </a:rPr>
              <a:t>Every ratio gets a weight. Multiply each ratio by its weight and add them up. That total is the score. A curve then squeezes the score into a number between 0 and 1, and that number is the probability of default. There is nothing else inside a logistic regression.</a:t>
            </a:r>
          </a:p>
        </p:txBody>
      </p:sp>
      <p:sp>
        <p:nvSpPr>
          <p:cNvPr id="25" name="TextBox 24"/>
          <p:cNvSpPr txBox="1"/>
          <p:nvPr/>
        </p:nvSpPr>
        <p:spPr>
          <a:xfrm>
            <a:off x="6309360" y="3602736"/>
            <a:ext cx="5330952" cy="1554480"/>
          </a:xfrm>
          <a:prstGeom prst="rect">
            <a:avLst/>
          </a:prstGeom>
          <a:noFill/>
        </p:spPr>
        <p:txBody>
          <a:bodyPr wrap="square" lIns="0" tIns="0" rIns="0" bIns="0" anchor="t">
            <a:spAutoFit/>
          </a:bodyPr>
          <a:lstStyle/>
          <a:p>
            <a:pPr algn="l"/>
            <a:r>
              <a:rPr sz="1500" b="1">
                <a:solidFill>
                  <a:srgbClr val="0F2145"/>
                </a:solidFill>
                <a:latin typeface="Georgia"/>
              </a:rPr>
              <a:t>Why banks still start here</a:t>
            </a:r>
          </a:p>
          <a:p>
            <a:pPr algn="l">
              <a:spcBef>
                <a:spcPts val="600"/>
              </a:spcBef>
            </a:pPr>
            <a:r>
              <a:rPr sz="1100" b="0">
                <a:solidFill>
                  <a:srgbClr val="1B2A41"/>
                </a:solidFill>
              </a:rPr>
              <a:t>You can print this model on one line. You can point at the weight that hurt this borrower. A supervisor can recompute it by hand. For a regulated lending decision, that matters more than the last two points of accuracy.</a:t>
            </a:r>
          </a:p>
        </p:txBody>
      </p:sp>
      <p:sp>
        <p:nvSpPr>
          <p:cNvPr id="26" name="Rectangle 25"/>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2960" y="5760720"/>
            <a:ext cx="10543032" cy="603504"/>
          </a:xfrm>
          <a:prstGeom prst="rect">
            <a:avLst/>
          </a:prstGeom>
          <a:noFill/>
        </p:spPr>
        <p:txBody>
          <a:bodyPr wrap="square" lIns="0" tIns="0" rIns="0" bIns="0" anchor="ctr">
            <a:spAutoFit/>
          </a:bodyPr>
          <a:lstStyle/>
          <a:p>
            <a:pPr algn="l"/>
            <a:r>
              <a:rPr sz="1200" b="1">
                <a:solidFill>
                  <a:srgbClr val="C9A227"/>
                </a:solidFill>
              </a:rPr>
              <a:t>Do it live:</a:t>
            </a:r>
            <a:r>
              <a:rPr sz="1200" b="0">
                <a:solidFill>
                  <a:srgbClr val="FFFFFF"/>
                </a:solidFill>
              </a:rPr>
              <a:t>change interest cover from 2.3 to 1.1 in front of the class, recompute the score, and watch the PD move.</a:t>
            </a:r>
          </a:p>
        </p:txBody>
      </p:sp>
      <p:sp>
        <p:nvSpPr>
          <p:cNvPr id="29" name="TextBox 28"/>
          <p:cNvSpPr txBox="1"/>
          <p:nvPr/>
        </p:nvSpPr>
        <p:spPr>
          <a:xfrm>
            <a:off x="548640" y="6473952"/>
            <a:ext cx="7315200" cy="228600"/>
          </a:xfrm>
          <a:prstGeom prst="rect">
            <a:avLst/>
          </a:prstGeom>
          <a:noFill/>
        </p:spPr>
        <p:txBody>
          <a:bodyPr wrap="square" lIns="0" tIns="0" rIns="0" bIns="0" anchor="t">
            <a:spAutoFit/>
          </a:bodyPr>
          <a:lstStyle/>
          <a:p>
            <a:pPr algn="l"/>
            <a:r>
              <a:rPr sz="800" b="0">
                <a:solidFill>
                  <a:srgbClr val="5D6B7E"/>
                </a:solidFill>
              </a:rPr>
              <a:t>AI IN FINANCE · THE COMPLETE CRASH COURSE</a:t>
            </a:r>
          </a:p>
        </p:txBody>
      </p:sp>
      <p:sp>
        <p:nvSpPr>
          <p:cNvPr id="30" name="TextBox 29"/>
          <p:cNvSpPr txBox="1"/>
          <p:nvPr/>
        </p:nvSpPr>
        <p:spPr>
          <a:xfrm>
            <a:off x="9262872" y="6473952"/>
            <a:ext cx="2377440" cy="228600"/>
          </a:xfrm>
          <a:prstGeom prst="rect">
            <a:avLst/>
          </a:prstGeom>
          <a:noFill/>
        </p:spPr>
        <p:txBody>
          <a:bodyPr wrap="square" lIns="0" tIns="0" rIns="0" bIns="0" anchor="t">
            <a:spAutoFit/>
          </a:bodyPr>
          <a:lstStyle/>
          <a:p>
            <a:pPr algn="r"/>
            <a:r>
              <a:rPr sz="800" b="0">
                <a:solidFill>
                  <a:srgbClr val="5D6B7E"/>
                </a:solidFill>
              </a:rPr>
              <a:t>MODULE 5  ·  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86384" y="310896"/>
            <a:ext cx="10817352" cy="274320"/>
          </a:xfrm>
          <a:prstGeom prst="rect">
            <a:avLst/>
          </a:prstGeom>
          <a:noFill/>
        </p:spPr>
        <p:txBody>
          <a:bodyPr wrap="square" lIns="0" tIns="0" rIns="0" bIns="0" anchor="t">
            <a:spAutoFit/>
          </a:bodyPr>
          <a:lstStyle/>
          <a:p>
            <a:pPr algn="l"/>
            <a:r>
              <a:rPr sz="1100" b="1">
                <a:solidFill>
                  <a:srgbClr val="C9A227"/>
                </a:solidFill>
              </a:rPr>
              <a:t>HOUR 1 · THE CHOICE EVERY TEAM ARGUES ABOUT</a:t>
            </a:r>
          </a:p>
        </p:txBody>
      </p:sp>
      <p:sp>
        <p:nvSpPr>
          <p:cNvPr id="4" name="TextBox 3"/>
          <p:cNvSpPr txBox="1"/>
          <p:nvPr/>
        </p:nvSpPr>
        <p:spPr>
          <a:xfrm>
            <a:off x="548640" y="621792"/>
            <a:ext cx="11091672" cy="892552"/>
          </a:xfrm>
          <a:prstGeom prst="rect">
            <a:avLst/>
          </a:prstGeom>
          <a:noFill/>
        </p:spPr>
        <p:txBody>
          <a:bodyPr wrap="square" lIns="0" tIns="0" rIns="0" bIns="0" anchor="t">
            <a:spAutoFit/>
          </a:bodyPr>
          <a:lstStyle/>
          <a:p>
            <a:pPr algn="l"/>
            <a:r>
              <a:rPr sz="2900" b="1" dirty="0">
                <a:solidFill>
                  <a:srgbClr val="0F2145"/>
                </a:solidFill>
                <a:latin typeface="Georgia"/>
              </a:rPr>
              <a:t>The older model, or the one that predicts better?</a:t>
            </a:r>
            <a:endParaRPr lang="en-US" sz="2900" b="1" dirty="0">
              <a:solidFill>
                <a:srgbClr val="0F2145"/>
              </a:solidFill>
              <a:latin typeface="Georgia"/>
            </a:endParaRPr>
          </a:p>
          <a:p>
            <a:pPr algn="l"/>
            <a:r>
              <a:rPr lang="en-IN" sz="2900" b="1" dirty="0">
                <a:solidFill>
                  <a:srgbClr val="0F2145"/>
                </a:solidFill>
                <a:latin typeface="Georgia"/>
              </a:rPr>
              <a:t>Check Live Demo- 3 ways in Live file</a:t>
            </a:r>
          </a:p>
        </p:txBody>
      </p:sp>
      <p:sp>
        <p:nvSpPr>
          <p:cNvPr id="5" name="Rectangle 4"/>
          <p:cNvSpPr/>
          <p:nvPr/>
        </p:nvSpPr>
        <p:spPr>
          <a:xfrm>
            <a:off x="548640" y="1536192"/>
            <a:ext cx="3611880" cy="274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4672" y="1737360"/>
            <a:ext cx="3099816" cy="274320"/>
          </a:xfrm>
          <a:prstGeom prst="rect">
            <a:avLst/>
          </a:prstGeom>
          <a:noFill/>
        </p:spPr>
        <p:txBody>
          <a:bodyPr wrap="square" lIns="0" tIns="0" rIns="0" bIns="0" anchor="t">
            <a:spAutoFit/>
          </a:bodyPr>
          <a:lstStyle/>
          <a:p>
            <a:pPr algn="l"/>
            <a:r>
              <a:rPr sz="950" b="1">
                <a:solidFill>
                  <a:srgbClr val="3A5C9E"/>
                </a:solidFill>
              </a:rPr>
              <a:t>LOGISTIC REGRESSION</a:t>
            </a:r>
          </a:p>
        </p:txBody>
      </p:sp>
      <p:sp>
        <p:nvSpPr>
          <p:cNvPr id="7" name="TextBox 6"/>
          <p:cNvSpPr txBox="1"/>
          <p:nvPr/>
        </p:nvSpPr>
        <p:spPr>
          <a:xfrm>
            <a:off x="804672" y="2048256"/>
            <a:ext cx="3099816" cy="548640"/>
          </a:xfrm>
          <a:prstGeom prst="rect">
            <a:avLst/>
          </a:prstGeom>
          <a:noFill/>
        </p:spPr>
        <p:txBody>
          <a:bodyPr wrap="square" lIns="0" tIns="0" rIns="0" bIns="0" anchor="t">
            <a:spAutoFit/>
          </a:bodyPr>
          <a:lstStyle/>
          <a:p>
            <a:pPr algn="l"/>
            <a:r>
              <a:rPr sz="1500" b="1">
                <a:solidFill>
                  <a:srgbClr val="0F2145"/>
                </a:solidFill>
                <a:latin typeface="Georgia"/>
              </a:rPr>
              <a:t>One weight per ratio, added up.</a:t>
            </a:r>
          </a:p>
        </p:txBody>
      </p:sp>
      <p:sp>
        <p:nvSpPr>
          <p:cNvPr id="8" name="TextBox 7"/>
          <p:cNvSpPr txBox="1"/>
          <p:nvPr/>
        </p:nvSpPr>
        <p:spPr>
          <a:xfrm>
            <a:off x="804672" y="2706624"/>
            <a:ext cx="3099816" cy="676656"/>
          </a:xfrm>
          <a:prstGeom prst="rect">
            <a:avLst/>
          </a:prstGeom>
          <a:noFill/>
        </p:spPr>
        <p:txBody>
          <a:bodyPr wrap="square" lIns="0" tIns="0" rIns="0" bIns="0" anchor="t">
            <a:spAutoFit/>
          </a:bodyPr>
          <a:lstStyle/>
          <a:p>
            <a:pPr algn="l"/>
            <a:r>
              <a:rPr sz="1000" b="1">
                <a:solidFill>
                  <a:srgbClr val="C9A227"/>
                </a:solidFill>
              </a:rPr>
              <a:t>+</a:t>
            </a:r>
            <a:r>
              <a:rPr sz="1000" b="0">
                <a:solidFill>
                  <a:srgbClr val="1B2A41"/>
                </a:solidFill>
              </a:rPr>
              <a:t>You can print it, explain one decline, and defend it line by line.</a:t>
            </a:r>
          </a:p>
        </p:txBody>
      </p:sp>
      <p:sp>
        <p:nvSpPr>
          <p:cNvPr id="9" name="TextBox 8"/>
          <p:cNvSpPr txBox="1"/>
          <p:nvPr/>
        </p:nvSpPr>
        <p:spPr>
          <a:xfrm>
            <a:off x="804672" y="3493008"/>
            <a:ext cx="3099816" cy="676656"/>
          </a:xfrm>
          <a:prstGeom prst="rect">
            <a:avLst/>
          </a:prstGeom>
          <a:noFill/>
        </p:spPr>
        <p:txBody>
          <a:bodyPr wrap="square" lIns="0" tIns="0" rIns="0" bIns="0" anchor="t">
            <a:spAutoFit/>
          </a:bodyPr>
          <a:lstStyle/>
          <a:p>
            <a:pPr algn="l"/>
            <a:r>
              <a:rPr sz="1000" b="1">
                <a:solidFill>
                  <a:srgbClr val="C9A227"/>
                </a:solidFill>
              </a:rPr>
              <a:t>−</a:t>
            </a:r>
            <a:r>
              <a:rPr sz="1000" b="0">
                <a:solidFill>
                  <a:srgbClr val="5D6B7E"/>
                </a:solidFill>
              </a:rPr>
              <a:t>It assumes each ratio pushes in a straight line, which is not always true.</a:t>
            </a:r>
          </a:p>
        </p:txBody>
      </p:sp>
      <p:sp>
        <p:nvSpPr>
          <p:cNvPr id="10" name="Rectangle 9"/>
          <p:cNvSpPr/>
          <p:nvPr/>
        </p:nvSpPr>
        <p:spPr>
          <a:xfrm>
            <a:off x="4315968" y="1536192"/>
            <a:ext cx="3611880" cy="274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0" y="1737360"/>
            <a:ext cx="3099816" cy="274320"/>
          </a:xfrm>
          <a:prstGeom prst="rect">
            <a:avLst/>
          </a:prstGeom>
          <a:noFill/>
        </p:spPr>
        <p:txBody>
          <a:bodyPr wrap="square" lIns="0" tIns="0" rIns="0" bIns="0" anchor="t">
            <a:spAutoFit/>
          </a:bodyPr>
          <a:lstStyle/>
          <a:p>
            <a:pPr algn="l"/>
            <a:r>
              <a:rPr sz="950" b="1">
                <a:solidFill>
                  <a:srgbClr val="3A5C9E"/>
                </a:solidFill>
              </a:rPr>
              <a:t>DECISION TREE</a:t>
            </a:r>
          </a:p>
        </p:txBody>
      </p:sp>
      <p:sp>
        <p:nvSpPr>
          <p:cNvPr id="12" name="TextBox 11"/>
          <p:cNvSpPr txBox="1"/>
          <p:nvPr/>
        </p:nvSpPr>
        <p:spPr>
          <a:xfrm>
            <a:off x="4572000" y="2048256"/>
            <a:ext cx="3099816" cy="548640"/>
          </a:xfrm>
          <a:prstGeom prst="rect">
            <a:avLst/>
          </a:prstGeom>
          <a:noFill/>
        </p:spPr>
        <p:txBody>
          <a:bodyPr wrap="square" lIns="0" tIns="0" rIns="0" bIns="0" anchor="t">
            <a:spAutoFit/>
          </a:bodyPr>
          <a:lstStyle/>
          <a:p>
            <a:pPr algn="l"/>
            <a:r>
              <a:rPr sz="1500" b="1">
                <a:solidFill>
                  <a:srgbClr val="0F2145"/>
                </a:solidFill>
                <a:latin typeface="Georgia"/>
              </a:rPr>
              <a:t>A flowchart of yes and no questions.</a:t>
            </a:r>
          </a:p>
        </p:txBody>
      </p:sp>
      <p:sp>
        <p:nvSpPr>
          <p:cNvPr id="13" name="TextBox 12"/>
          <p:cNvSpPr txBox="1"/>
          <p:nvPr/>
        </p:nvSpPr>
        <p:spPr>
          <a:xfrm>
            <a:off x="4572000" y="2706624"/>
            <a:ext cx="3099816" cy="676656"/>
          </a:xfrm>
          <a:prstGeom prst="rect">
            <a:avLst/>
          </a:prstGeom>
          <a:noFill/>
        </p:spPr>
        <p:txBody>
          <a:bodyPr wrap="square" lIns="0" tIns="0" rIns="0" bIns="0" anchor="t">
            <a:spAutoFit/>
          </a:bodyPr>
          <a:lstStyle/>
          <a:p>
            <a:pPr algn="l"/>
            <a:r>
              <a:rPr sz="1000" b="1">
                <a:solidFill>
                  <a:srgbClr val="C9A227"/>
                </a:solidFill>
              </a:rPr>
              <a:t>+</a:t>
            </a:r>
            <a:r>
              <a:rPr sz="1000" b="0">
                <a:solidFill>
                  <a:srgbClr val="1B2A41"/>
                </a:solidFill>
              </a:rPr>
              <a:t>Anyone can read it. Interest cover below 1.5? Then debt to equity above 3?</a:t>
            </a:r>
          </a:p>
        </p:txBody>
      </p:sp>
      <p:sp>
        <p:nvSpPr>
          <p:cNvPr id="14" name="TextBox 13"/>
          <p:cNvSpPr txBox="1"/>
          <p:nvPr/>
        </p:nvSpPr>
        <p:spPr>
          <a:xfrm>
            <a:off x="4572000" y="3493008"/>
            <a:ext cx="3099816" cy="676656"/>
          </a:xfrm>
          <a:prstGeom prst="rect">
            <a:avLst/>
          </a:prstGeom>
          <a:noFill/>
        </p:spPr>
        <p:txBody>
          <a:bodyPr wrap="square" lIns="0" tIns="0" rIns="0" bIns="0" anchor="t">
            <a:spAutoFit/>
          </a:bodyPr>
          <a:lstStyle/>
          <a:p>
            <a:pPr algn="l"/>
            <a:r>
              <a:rPr sz="1000" b="1">
                <a:solidFill>
                  <a:srgbClr val="C9A227"/>
                </a:solidFill>
              </a:rPr>
              <a:t>−</a:t>
            </a:r>
            <a:r>
              <a:rPr sz="1000" b="0">
                <a:solidFill>
                  <a:srgbClr val="5D6B7E"/>
                </a:solidFill>
              </a:rPr>
              <a:t>Change the data slightly and the tree redraws itself completely.</a:t>
            </a:r>
          </a:p>
        </p:txBody>
      </p:sp>
      <p:sp>
        <p:nvSpPr>
          <p:cNvPr id="15" name="Rectangle 14"/>
          <p:cNvSpPr/>
          <p:nvPr/>
        </p:nvSpPr>
        <p:spPr>
          <a:xfrm>
            <a:off x="8083296" y="1536192"/>
            <a:ext cx="3557016" cy="274320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39327" y="1737360"/>
            <a:ext cx="3044952" cy="274320"/>
          </a:xfrm>
          <a:prstGeom prst="rect">
            <a:avLst/>
          </a:prstGeom>
          <a:noFill/>
        </p:spPr>
        <p:txBody>
          <a:bodyPr wrap="square" lIns="0" tIns="0" rIns="0" bIns="0" anchor="t">
            <a:spAutoFit/>
          </a:bodyPr>
          <a:lstStyle/>
          <a:p>
            <a:pPr algn="l"/>
            <a:r>
              <a:rPr sz="950" b="1">
                <a:solidFill>
                  <a:srgbClr val="C9A227"/>
                </a:solidFill>
              </a:rPr>
              <a:t>XGBOOST</a:t>
            </a:r>
          </a:p>
        </p:txBody>
      </p:sp>
      <p:sp>
        <p:nvSpPr>
          <p:cNvPr id="17" name="TextBox 16"/>
          <p:cNvSpPr txBox="1"/>
          <p:nvPr/>
        </p:nvSpPr>
        <p:spPr>
          <a:xfrm>
            <a:off x="8339327" y="2048256"/>
            <a:ext cx="3044952" cy="548640"/>
          </a:xfrm>
          <a:prstGeom prst="rect">
            <a:avLst/>
          </a:prstGeom>
          <a:noFill/>
        </p:spPr>
        <p:txBody>
          <a:bodyPr wrap="square" lIns="0" tIns="0" rIns="0" bIns="0" anchor="t">
            <a:spAutoFit/>
          </a:bodyPr>
          <a:lstStyle/>
          <a:p>
            <a:pPr algn="l"/>
            <a:r>
              <a:rPr sz="1500" b="1">
                <a:solidFill>
                  <a:srgbClr val="FFFFFF"/>
                </a:solidFill>
                <a:latin typeface="Georgia"/>
              </a:rPr>
              <a:t>Hundreds of small trees, voting.</a:t>
            </a:r>
          </a:p>
        </p:txBody>
      </p:sp>
      <p:sp>
        <p:nvSpPr>
          <p:cNvPr id="18" name="TextBox 17"/>
          <p:cNvSpPr txBox="1"/>
          <p:nvPr/>
        </p:nvSpPr>
        <p:spPr>
          <a:xfrm>
            <a:off x="8339327" y="2706624"/>
            <a:ext cx="3044952" cy="676656"/>
          </a:xfrm>
          <a:prstGeom prst="rect">
            <a:avLst/>
          </a:prstGeom>
          <a:noFill/>
        </p:spPr>
        <p:txBody>
          <a:bodyPr wrap="square" lIns="0" tIns="0" rIns="0" bIns="0" anchor="t">
            <a:spAutoFit/>
          </a:bodyPr>
          <a:lstStyle/>
          <a:p>
            <a:pPr algn="l"/>
            <a:r>
              <a:rPr sz="1000" b="1">
                <a:solidFill>
                  <a:srgbClr val="C9A227"/>
                </a:solidFill>
              </a:rPr>
              <a:t>+</a:t>
            </a:r>
            <a:r>
              <a:rPr sz="1000" b="0">
                <a:solidFill>
                  <a:srgbClr val="C9D6EE"/>
                </a:solidFill>
              </a:rPr>
              <a:t>Each tree fixes the mistakes of the one before it. Usually the most accurate.</a:t>
            </a:r>
          </a:p>
        </p:txBody>
      </p:sp>
      <p:sp>
        <p:nvSpPr>
          <p:cNvPr id="19" name="TextBox 18"/>
          <p:cNvSpPr txBox="1"/>
          <p:nvPr/>
        </p:nvSpPr>
        <p:spPr>
          <a:xfrm>
            <a:off x="8339327" y="3493008"/>
            <a:ext cx="3044952" cy="676656"/>
          </a:xfrm>
          <a:prstGeom prst="rect">
            <a:avLst/>
          </a:prstGeom>
          <a:noFill/>
        </p:spPr>
        <p:txBody>
          <a:bodyPr wrap="square" lIns="0" tIns="0" rIns="0" bIns="0" anchor="t">
            <a:spAutoFit/>
          </a:bodyPr>
          <a:lstStyle/>
          <a:p>
            <a:pPr algn="l"/>
            <a:r>
              <a:rPr sz="1000" b="1">
                <a:solidFill>
                  <a:srgbClr val="C9A227"/>
                </a:solidFill>
              </a:rPr>
              <a:t>−</a:t>
            </a:r>
            <a:r>
              <a:rPr sz="1000" b="0">
                <a:solidFill>
                  <a:srgbClr val="C9D6EE"/>
                </a:solidFill>
              </a:rPr>
              <a:t>There is no single weight to point at, so a decline is hard to explain.</a:t>
            </a:r>
          </a:p>
        </p:txBody>
      </p:sp>
      <p:sp>
        <p:nvSpPr>
          <p:cNvPr id="20" name="Rectangle 19"/>
          <p:cNvSpPr/>
          <p:nvPr/>
        </p:nvSpPr>
        <p:spPr>
          <a:xfrm>
            <a:off x="548640" y="4443984"/>
            <a:ext cx="11091672" cy="100584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48640" y="4443984"/>
            <a:ext cx="64008" cy="100584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8680" y="4572000"/>
            <a:ext cx="10515600" cy="822960"/>
          </a:xfrm>
          <a:prstGeom prst="rect">
            <a:avLst/>
          </a:prstGeom>
          <a:noFill/>
        </p:spPr>
        <p:txBody>
          <a:bodyPr wrap="square" lIns="0" tIns="0" rIns="0" bIns="0" anchor="t">
            <a:spAutoFit/>
          </a:bodyPr>
          <a:lstStyle/>
          <a:p>
            <a:pPr algn="l"/>
            <a:r>
              <a:rPr sz="950" b="1">
                <a:solidFill>
                  <a:srgbClr val="3A5C9E"/>
                </a:solidFill>
              </a:rPr>
              <a:t>WHAT YOU ACTUALLY GAIN AND LOSE</a:t>
            </a:r>
          </a:p>
          <a:p>
            <a:pPr algn="l">
              <a:spcBef>
                <a:spcPts val="400"/>
              </a:spcBef>
            </a:pPr>
            <a:r>
              <a:rPr sz="1100" b="0">
                <a:solidFill>
                  <a:srgbClr val="1B2A41"/>
                </a:solidFill>
              </a:rPr>
              <a:t>On the same data XGBoost usually buys you a few points of accuracy. That is real, and it is smaller than people expect. What it costs you is the sentence you give the customer who was declined. Most banks build both, use the sharper one to challenge the simpler one, and ship the one they can explain.</a:t>
            </a:r>
          </a:p>
        </p:txBody>
      </p:sp>
      <p:sp>
        <p:nvSpPr>
          <p:cNvPr id="23" name="Rectangle 22"/>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60" y="5760720"/>
            <a:ext cx="10543032" cy="603504"/>
          </a:xfrm>
          <a:prstGeom prst="rect">
            <a:avLst/>
          </a:prstGeom>
          <a:noFill/>
        </p:spPr>
        <p:txBody>
          <a:bodyPr wrap="square" lIns="0" tIns="0" rIns="0" bIns="0" anchor="ctr">
            <a:spAutoFit/>
          </a:bodyPr>
          <a:lstStyle/>
          <a:p>
            <a:pPr algn="l"/>
            <a:r>
              <a:rPr sz="1200" b="1">
                <a:solidFill>
                  <a:srgbClr val="C9A227"/>
                </a:solidFill>
              </a:rPr>
              <a:t>The rule of thumb:</a:t>
            </a:r>
            <a:r>
              <a:rPr sz="1200" b="0">
                <a:solidFill>
                  <a:srgbClr val="FFFFFF"/>
                </a:solidFill>
              </a:rPr>
              <a:t>the newer the model, the better it predicts and the harder it is to defend to the person you just declined.</a:t>
            </a:r>
          </a:p>
        </p:txBody>
      </p:sp>
      <p:sp>
        <p:nvSpPr>
          <p:cNvPr id="26" name="TextBox 25"/>
          <p:cNvSpPr txBox="1"/>
          <p:nvPr/>
        </p:nvSpPr>
        <p:spPr>
          <a:xfrm>
            <a:off x="548640" y="6473952"/>
            <a:ext cx="7315200" cy="228600"/>
          </a:xfrm>
          <a:prstGeom prst="rect">
            <a:avLst/>
          </a:prstGeom>
          <a:noFill/>
        </p:spPr>
        <p:txBody>
          <a:bodyPr wrap="square" lIns="0" tIns="0" rIns="0" bIns="0" anchor="t">
            <a:spAutoFit/>
          </a:bodyPr>
          <a:lstStyle/>
          <a:p>
            <a:pPr algn="l"/>
            <a:r>
              <a:rPr sz="800" b="0">
                <a:solidFill>
                  <a:srgbClr val="5D6B7E"/>
                </a:solidFill>
              </a:rPr>
              <a:t>AI IN FINANCE · THE COMPLETE CRASH COURSE</a:t>
            </a:r>
          </a:p>
        </p:txBody>
      </p:sp>
      <p:sp>
        <p:nvSpPr>
          <p:cNvPr id="27" name="TextBox 26"/>
          <p:cNvSpPr txBox="1"/>
          <p:nvPr/>
        </p:nvSpPr>
        <p:spPr>
          <a:xfrm>
            <a:off x="9262872" y="6473952"/>
            <a:ext cx="2377440" cy="228600"/>
          </a:xfrm>
          <a:prstGeom prst="rect">
            <a:avLst/>
          </a:prstGeom>
          <a:noFill/>
        </p:spPr>
        <p:txBody>
          <a:bodyPr wrap="square" lIns="0" tIns="0" rIns="0" bIns="0" anchor="t">
            <a:spAutoFit/>
          </a:bodyPr>
          <a:lstStyle/>
          <a:p>
            <a:pPr algn="r"/>
            <a:r>
              <a:rPr sz="800" b="0">
                <a:solidFill>
                  <a:srgbClr val="5D6B7E"/>
                </a:solidFill>
              </a:rPr>
              <a:t>MODULE 5  ·  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graph&#10;&#10;Description automatically generated">
            <a:extLst>
              <a:ext uri="{FF2B5EF4-FFF2-40B4-BE49-F238E27FC236}">
                <a16:creationId xmlns:a16="http://schemas.microsoft.com/office/drawing/2014/main" id="{9824EA86-7FD7-0F77-DC99-AB8985E0AB66}"/>
              </a:ext>
            </a:extLst>
          </p:cNvPr>
          <p:cNvPicPr>
            <a:picLocks noChangeAspect="1"/>
          </p:cNvPicPr>
          <p:nvPr/>
        </p:nvPicPr>
        <p:blipFill>
          <a:blip r:embed="rId2"/>
          <a:stretch>
            <a:fillRect/>
          </a:stretch>
        </p:blipFill>
        <p:spPr>
          <a:xfrm>
            <a:off x="528638" y="177799"/>
            <a:ext cx="10929937" cy="6680201"/>
          </a:xfrm>
          <a:prstGeom prst="rect">
            <a:avLst/>
          </a:prstGeom>
        </p:spPr>
      </p:pic>
    </p:spTree>
    <p:extLst>
      <p:ext uri="{BB962C8B-B14F-4D97-AF65-F5344CB8AC3E}">
        <p14:creationId xmlns:p14="http://schemas.microsoft.com/office/powerpoint/2010/main" val="2088261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86384" y="310896"/>
            <a:ext cx="10817352" cy="274320"/>
          </a:xfrm>
          <a:prstGeom prst="rect">
            <a:avLst/>
          </a:prstGeom>
          <a:noFill/>
        </p:spPr>
        <p:txBody>
          <a:bodyPr wrap="square" lIns="0" tIns="0" rIns="0" bIns="0" anchor="t">
            <a:spAutoFit/>
          </a:bodyPr>
          <a:lstStyle/>
          <a:p>
            <a:pPr algn="l"/>
            <a:r>
              <a:rPr sz="1100" b="1">
                <a:solidFill>
                  <a:srgbClr val="C9A227"/>
                </a:solidFill>
              </a:rPr>
              <a:t>HOUR 2 · MARKET RISK</a:t>
            </a:r>
          </a:p>
        </p:txBody>
      </p:sp>
      <p:sp>
        <p:nvSpPr>
          <p:cNvPr id="4" name="TextBox 3"/>
          <p:cNvSpPr txBox="1"/>
          <p:nvPr/>
        </p:nvSpPr>
        <p:spPr>
          <a:xfrm>
            <a:off x="548640" y="621792"/>
            <a:ext cx="11091672" cy="731520"/>
          </a:xfrm>
          <a:prstGeom prst="rect">
            <a:avLst/>
          </a:prstGeom>
          <a:noFill/>
        </p:spPr>
        <p:txBody>
          <a:bodyPr wrap="square" lIns="0" tIns="0" rIns="0" bIns="0" anchor="t">
            <a:spAutoFit/>
          </a:bodyPr>
          <a:lstStyle/>
          <a:p>
            <a:pPr algn="l"/>
            <a:r>
              <a:rPr sz="2900" b="1">
                <a:solidFill>
                  <a:srgbClr val="0F2145"/>
                </a:solidFill>
                <a:latin typeface="Georgia"/>
              </a:rPr>
              <a:t>VaR is one sentence. The rest is how you compute it.</a:t>
            </a:r>
          </a:p>
        </p:txBody>
      </p:sp>
      <p:sp>
        <p:nvSpPr>
          <p:cNvPr id="5" name="Rectangle 4"/>
          <p:cNvSpPr/>
          <p:nvPr/>
        </p:nvSpPr>
        <p:spPr>
          <a:xfrm>
            <a:off x="548640" y="1463040"/>
            <a:ext cx="11091672" cy="69494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463040"/>
            <a:ext cx="64008" cy="69494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463040"/>
            <a:ext cx="10515600" cy="694944"/>
          </a:xfrm>
          <a:prstGeom prst="rect">
            <a:avLst/>
          </a:prstGeom>
          <a:noFill/>
        </p:spPr>
        <p:txBody>
          <a:bodyPr wrap="square" lIns="0" tIns="0" rIns="0" bIns="0" anchor="ctr">
            <a:spAutoFit/>
          </a:bodyPr>
          <a:lstStyle/>
          <a:p>
            <a:pPr algn="l"/>
            <a:r>
              <a:rPr sz="1200" b="1">
                <a:solidFill>
                  <a:srgbClr val="C9A227"/>
                </a:solidFill>
              </a:rPr>
              <a:t>A 99% one-day VaR of ₹6,60,000 means this:</a:t>
            </a:r>
            <a:r>
              <a:rPr sz="1200" b="0">
                <a:solidFill>
                  <a:srgbClr val="FFFFFF"/>
                </a:solidFill>
              </a:rPr>
              <a:t>on 99 days out of 100, we should lose less than ₹6,60,000. It says nothing about the hundredth day.</a:t>
            </a:r>
          </a:p>
        </p:txBody>
      </p:sp>
      <p:sp>
        <p:nvSpPr>
          <p:cNvPr id="8" name="Rectangle 7"/>
          <p:cNvSpPr/>
          <p:nvPr/>
        </p:nvSpPr>
        <p:spPr>
          <a:xfrm>
            <a:off x="548640" y="2340864"/>
            <a:ext cx="3611880" cy="22128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 y="2542032"/>
            <a:ext cx="3108960" cy="274320"/>
          </a:xfrm>
          <a:prstGeom prst="rect">
            <a:avLst/>
          </a:prstGeom>
          <a:noFill/>
        </p:spPr>
        <p:txBody>
          <a:bodyPr wrap="square" lIns="0" tIns="0" rIns="0" bIns="0" anchor="t">
            <a:spAutoFit/>
          </a:bodyPr>
          <a:lstStyle/>
          <a:p>
            <a:pPr algn="l"/>
            <a:r>
              <a:rPr sz="1000" b="1">
                <a:solidFill>
                  <a:srgbClr val="3A5C9E"/>
                </a:solidFill>
              </a:rPr>
              <a:t>HISTORICAL SIMULATION</a:t>
            </a:r>
          </a:p>
        </p:txBody>
      </p:sp>
      <p:sp>
        <p:nvSpPr>
          <p:cNvPr id="10" name="TextBox 9"/>
          <p:cNvSpPr txBox="1"/>
          <p:nvPr/>
        </p:nvSpPr>
        <p:spPr>
          <a:xfrm>
            <a:off x="804672" y="2871216"/>
            <a:ext cx="3108960" cy="566928"/>
          </a:xfrm>
          <a:prstGeom prst="rect">
            <a:avLst/>
          </a:prstGeom>
          <a:noFill/>
        </p:spPr>
        <p:txBody>
          <a:bodyPr wrap="square" lIns="0" tIns="0" rIns="0" bIns="0" anchor="t">
            <a:spAutoFit/>
          </a:bodyPr>
          <a:lstStyle/>
          <a:p>
            <a:pPr algn="l"/>
            <a:r>
              <a:rPr sz="1100" b="1">
                <a:solidFill>
                  <a:srgbClr val="0F2145"/>
                </a:solidFill>
              </a:rPr>
              <a:t>Replay the last 500 days that actually happened.</a:t>
            </a:r>
          </a:p>
        </p:txBody>
      </p:sp>
      <p:sp>
        <p:nvSpPr>
          <p:cNvPr id="11" name="TextBox 10"/>
          <p:cNvSpPr txBox="1"/>
          <p:nvPr/>
        </p:nvSpPr>
        <p:spPr>
          <a:xfrm>
            <a:off x="804672" y="3529584"/>
            <a:ext cx="3108960" cy="457200"/>
          </a:xfrm>
          <a:prstGeom prst="rect">
            <a:avLst/>
          </a:prstGeom>
          <a:noFill/>
        </p:spPr>
        <p:txBody>
          <a:bodyPr wrap="square" lIns="0" tIns="0" rIns="0" bIns="0" anchor="t">
            <a:spAutoFit/>
          </a:bodyPr>
          <a:lstStyle/>
          <a:p>
            <a:pPr algn="l"/>
            <a:r>
              <a:rPr sz="1000" b="1">
                <a:solidFill>
                  <a:srgbClr val="C9A227"/>
                </a:solidFill>
              </a:rPr>
              <a:t>+</a:t>
            </a:r>
            <a:r>
              <a:rPr sz="1000" b="0">
                <a:solidFill>
                  <a:srgbClr val="1B2A41"/>
                </a:solidFill>
              </a:rPr>
              <a:t>Assumes nothing about the shape of returns.</a:t>
            </a:r>
          </a:p>
        </p:txBody>
      </p:sp>
      <p:sp>
        <p:nvSpPr>
          <p:cNvPr id="12" name="TextBox 11"/>
          <p:cNvSpPr txBox="1"/>
          <p:nvPr/>
        </p:nvSpPr>
        <p:spPr>
          <a:xfrm>
            <a:off x="804672" y="4023360"/>
            <a:ext cx="3108960" cy="457200"/>
          </a:xfrm>
          <a:prstGeom prst="rect">
            <a:avLst/>
          </a:prstGeom>
          <a:noFill/>
        </p:spPr>
        <p:txBody>
          <a:bodyPr wrap="square" lIns="0" tIns="0" rIns="0" bIns="0" anchor="t">
            <a:spAutoFit/>
          </a:bodyPr>
          <a:lstStyle/>
          <a:p>
            <a:pPr algn="l"/>
            <a:r>
              <a:rPr sz="1000" b="1">
                <a:solidFill>
                  <a:srgbClr val="C9A227"/>
                </a:solidFill>
              </a:rPr>
              <a:t>−</a:t>
            </a:r>
            <a:r>
              <a:rPr sz="1000" b="0">
                <a:solidFill>
                  <a:srgbClr val="5D6B7E"/>
                </a:solidFill>
              </a:rPr>
              <a:t>You only ever see what already occurred.</a:t>
            </a:r>
          </a:p>
        </p:txBody>
      </p:sp>
      <p:sp>
        <p:nvSpPr>
          <p:cNvPr id="13" name="Rectangle 12"/>
          <p:cNvSpPr/>
          <p:nvPr/>
        </p:nvSpPr>
        <p:spPr>
          <a:xfrm>
            <a:off x="4315968" y="2340864"/>
            <a:ext cx="3611880" cy="22128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0" y="2542032"/>
            <a:ext cx="3108960" cy="274320"/>
          </a:xfrm>
          <a:prstGeom prst="rect">
            <a:avLst/>
          </a:prstGeom>
          <a:noFill/>
        </p:spPr>
        <p:txBody>
          <a:bodyPr wrap="square" lIns="0" tIns="0" rIns="0" bIns="0" anchor="t">
            <a:spAutoFit/>
          </a:bodyPr>
          <a:lstStyle/>
          <a:p>
            <a:pPr algn="l"/>
            <a:r>
              <a:rPr sz="1000" b="1">
                <a:solidFill>
                  <a:srgbClr val="3A5C9E"/>
                </a:solidFill>
              </a:rPr>
              <a:t>PARAMETRIC</a:t>
            </a:r>
          </a:p>
        </p:txBody>
      </p:sp>
      <p:sp>
        <p:nvSpPr>
          <p:cNvPr id="15" name="TextBox 14"/>
          <p:cNvSpPr txBox="1"/>
          <p:nvPr/>
        </p:nvSpPr>
        <p:spPr>
          <a:xfrm>
            <a:off x="4572000" y="2871216"/>
            <a:ext cx="3108960" cy="566928"/>
          </a:xfrm>
          <a:prstGeom prst="rect">
            <a:avLst/>
          </a:prstGeom>
          <a:noFill/>
        </p:spPr>
        <p:txBody>
          <a:bodyPr wrap="square" lIns="0" tIns="0" rIns="0" bIns="0" anchor="t">
            <a:spAutoFit/>
          </a:bodyPr>
          <a:lstStyle/>
          <a:p>
            <a:pPr algn="l"/>
            <a:r>
              <a:rPr sz="1100" b="1">
                <a:solidFill>
                  <a:srgbClr val="0F2145"/>
                </a:solidFill>
              </a:rPr>
              <a:t>Assume a normal curve and use one volatility number.</a:t>
            </a:r>
          </a:p>
        </p:txBody>
      </p:sp>
      <p:sp>
        <p:nvSpPr>
          <p:cNvPr id="16" name="TextBox 15"/>
          <p:cNvSpPr txBox="1"/>
          <p:nvPr/>
        </p:nvSpPr>
        <p:spPr>
          <a:xfrm>
            <a:off x="4572000" y="3529584"/>
            <a:ext cx="3108960" cy="457200"/>
          </a:xfrm>
          <a:prstGeom prst="rect">
            <a:avLst/>
          </a:prstGeom>
          <a:noFill/>
        </p:spPr>
        <p:txBody>
          <a:bodyPr wrap="square" lIns="0" tIns="0" rIns="0" bIns="0" anchor="t">
            <a:spAutoFit/>
          </a:bodyPr>
          <a:lstStyle/>
          <a:p>
            <a:pPr algn="l"/>
            <a:r>
              <a:rPr sz="1000" b="1">
                <a:solidFill>
                  <a:srgbClr val="C9A227"/>
                </a:solidFill>
              </a:rPr>
              <a:t>+</a:t>
            </a:r>
            <a:r>
              <a:rPr sz="1000" b="0">
                <a:solidFill>
                  <a:srgbClr val="1B2A41"/>
                </a:solidFill>
              </a:rPr>
              <a:t>Fast, and you can do it in a spreadsheet.</a:t>
            </a:r>
          </a:p>
        </p:txBody>
      </p:sp>
      <p:sp>
        <p:nvSpPr>
          <p:cNvPr id="17" name="TextBox 16"/>
          <p:cNvSpPr txBox="1"/>
          <p:nvPr/>
        </p:nvSpPr>
        <p:spPr>
          <a:xfrm>
            <a:off x="4572000" y="4023360"/>
            <a:ext cx="3108960" cy="457200"/>
          </a:xfrm>
          <a:prstGeom prst="rect">
            <a:avLst/>
          </a:prstGeom>
          <a:noFill/>
        </p:spPr>
        <p:txBody>
          <a:bodyPr wrap="square" lIns="0" tIns="0" rIns="0" bIns="0" anchor="t">
            <a:spAutoFit/>
          </a:bodyPr>
          <a:lstStyle/>
          <a:p>
            <a:pPr algn="l"/>
            <a:r>
              <a:rPr sz="1000" b="1">
                <a:solidFill>
                  <a:srgbClr val="C9A227"/>
                </a:solidFill>
              </a:rPr>
              <a:t>−</a:t>
            </a:r>
            <a:r>
              <a:rPr sz="1000" b="0">
                <a:solidFill>
                  <a:srgbClr val="5D6B7E"/>
                </a:solidFill>
              </a:rPr>
              <a:t>Real markets have fatter tails than normal.</a:t>
            </a:r>
          </a:p>
        </p:txBody>
      </p:sp>
      <p:sp>
        <p:nvSpPr>
          <p:cNvPr id="18" name="Rectangle 17"/>
          <p:cNvSpPr/>
          <p:nvPr/>
        </p:nvSpPr>
        <p:spPr>
          <a:xfrm>
            <a:off x="8083296" y="2340864"/>
            <a:ext cx="3611880" cy="2212848"/>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39327" y="2542032"/>
            <a:ext cx="3108960" cy="274320"/>
          </a:xfrm>
          <a:prstGeom prst="rect">
            <a:avLst/>
          </a:prstGeom>
          <a:noFill/>
        </p:spPr>
        <p:txBody>
          <a:bodyPr wrap="square" lIns="0" tIns="0" rIns="0" bIns="0" anchor="t">
            <a:spAutoFit/>
          </a:bodyPr>
          <a:lstStyle/>
          <a:p>
            <a:pPr algn="l"/>
            <a:r>
              <a:rPr sz="1000" b="1">
                <a:solidFill>
                  <a:srgbClr val="C9A227"/>
                </a:solidFill>
              </a:rPr>
              <a:t>MONTE CARLO</a:t>
            </a:r>
          </a:p>
        </p:txBody>
      </p:sp>
      <p:sp>
        <p:nvSpPr>
          <p:cNvPr id="20" name="TextBox 19"/>
          <p:cNvSpPr txBox="1"/>
          <p:nvPr/>
        </p:nvSpPr>
        <p:spPr>
          <a:xfrm>
            <a:off x="8339327" y="2871216"/>
            <a:ext cx="3108960" cy="566928"/>
          </a:xfrm>
          <a:prstGeom prst="rect">
            <a:avLst/>
          </a:prstGeom>
          <a:noFill/>
        </p:spPr>
        <p:txBody>
          <a:bodyPr wrap="square" lIns="0" tIns="0" rIns="0" bIns="0" anchor="t">
            <a:spAutoFit/>
          </a:bodyPr>
          <a:lstStyle/>
          <a:p>
            <a:pPr algn="l"/>
            <a:r>
              <a:rPr sz="1100" b="1">
                <a:solidFill>
                  <a:srgbClr val="FFFFFF"/>
                </a:solidFill>
              </a:rPr>
              <a:t>Invent 10,000 tomorrows from volatility and correlation.</a:t>
            </a:r>
          </a:p>
        </p:txBody>
      </p:sp>
      <p:sp>
        <p:nvSpPr>
          <p:cNvPr id="21" name="TextBox 20"/>
          <p:cNvSpPr txBox="1"/>
          <p:nvPr/>
        </p:nvSpPr>
        <p:spPr>
          <a:xfrm>
            <a:off x="8339327" y="3529584"/>
            <a:ext cx="3108960" cy="457200"/>
          </a:xfrm>
          <a:prstGeom prst="rect">
            <a:avLst/>
          </a:prstGeom>
          <a:noFill/>
        </p:spPr>
        <p:txBody>
          <a:bodyPr wrap="square" lIns="0" tIns="0" rIns="0" bIns="0" anchor="t">
            <a:spAutoFit/>
          </a:bodyPr>
          <a:lstStyle/>
          <a:p>
            <a:pPr algn="l"/>
            <a:r>
              <a:rPr sz="1000" b="1">
                <a:solidFill>
                  <a:srgbClr val="C9A227"/>
                </a:solidFill>
              </a:rPr>
              <a:t>+</a:t>
            </a:r>
            <a:r>
              <a:rPr sz="1000" b="0">
                <a:solidFill>
                  <a:srgbClr val="C9D6EE"/>
                </a:solidFill>
              </a:rPr>
              <a:t>Handles many assets and odd payoffs.</a:t>
            </a:r>
          </a:p>
        </p:txBody>
      </p:sp>
      <p:sp>
        <p:nvSpPr>
          <p:cNvPr id="22" name="TextBox 21"/>
          <p:cNvSpPr txBox="1"/>
          <p:nvPr/>
        </p:nvSpPr>
        <p:spPr>
          <a:xfrm>
            <a:off x="8339327" y="4023360"/>
            <a:ext cx="3108960" cy="457200"/>
          </a:xfrm>
          <a:prstGeom prst="rect">
            <a:avLst/>
          </a:prstGeom>
          <a:noFill/>
        </p:spPr>
        <p:txBody>
          <a:bodyPr wrap="square" lIns="0" tIns="0" rIns="0" bIns="0" anchor="t">
            <a:spAutoFit/>
          </a:bodyPr>
          <a:lstStyle/>
          <a:p>
            <a:pPr algn="l"/>
            <a:r>
              <a:rPr sz="1000" b="1">
                <a:solidFill>
                  <a:srgbClr val="C9A227"/>
                </a:solidFill>
              </a:rPr>
              <a:t>−</a:t>
            </a:r>
            <a:r>
              <a:rPr sz="1000" b="0">
                <a:solidFill>
                  <a:srgbClr val="C9D6EE"/>
                </a:solidFill>
              </a:rPr>
              <a:t>Only as good as the assumptions you fed it.</a:t>
            </a:r>
          </a:p>
        </p:txBody>
      </p:sp>
      <p:sp>
        <p:nvSpPr>
          <p:cNvPr id="23" name="TextBox 22"/>
          <p:cNvSpPr txBox="1"/>
          <p:nvPr/>
        </p:nvSpPr>
        <p:spPr>
          <a:xfrm>
            <a:off x="548640" y="4718304"/>
            <a:ext cx="5486400" cy="1005840"/>
          </a:xfrm>
          <a:prstGeom prst="rect">
            <a:avLst/>
          </a:prstGeom>
          <a:noFill/>
        </p:spPr>
        <p:txBody>
          <a:bodyPr wrap="square" lIns="0" tIns="0" rIns="0" bIns="0" anchor="t">
            <a:spAutoFit/>
          </a:bodyPr>
          <a:lstStyle/>
          <a:p>
            <a:pPr algn="l"/>
            <a:r>
              <a:rPr sz="1500" b="1">
                <a:solidFill>
                  <a:srgbClr val="0F2145"/>
                </a:solidFill>
                <a:latin typeface="Georgia"/>
              </a:rPr>
              <a:t>CVaR, the question VaR ducks</a:t>
            </a:r>
          </a:p>
          <a:p>
            <a:pPr algn="l">
              <a:spcBef>
                <a:spcPts val="600"/>
              </a:spcBef>
            </a:pPr>
            <a:r>
              <a:rPr sz="1100" b="0">
                <a:solidFill>
                  <a:srgbClr val="1B2A41"/>
                </a:solidFill>
              </a:rPr>
              <a:t>VaR tells you the edge of the bad 1%. CVaR tells you the average loss once you are inside it. VaR says ₹6.6 lakh; CVaR might say ₹9.4 lakh.</a:t>
            </a:r>
          </a:p>
        </p:txBody>
      </p:sp>
      <p:sp>
        <p:nvSpPr>
          <p:cNvPr id="24" name="TextBox 23"/>
          <p:cNvSpPr txBox="1"/>
          <p:nvPr/>
        </p:nvSpPr>
        <p:spPr>
          <a:xfrm>
            <a:off x="6309360" y="4718304"/>
            <a:ext cx="5330952" cy="1005840"/>
          </a:xfrm>
          <a:prstGeom prst="rect">
            <a:avLst/>
          </a:prstGeom>
          <a:noFill/>
        </p:spPr>
        <p:txBody>
          <a:bodyPr wrap="square" lIns="0" tIns="0" rIns="0" bIns="0" anchor="t">
            <a:spAutoFit/>
          </a:bodyPr>
          <a:lstStyle/>
          <a:p>
            <a:pPr algn="l"/>
            <a:r>
              <a:rPr sz="1500" b="1">
                <a:solidFill>
                  <a:srgbClr val="0F2145"/>
                </a:solidFill>
                <a:latin typeface="Georgia"/>
              </a:rPr>
              <a:t>Basel III asks for both levels</a:t>
            </a:r>
          </a:p>
          <a:p>
            <a:pPr algn="l">
              <a:spcBef>
                <a:spcPts val="600"/>
              </a:spcBef>
            </a:pPr>
            <a:r>
              <a:rPr sz="1100" b="0">
                <a:solidFill>
                  <a:srgbClr val="1B2A41"/>
                </a:solidFill>
              </a:rPr>
              <a:t>95% and 99% are the thresholds you report. Run all three methods on the same portfolio and you get three different answers. That gap is the lesson.</a:t>
            </a:r>
          </a:p>
        </p:txBody>
      </p:sp>
      <p:sp>
        <p:nvSpPr>
          <p:cNvPr id="25" name="TextBox 24"/>
          <p:cNvSpPr txBox="1"/>
          <p:nvPr/>
        </p:nvSpPr>
        <p:spPr>
          <a:xfrm>
            <a:off x="548640" y="6473952"/>
            <a:ext cx="7315200" cy="228600"/>
          </a:xfrm>
          <a:prstGeom prst="rect">
            <a:avLst/>
          </a:prstGeom>
          <a:noFill/>
        </p:spPr>
        <p:txBody>
          <a:bodyPr wrap="square" lIns="0" tIns="0" rIns="0" bIns="0" anchor="t">
            <a:spAutoFit/>
          </a:bodyPr>
          <a:lstStyle/>
          <a:p>
            <a:pPr algn="l"/>
            <a:r>
              <a:rPr sz="800" b="0">
                <a:solidFill>
                  <a:srgbClr val="5D6B7E"/>
                </a:solidFill>
              </a:rPr>
              <a:t>AI IN FINANCE · THE COMPLETE CRASH COURSE</a:t>
            </a:r>
          </a:p>
        </p:txBody>
      </p:sp>
      <p:sp>
        <p:nvSpPr>
          <p:cNvPr id="26" name="TextBox 25"/>
          <p:cNvSpPr txBox="1"/>
          <p:nvPr/>
        </p:nvSpPr>
        <p:spPr>
          <a:xfrm>
            <a:off x="9262872" y="6473952"/>
            <a:ext cx="2377440" cy="228600"/>
          </a:xfrm>
          <a:prstGeom prst="rect">
            <a:avLst/>
          </a:prstGeom>
          <a:noFill/>
        </p:spPr>
        <p:txBody>
          <a:bodyPr wrap="square" lIns="0" tIns="0" rIns="0" bIns="0" anchor="t">
            <a:spAutoFit/>
          </a:bodyPr>
          <a:lstStyle/>
          <a:p>
            <a:pPr algn="r"/>
            <a:r>
              <a:rPr sz="800" b="0">
                <a:solidFill>
                  <a:srgbClr val="5D6B7E"/>
                </a:solidFill>
              </a:rPr>
              <a:t>MODULE 5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86384" y="310896"/>
            <a:ext cx="10817352" cy="274320"/>
          </a:xfrm>
          <a:prstGeom prst="rect">
            <a:avLst/>
          </a:prstGeom>
          <a:noFill/>
        </p:spPr>
        <p:txBody>
          <a:bodyPr wrap="square" lIns="0" tIns="0" rIns="0" bIns="0" anchor="t">
            <a:spAutoFit/>
          </a:bodyPr>
          <a:lstStyle/>
          <a:p>
            <a:pPr algn="l"/>
            <a:r>
              <a:rPr sz="1100" b="1">
                <a:solidFill>
                  <a:srgbClr val="C9A227"/>
                </a:solidFill>
              </a:rPr>
              <a:t>HOUR 3 · THE LAB</a:t>
            </a:r>
          </a:p>
        </p:txBody>
      </p:sp>
      <p:sp>
        <p:nvSpPr>
          <p:cNvPr id="4" name="TextBox 3"/>
          <p:cNvSpPr txBox="1"/>
          <p:nvPr/>
        </p:nvSpPr>
        <p:spPr>
          <a:xfrm>
            <a:off x="548640" y="621792"/>
            <a:ext cx="11091672" cy="731520"/>
          </a:xfrm>
          <a:prstGeom prst="rect">
            <a:avLst/>
          </a:prstGeom>
          <a:noFill/>
        </p:spPr>
        <p:txBody>
          <a:bodyPr wrap="square" lIns="0" tIns="0" rIns="0" bIns="0" anchor="t">
            <a:spAutoFit/>
          </a:bodyPr>
          <a:lstStyle/>
          <a:p>
            <a:pPr algn="l"/>
            <a:r>
              <a:rPr sz="2900" b="1">
                <a:solidFill>
                  <a:srgbClr val="0F2145"/>
                </a:solidFill>
                <a:latin typeface="Georgia"/>
              </a:rPr>
              <a:t>Build it, compare it, then test it</a:t>
            </a:r>
          </a:p>
        </p:txBody>
      </p:sp>
      <p:sp>
        <p:nvSpPr>
          <p:cNvPr id="5" name="Rectangle 4"/>
          <p:cNvSpPr/>
          <p:nvPr/>
        </p:nvSpPr>
        <p:spPr>
          <a:xfrm>
            <a:off x="548640" y="1444752"/>
            <a:ext cx="11091672" cy="621792"/>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444752"/>
            <a:ext cx="64008" cy="62179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444752"/>
            <a:ext cx="10515600" cy="621792"/>
          </a:xfrm>
          <a:prstGeom prst="rect">
            <a:avLst/>
          </a:prstGeom>
          <a:noFill/>
        </p:spPr>
        <p:txBody>
          <a:bodyPr wrap="square" lIns="0" tIns="0" rIns="0" bIns="0" anchor="ctr">
            <a:spAutoFit/>
          </a:bodyPr>
          <a:lstStyle/>
          <a:p>
            <a:pPr algn="l"/>
            <a:r>
              <a:rPr sz="850" b="1">
                <a:solidFill>
                  <a:srgbClr val="C9A227"/>
                </a:solidFill>
              </a:rPr>
              <a:t>THE SENTENCE WE TYPE</a:t>
            </a:r>
          </a:p>
          <a:p>
            <a:pPr algn="l">
              <a:spcBef>
                <a:spcPts val="200"/>
              </a:spcBef>
            </a:pPr>
            <a:r>
              <a:rPr sz="1300" b="1">
                <a:solidFill>
                  <a:srgbClr val="FFFFFF"/>
                </a:solidFill>
                <a:latin typeface="Georgia"/>
              </a:rPr>
              <a:t>“Build a Monte Carlo VaR engine for five NSE stocks, run 10,000 paths, and give me 95% and 99% VaR and CVaR.”</a:t>
            </a:r>
          </a:p>
        </p:txBody>
      </p:sp>
      <p:sp>
        <p:nvSpPr>
          <p:cNvPr id="8" name="Rectangle 7"/>
          <p:cNvSpPr/>
          <p:nvPr/>
        </p:nvSpPr>
        <p:spPr>
          <a:xfrm>
            <a:off x="548640" y="2212848"/>
            <a:ext cx="3611880" cy="30540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 y="2414016"/>
            <a:ext cx="3099816" cy="274320"/>
          </a:xfrm>
          <a:prstGeom prst="rect">
            <a:avLst/>
          </a:prstGeom>
          <a:noFill/>
        </p:spPr>
        <p:txBody>
          <a:bodyPr wrap="square" lIns="0" tIns="0" rIns="0" bIns="0" anchor="t">
            <a:spAutoFit/>
          </a:bodyPr>
          <a:lstStyle/>
          <a:p>
            <a:pPr algn="l"/>
            <a:r>
              <a:rPr sz="950" b="1">
                <a:solidFill>
                  <a:srgbClr val="3A5C9E"/>
                </a:solidFill>
              </a:rPr>
              <a:t>PART A  ·  35 MIN</a:t>
            </a:r>
          </a:p>
        </p:txBody>
      </p:sp>
      <p:sp>
        <p:nvSpPr>
          <p:cNvPr id="10" name="TextBox 9"/>
          <p:cNvSpPr txBox="1"/>
          <p:nvPr/>
        </p:nvSpPr>
        <p:spPr>
          <a:xfrm>
            <a:off x="804672" y="2724912"/>
            <a:ext cx="3099816" cy="402336"/>
          </a:xfrm>
          <a:prstGeom prst="rect">
            <a:avLst/>
          </a:prstGeom>
          <a:noFill/>
        </p:spPr>
        <p:txBody>
          <a:bodyPr wrap="square" lIns="0" tIns="0" rIns="0" bIns="0" anchor="t">
            <a:spAutoFit/>
          </a:bodyPr>
          <a:lstStyle/>
          <a:p>
            <a:pPr algn="l"/>
            <a:r>
              <a:rPr sz="1700" b="1">
                <a:solidFill>
                  <a:srgbClr val="0F2145"/>
                </a:solidFill>
                <a:latin typeface="Georgia"/>
              </a:rPr>
              <a:t>Build it</a:t>
            </a:r>
          </a:p>
        </p:txBody>
      </p:sp>
      <p:sp>
        <p:nvSpPr>
          <p:cNvPr id="11" name="TextBox 10"/>
          <p:cNvSpPr txBox="1"/>
          <p:nvPr/>
        </p:nvSpPr>
        <p:spPr>
          <a:xfrm>
            <a:off x="804672" y="3255264"/>
            <a:ext cx="3099816" cy="493776"/>
          </a:xfrm>
          <a:prstGeom prst="rect">
            <a:avLst/>
          </a:prstGeom>
          <a:noFill/>
        </p:spPr>
        <p:txBody>
          <a:bodyPr wrap="square" lIns="0" tIns="0" rIns="0" bIns="0" anchor="t">
            <a:spAutoFit/>
          </a:bodyPr>
          <a:lstStyle/>
          <a:p>
            <a:pPr algn="l"/>
            <a:r>
              <a:rPr sz="1000" b="1">
                <a:solidFill>
                  <a:srgbClr val="C9A227"/>
                </a:solidFill>
              </a:rPr>
              <a:t>▪</a:t>
            </a:r>
            <a:r>
              <a:rPr sz="1000" b="0">
                <a:solidFill>
                  <a:srgbClr val="1B2A41"/>
                </a:solidFill>
              </a:rPr>
              <a:t>Five NSE stocks, two years of daily returns</a:t>
            </a:r>
          </a:p>
        </p:txBody>
      </p:sp>
      <p:sp>
        <p:nvSpPr>
          <p:cNvPr id="12" name="TextBox 11"/>
          <p:cNvSpPr txBox="1"/>
          <p:nvPr/>
        </p:nvSpPr>
        <p:spPr>
          <a:xfrm>
            <a:off x="804672" y="3767328"/>
            <a:ext cx="3099816" cy="493776"/>
          </a:xfrm>
          <a:prstGeom prst="rect">
            <a:avLst/>
          </a:prstGeom>
          <a:noFill/>
        </p:spPr>
        <p:txBody>
          <a:bodyPr wrap="square" lIns="0" tIns="0" rIns="0" bIns="0" anchor="t">
            <a:spAutoFit/>
          </a:bodyPr>
          <a:lstStyle/>
          <a:p>
            <a:pPr algn="l"/>
            <a:r>
              <a:rPr sz="1000" b="1">
                <a:solidFill>
                  <a:srgbClr val="C9A227"/>
                </a:solidFill>
              </a:rPr>
              <a:t>▪</a:t>
            </a:r>
            <a:r>
              <a:rPr sz="1000" b="0">
                <a:solidFill>
                  <a:srgbClr val="1B2A41"/>
                </a:solidFill>
              </a:rPr>
              <a:t>Each stock's volatility, and how the five move together</a:t>
            </a:r>
          </a:p>
        </p:txBody>
      </p:sp>
      <p:sp>
        <p:nvSpPr>
          <p:cNvPr id="13" name="TextBox 12"/>
          <p:cNvSpPr txBox="1"/>
          <p:nvPr/>
        </p:nvSpPr>
        <p:spPr>
          <a:xfrm>
            <a:off x="804672" y="4279392"/>
            <a:ext cx="3099816" cy="493776"/>
          </a:xfrm>
          <a:prstGeom prst="rect">
            <a:avLst/>
          </a:prstGeom>
          <a:noFill/>
        </p:spPr>
        <p:txBody>
          <a:bodyPr wrap="square" lIns="0" tIns="0" rIns="0" bIns="0" anchor="t">
            <a:spAutoFit/>
          </a:bodyPr>
          <a:lstStyle/>
          <a:p>
            <a:pPr algn="l"/>
            <a:r>
              <a:rPr sz="1000" b="1">
                <a:solidFill>
                  <a:srgbClr val="C9A227"/>
                </a:solidFill>
              </a:rPr>
              <a:t>▪</a:t>
            </a:r>
            <a:r>
              <a:rPr sz="1000" b="0">
                <a:solidFill>
                  <a:srgbClr val="1B2A41"/>
                </a:solidFill>
              </a:rPr>
              <a:t>Ten thousand simulated tomorrows</a:t>
            </a:r>
          </a:p>
        </p:txBody>
      </p:sp>
      <p:sp>
        <p:nvSpPr>
          <p:cNvPr id="14" name="TextBox 13"/>
          <p:cNvSpPr txBox="1"/>
          <p:nvPr/>
        </p:nvSpPr>
        <p:spPr>
          <a:xfrm>
            <a:off x="804672" y="4791456"/>
            <a:ext cx="3099816" cy="493776"/>
          </a:xfrm>
          <a:prstGeom prst="rect">
            <a:avLst/>
          </a:prstGeom>
          <a:noFill/>
        </p:spPr>
        <p:txBody>
          <a:bodyPr wrap="square" lIns="0" tIns="0" rIns="0" bIns="0" anchor="t">
            <a:spAutoFit/>
          </a:bodyPr>
          <a:lstStyle/>
          <a:p>
            <a:pPr algn="l"/>
            <a:r>
              <a:rPr sz="1000" b="1">
                <a:solidFill>
                  <a:srgbClr val="C9A227"/>
                </a:solidFill>
              </a:rPr>
              <a:t>▪</a:t>
            </a:r>
            <a:r>
              <a:rPr sz="1000" b="0">
                <a:solidFill>
                  <a:srgbClr val="1B2A41"/>
                </a:solidFill>
              </a:rPr>
              <a:t>Sort them: the 100th worst is your 99% VaR, and the tail past it is CVaR</a:t>
            </a:r>
          </a:p>
        </p:txBody>
      </p:sp>
      <p:sp>
        <p:nvSpPr>
          <p:cNvPr id="15" name="Rectangle 14"/>
          <p:cNvSpPr/>
          <p:nvPr/>
        </p:nvSpPr>
        <p:spPr>
          <a:xfrm>
            <a:off x="4315968" y="2212848"/>
            <a:ext cx="3611880" cy="30540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0" y="2414016"/>
            <a:ext cx="3099816" cy="274320"/>
          </a:xfrm>
          <a:prstGeom prst="rect">
            <a:avLst/>
          </a:prstGeom>
          <a:noFill/>
        </p:spPr>
        <p:txBody>
          <a:bodyPr wrap="square" lIns="0" tIns="0" rIns="0" bIns="0" anchor="t">
            <a:spAutoFit/>
          </a:bodyPr>
          <a:lstStyle/>
          <a:p>
            <a:pPr algn="l"/>
            <a:r>
              <a:rPr sz="950" b="1">
                <a:solidFill>
                  <a:srgbClr val="3A5C9E"/>
                </a:solidFill>
              </a:rPr>
              <a:t>PART B  ·  10 MIN</a:t>
            </a:r>
          </a:p>
        </p:txBody>
      </p:sp>
      <p:sp>
        <p:nvSpPr>
          <p:cNvPr id="17" name="TextBox 16"/>
          <p:cNvSpPr txBox="1"/>
          <p:nvPr/>
        </p:nvSpPr>
        <p:spPr>
          <a:xfrm>
            <a:off x="4572000" y="2724912"/>
            <a:ext cx="3099816" cy="402336"/>
          </a:xfrm>
          <a:prstGeom prst="rect">
            <a:avLst/>
          </a:prstGeom>
          <a:noFill/>
        </p:spPr>
        <p:txBody>
          <a:bodyPr wrap="square" lIns="0" tIns="0" rIns="0" bIns="0" anchor="t">
            <a:spAutoFit/>
          </a:bodyPr>
          <a:lstStyle/>
          <a:p>
            <a:pPr algn="l"/>
            <a:r>
              <a:rPr sz="1700" b="1">
                <a:solidFill>
                  <a:srgbClr val="0F2145"/>
                </a:solidFill>
                <a:latin typeface="Georgia"/>
              </a:rPr>
              <a:t>Compare it</a:t>
            </a:r>
          </a:p>
        </p:txBody>
      </p:sp>
      <p:sp>
        <p:nvSpPr>
          <p:cNvPr id="18" name="TextBox 17"/>
          <p:cNvSpPr txBox="1"/>
          <p:nvPr/>
        </p:nvSpPr>
        <p:spPr>
          <a:xfrm>
            <a:off x="4572000" y="3255264"/>
            <a:ext cx="3099816" cy="493776"/>
          </a:xfrm>
          <a:prstGeom prst="rect">
            <a:avLst/>
          </a:prstGeom>
          <a:noFill/>
        </p:spPr>
        <p:txBody>
          <a:bodyPr wrap="square" lIns="0" tIns="0" rIns="0" bIns="0" anchor="t">
            <a:spAutoFit/>
          </a:bodyPr>
          <a:lstStyle/>
          <a:p>
            <a:pPr algn="l"/>
            <a:r>
              <a:rPr sz="1000" b="1">
                <a:solidFill>
                  <a:srgbClr val="C9A227"/>
                </a:solidFill>
              </a:rPr>
              <a:t>▪</a:t>
            </a:r>
            <a:r>
              <a:rPr sz="1000" b="0">
                <a:solidFill>
                  <a:srgbClr val="1B2A41"/>
                </a:solidFill>
              </a:rPr>
              <a:t>Run the same portfolio through historical and parametric</a:t>
            </a:r>
          </a:p>
        </p:txBody>
      </p:sp>
      <p:sp>
        <p:nvSpPr>
          <p:cNvPr id="19" name="TextBox 18"/>
          <p:cNvSpPr txBox="1"/>
          <p:nvPr/>
        </p:nvSpPr>
        <p:spPr>
          <a:xfrm>
            <a:off x="4572000" y="3767328"/>
            <a:ext cx="3099816" cy="493776"/>
          </a:xfrm>
          <a:prstGeom prst="rect">
            <a:avLst/>
          </a:prstGeom>
          <a:noFill/>
        </p:spPr>
        <p:txBody>
          <a:bodyPr wrap="square" lIns="0" tIns="0" rIns="0" bIns="0" anchor="t">
            <a:spAutoFit/>
          </a:bodyPr>
          <a:lstStyle/>
          <a:p>
            <a:pPr algn="l"/>
            <a:r>
              <a:rPr sz="1000" b="1">
                <a:solidFill>
                  <a:srgbClr val="C9A227"/>
                </a:solidFill>
              </a:rPr>
              <a:t>▪</a:t>
            </a:r>
            <a:r>
              <a:rPr sz="1000" b="0">
                <a:solidFill>
                  <a:srgbClr val="1B2A41"/>
                </a:solidFill>
              </a:rPr>
              <a:t>Three methods, three different answers</a:t>
            </a:r>
          </a:p>
        </p:txBody>
      </p:sp>
      <p:sp>
        <p:nvSpPr>
          <p:cNvPr id="20" name="TextBox 19"/>
          <p:cNvSpPr txBox="1"/>
          <p:nvPr/>
        </p:nvSpPr>
        <p:spPr>
          <a:xfrm>
            <a:off x="4572000" y="4279392"/>
            <a:ext cx="3099816" cy="493776"/>
          </a:xfrm>
          <a:prstGeom prst="rect">
            <a:avLst/>
          </a:prstGeom>
          <a:noFill/>
        </p:spPr>
        <p:txBody>
          <a:bodyPr wrap="square" lIns="0" tIns="0" rIns="0" bIns="0" anchor="t">
            <a:spAutoFit/>
          </a:bodyPr>
          <a:lstStyle/>
          <a:p>
            <a:pPr algn="l"/>
            <a:r>
              <a:rPr sz="1000" b="1">
                <a:solidFill>
                  <a:srgbClr val="C9A227"/>
                </a:solidFill>
              </a:rPr>
              <a:t>▪</a:t>
            </a:r>
            <a:r>
              <a:rPr sz="1000" b="0">
                <a:solidFill>
                  <a:srgbClr val="1B2A41"/>
                </a:solidFill>
              </a:rPr>
              <a:t>Which one do you report, and why that one?</a:t>
            </a:r>
          </a:p>
        </p:txBody>
      </p:sp>
      <p:sp>
        <p:nvSpPr>
          <p:cNvPr id="21" name="TextBox 20"/>
          <p:cNvSpPr txBox="1"/>
          <p:nvPr/>
        </p:nvSpPr>
        <p:spPr>
          <a:xfrm>
            <a:off x="4572000" y="4791456"/>
            <a:ext cx="3099816" cy="493776"/>
          </a:xfrm>
          <a:prstGeom prst="rect">
            <a:avLst/>
          </a:prstGeom>
          <a:noFill/>
        </p:spPr>
        <p:txBody>
          <a:bodyPr wrap="square" lIns="0" tIns="0" rIns="0" bIns="0" anchor="t">
            <a:spAutoFit/>
          </a:bodyPr>
          <a:lstStyle/>
          <a:p>
            <a:pPr algn="l"/>
            <a:r>
              <a:rPr sz="1000" b="1">
                <a:solidFill>
                  <a:srgbClr val="C9A227"/>
                </a:solidFill>
              </a:rPr>
              <a:t>▪</a:t>
            </a:r>
            <a:r>
              <a:rPr sz="1000" b="0">
                <a:solidFill>
                  <a:srgbClr val="1B2A41"/>
                </a:solidFill>
              </a:rPr>
              <a:t>The gap between them is your uncertainty, made visible</a:t>
            </a:r>
          </a:p>
        </p:txBody>
      </p:sp>
      <p:sp>
        <p:nvSpPr>
          <p:cNvPr id="22" name="Rectangle 21"/>
          <p:cNvSpPr/>
          <p:nvPr/>
        </p:nvSpPr>
        <p:spPr>
          <a:xfrm>
            <a:off x="8083296" y="2212848"/>
            <a:ext cx="3557016" cy="3054096"/>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339327" y="2414016"/>
            <a:ext cx="3044952" cy="274320"/>
          </a:xfrm>
          <a:prstGeom prst="rect">
            <a:avLst/>
          </a:prstGeom>
          <a:noFill/>
        </p:spPr>
        <p:txBody>
          <a:bodyPr wrap="square" lIns="0" tIns="0" rIns="0" bIns="0" anchor="t">
            <a:spAutoFit/>
          </a:bodyPr>
          <a:lstStyle/>
          <a:p>
            <a:pPr algn="l"/>
            <a:r>
              <a:rPr sz="950" b="1">
                <a:solidFill>
                  <a:srgbClr val="C9A227"/>
                </a:solidFill>
              </a:rPr>
              <a:t>PART C  ·  15 MIN</a:t>
            </a:r>
          </a:p>
        </p:txBody>
      </p:sp>
      <p:sp>
        <p:nvSpPr>
          <p:cNvPr id="24" name="TextBox 23"/>
          <p:cNvSpPr txBox="1"/>
          <p:nvPr/>
        </p:nvSpPr>
        <p:spPr>
          <a:xfrm>
            <a:off x="8339327" y="2724912"/>
            <a:ext cx="3044952" cy="402336"/>
          </a:xfrm>
          <a:prstGeom prst="rect">
            <a:avLst/>
          </a:prstGeom>
          <a:noFill/>
        </p:spPr>
        <p:txBody>
          <a:bodyPr wrap="square" lIns="0" tIns="0" rIns="0" bIns="0" anchor="t">
            <a:spAutoFit/>
          </a:bodyPr>
          <a:lstStyle/>
          <a:p>
            <a:pPr algn="l"/>
            <a:r>
              <a:rPr sz="1700" b="1">
                <a:solidFill>
                  <a:srgbClr val="FFFFFF"/>
                </a:solidFill>
                <a:latin typeface="Georgia"/>
              </a:rPr>
              <a:t>Test it</a:t>
            </a:r>
          </a:p>
        </p:txBody>
      </p:sp>
      <p:sp>
        <p:nvSpPr>
          <p:cNvPr id="25" name="TextBox 24"/>
          <p:cNvSpPr txBox="1"/>
          <p:nvPr/>
        </p:nvSpPr>
        <p:spPr>
          <a:xfrm>
            <a:off x="8339327" y="3255264"/>
            <a:ext cx="3044952" cy="493776"/>
          </a:xfrm>
          <a:prstGeom prst="rect">
            <a:avLst/>
          </a:prstGeom>
          <a:noFill/>
        </p:spPr>
        <p:txBody>
          <a:bodyPr wrap="square" lIns="0" tIns="0" rIns="0" bIns="0" anchor="t">
            <a:spAutoFit/>
          </a:bodyPr>
          <a:lstStyle/>
          <a:p>
            <a:pPr algn="l"/>
            <a:r>
              <a:rPr sz="1000" b="1">
                <a:solidFill>
                  <a:srgbClr val="C9A227"/>
                </a:solidFill>
              </a:rPr>
              <a:t>▪</a:t>
            </a:r>
            <a:r>
              <a:rPr sz="1000" b="0">
                <a:solidFill>
                  <a:srgbClr val="C9D6EE"/>
                </a:solidFill>
              </a:rPr>
              <a:t>Count the breaches over 250 real trading days</a:t>
            </a:r>
          </a:p>
        </p:txBody>
      </p:sp>
      <p:sp>
        <p:nvSpPr>
          <p:cNvPr id="26" name="TextBox 25"/>
          <p:cNvSpPr txBox="1"/>
          <p:nvPr/>
        </p:nvSpPr>
        <p:spPr>
          <a:xfrm>
            <a:off x="8339327" y="3767328"/>
            <a:ext cx="3044952" cy="493776"/>
          </a:xfrm>
          <a:prstGeom prst="rect">
            <a:avLst/>
          </a:prstGeom>
          <a:noFill/>
        </p:spPr>
        <p:txBody>
          <a:bodyPr wrap="square" lIns="0" tIns="0" rIns="0" bIns="0" anchor="t">
            <a:spAutoFit/>
          </a:bodyPr>
          <a:lstStyle/>
          <a:p>
            <a:pPr algn="l"/>
            <a:r>
              <a:rPr sz="1000" b="1">
                <a:solidFill>
                  <a:srgbClr val="C9A227"/>
                </a:solidFill>
              </a:rPr>
              <a:t>▪</a:t>
            </a:r>
            <a:r>
              <a:rPr sz="1000" b="0">
                <a:solidFill>
                  <a:srgbClr val="C9D6EE"/>
                </a:solidFill>
              </a:rPr>
              <a:t>At 99% you expect two or three, not nine</a:t>
            </a:r>
          </a:p>
        </p:txBody>
      </p:sp>
      <p:sp>
        <p:nvSpPr>
          <p:cNvPr id="27" name="TextBox 26"/>
          <p:cNvSpPr txBox="1"/>
          <p:nvPr/>
        </p:nvSpPr>
        <p:spPr>
          <a:xfrm>
            <a:off x="8339327" y="4279392"/>
            <a:ext cx="3044952" cy="493776"/>
          </a:xfrm>
          <a:prstGeom prst="rect">
            <a:avLst/>
          </a:prstGeom>
          <a:noFill/>
        </p:spPr>
        <p:txBody>
          <a:bodyPr wrap="square" lIns="0" tIns="0" rIns="0" bIns="0" anchor="t">
            <a:spAutoFit/>
          </a:bodyPr>
          <a:lstStyle/>
          <a:p>
            <a:pPr algn="l"/>
            <a:r>
              <a:rPr sz="1000" b="1">
                <a:solidFill>
                  <a:srgbClr val="C9A227"/>
                </a:solidFill>
              </a:rPr>
              <a:t>▪</a:t>
            </a:r>
            <a:r>
              <a:rPr sz="1000" b="0">
                <a:solidFill>
                  <a:srgbClr val="C9D6EE"/>
                </a:solidFill>
              </a:rPr>
              <a:t>Basel zones: 0-4 green, 5-9 yellow, 10 or more red</a:t>
            </a:r>
          </a:p>
        </p:txBody>
      </p:sp>
      <p:sp>
        <p:nvSpPr>
          <p:cNvPr id="28" name="TextBox 27"/>
          <p:cNvSpPr txBox="1"/>
          <p:nvPr/>
        </p:nvSpPr>
        <p:spPr>
          <a:xfrm>
            <a:off x="8339327" y="4791456"/>
            <a:ext cx="3044952" cy="493776"/>
          </a:xfrm>
          <a:prstGeom prst="rect">
            <a:avLst/>
          </a:prstGeom>
          <a:noFill/>
        </p:spPr>
        <p:txBody>
          <a:bodyPr wrap="square" lIns="0" tIns="0" rIns="0" bIns="0" anchor="t">
            <a:spAutoFit/>
          </a:bodyPr>
          <a:lstStyle/>
          <a:p>
            <a:pPr algn="l"/>
            <a:r>
              <a:rPr sz="1000" b="1">
                <a:solidFill>
                  <a:srgbClr val="C9A227"/>
                </a:solidFill>
              </a:rPr>
              <a:t>▪</a:t>
            </a:r>
            <a:r>
              <a:rPr sz="1000" b="0">
                <a:solidFill>
                  <a:srgbClr val="C9D6EE"/>
                </a:solidFill>
              </a:rPr>
              <a:t>A red zone means rebuild it, not explain it away</a:t>
            </a:r>
          </a:p>
        </p:txBody>
      </p:sp>
      <p:sp>
        <p:nvSpPr>
          <p:cNvPr id="29" name="Rectangle 28"/>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 y="5760720"/>
            <a:ext cx="10543032" cy="603504"/>
          </a:xfrm>
          <a:prstGeom prst="rect">
            <a:avLst/>
          </a:prstGeom>
          <a:noFill/>
        </p:spPr>
        <p:txBody>
          <a:bodyPr wrap="square" lIns="0" tIns="0" rIns="0" bIns="0" anchor="ctr">
            <a:spAutoFit/>
          </a:bodyPr>
          <a:lstStyle/>
          <a:p>
            <a:pPr algn="l"/>
            <a:r>
              <a:rPr sz="1200" b="1">
                <a:solidFill>
                  <a:srgbClr val="C9A227"/>
                </a:solidFill>
              </a:rPr>
              <a:t>Why Part C matters most:</a:t>
            </a:r>
            <a:r>
              <a:rPr sz="1200" b="0">
                <a:solidFill>
                  <a:srgbClr val="FFFFFF"/>
                </a:solidFill>
              </a:rPr>
              <a:t>building a VaR takes 35 minutes. Finding out it breached nine times when it should have breached three takes 15.</a:t>
            </a:r>
          </a:p>
        </p:txBody>
      </p:sp>
      <p:sp>
        <p:nvSpPr>
          <p:cNvPr id="32" name="TextBox 31"/>
          <p:cNvSpPr txBox="1"/>
          <p:nvPr/>
        </p:nvSpPr>
        <p:spPr>
          <a:xfrm>
            <a:off x="548640" y="6473952"/>
            <a:ext cx="7315200" cy="228600"/>
          </a:xfrm>
          <a:prstGeom prst="rect">
            <a:avLst/>
          </a:prstGeom>
          <a:noFill/>
        </p:spPr>
        <p:txBody>
          <a:bodyPr wrap="square" lIns="0" tIns="0" rIns="0" bIns="0" anchor="t">
            <a:spAutoFit/>
          </a:bodyPr>
          <a:lstStyle/>
          <a:p>
            <a:pPr algn="l"/>
            <a:r>
              <a:rPr sz="800" b="0">
                <a:solidFill>
                  <a:srgbClr val="5D6B7E"/>
                </a:solidFill>
              </a:rPr>
              <a:t>AI IN FINANCE · THE COMPLETE CRASH COURSE</a:t>
            </a:r>
          </a:p>
        </p:txBody>
      </p:sp>
      <p:sp>
        <p:nvSpPr>
          <p:cNvPr id="33" name="TextBox 32"/>
          <p:cNvSpPr txBox="1"/>
          <p:nvPr/>
        </p:nvSpPr>
        <p:spPr>
          <a:xfrm>
            <a:off x="9262872" y="6473952"/>
            <a:ext cx="2377440" cy="228600"/>
          </a:xfrm>
          <a:prstGeom prst="rect">
            <a:avLst/>
          </a:prstGeom>
          <a:noFill/>
        </p:spPr>
        <p:txBody>
          <a:bodyPr wrap="square" lIns="0" tIns="0" rIns="0" bIns="0" anchor="t">
            <a:spAutoFit/>
          </a:bodyPr>
          <a:lstStyle/>
          <a:p>
            <a:pPr algn="r"/>
            <a:r>
              <a:rPr sz="800" b="0">
                <a:solidFill>
                  <a:srgbClr val="5D6B7E"/>
                </a:solidFill>
              </a:rPr>
              <a:t>MODULE 5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86384" y="310896"/>
            <a:ext cx="10817352" cy="274320"/>
          </a:xfrm>
          <a:prstGeom prst="rect">
            <a:avLst/>
          </a:prstGeom>
          <a:noFill/>
        </p:spPr>
        <p:txBody>
          <a:bodyPr wrap="square" lIns="0" tIns="0" rIns="0" bIns="0" anchor="t">
            <a:spAutoFit/>
          </a:bodyPr>
          <a:lstStyle/>
          <a:p>
            <a:pPr algn="l"/>
            <a:r>
              <a:rPr sz="1100" b="1">
                <a:solidFill>
                  <a:srgbClr val="C9A227"/>
                </a:solidFill>
              </a:rPr>
              <a:t>PRACTICE QUESTIONS</a:t>
            </a:r>
          </a:p>
        </p:txBody>
      </p:sp>
      <p:sp>
        <p:nvSpPr>
          <p:cNvPr id="4" name="TextBox 3"/>
          <p:cNvSpPr txBox="1"/>
          <p:nvPr/>
        </p:nvSpPr>
        <p:spPr>
          <a:xfrm>
            <a:off x="548640" y="621792"/>
            <a:ext cx="11091672" cy="731520"/>
          </a:xfrm>
          <a:prstGeom prst="rect">
            <a:avLst/>
          </a:prstGeom>
          <a:noFill/>
        </p:spPr>
        <p:txBody>
          <a:bodyPr wrap="square" lIns="0" tIns="0" rIns="0" bIns="0" anchor="t">
            <a:spAutoFit/>
          </a:bodyPr>
          <a:lstStyle/>
          <a:p>
            <a:pPr algn="l"/>
            <a:r>
              <a:rPr sz="2900" b="1">
                <a:solidFill>
                  <a:srgbClr val="0F2145"/>
                </a:solidFill>
                <a:latin typeface="Georgia"/>
              </a:rPr>
              <a:t>Six questions before the exam</a:t>
            </a:r>
          </a:p>
        </p:txBody>
      </p:sp>
      <p:sp>
        <p:nvSpPr>
          <p:cNvPr id="5" name="Rectangle 4"/>
          <p:cNvSpPr/>
          <p:nvPr/>
        </p:nvSpPr>
        <p:spPr>
          <a:xfrm>
            <a:off x="548640" y="1444752"/>
            <a:ext cx="11091672"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444752"/>
            <a:ext cx="64008" cy="676656"/>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508760"/>
            <a:ext cx="640080" cy="365760"/>
          </a:xfrm>
          <a:prstGeom prst="rect">
            <a:avLst/>
          </a:prstGeom>
          <a:noFill/>
        </p:spPr>
        <p:txBody>
          <a:bodyPr wrap="square" lIns="0" tIns="0" rIns="0" bIns="0" anchor="t">
            <a:spAutoFit/>
          </a:bodyPr>
          <a:lstStyle/>
          <a:p>
            <a:pPr algn="l"/>
            <a:r>
              <a:rPr sz="1400" b="1">
                <a:solidFill>
                  <a:srgbClr val="3A5C9E"/>
                </a:solidFill>
                <a:latin typeface="Georgia"/>
              </a:rPr>
              <a:t>Q1</a:t>
            </a:r>
          </a:p>
        </p:txBody>
      </p:sp>
      <p:sp>
        <p:nvSpPr>
          <p:cNvPr id="8" name="TextBox 7"/>
          <p:cNvSpPr txBox="1"/>
          <p:nvPr/>
        </p:nvSpPr>
        <p:spPr>
          <a:xfrm>
            <a:off x="1554480" y="1499616"/>
            <a:ext cx="9875520" cy="585216"/>
          </a:xfrm>
          <a:prstGeom prst="rect">
            <a:avLst/>
          </a:prstGeom>
          <a:noFill/>
        </p:spPr>
        <p:txBody>
          <a:bodyPr wrap="square" lIns="0" tIns="0" rIns="0" bIns="0" anchor="t">
            <a:spAutoFit/>
          </a:bodyPr>
          <a:lstStyle/>
          <a:p>
            <a:pPr algn="l"/>
            <a:r>
              <a:rPr sz="1050" b="1" dirty="0">
                <a:solidFill>
                  <a:srgbClr val="1B2A41"/>
                </a:solidFill>
              </a:rPr>
              <a:t>A loan has PD 3%, LGD 40% and EAD ₹5,00,000. What is the expected loss, and who pays it?</a:t>
            </a:r>
          </a:p>
          <a:p>
            <a:pPr algn="l">
              <a:spcBef>
                <a:spcPts val="200"/>
              </a:spcBef>
            </a:pPr>
            <a:r>
              <a:rPr sz="900" b="1" dirty="0">
                <a:solidFill>
                  <a:srgbClr val="C9A227"/>
                </a:solidFill>
              </a:rPr>
              <a:t>TIP</a:t>
            </a:r>
            <a:r>
              <a:rPr sz="900" b="0" dirty="0">
                <a:solidFill>
                  <a:srgbClr val="5D6B7E"/>
                </a:solidFill>
              </a:rPr>
              <a:t>₹6,000. The borrower pays it, priced into the interest rate, whether or not this loan goes bad.</a:t>
            </a:r>
          </a:p>
        </p:txBody>
      </p:sp>
      <p:sp>
        <p:nvSpPr>
          <p:cNvPr id="9" name="Rectangle 8"/>
          <p:cNvSpPr/>
          <p:nvPr/>
        </p:nvSpPr>
        <p:spPr>
          <a:xfrm>
            <a:off x="548640" y="2176272"/>
            <a:ext cx="11091672"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176272"/>
            <a:ext cx="64008" cy="676656"/>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2240279"/>
            <a:ext cx="640080" cy="365760"/>
          </a:xfrm>
          <a:prstGeom prst="rect">
            <a:avLst/>
          </a:prstGeom>
          <a:noFill/>
        </p:spPr>
        <p:txBody>
          <a:bodyPr wrap="square" lIns="0" tIns="0" rIns="0" bIns="0" anchor="t">
            <a:spAutoFit/>
          </a:bodyPr>
          <a:lstStyle/>
          <a:p>
            <a:pPr algn="l"/>
            <a:r>
              <a:rPr sz="1400" b="1">
                <a:solidFill>
                  <a:srgbClr val="3A5C9E"/>
                </a:solidFill>
                <a:latin typeface="Georgia"/>
              </a:rPr>
              <a:t>Q2</a:t>
            </a:r>
          </a:p>
        </p:txBody>
      </p:sp>
      <p:sp>
        <p:nvSpPr>
          <p:cNvPr id="12" name="TextBox 11"/>
          <p:cNvSpPr txBox="1"/>
          <p:nvPr/>
        </p:nvSpPr>
        <p:spPr>
          <a:xfrm>
            <a:off x="1554480" y="2231136"/>
            <a:ext cx="9875520" cy="585216"/>
          </a:xfrm>
          <a:prstGeom prst="rect">
            <a:avLst/>
          </a:prstGeom>
          <a:noFill/>
        </p:spPr>
        <p:txBody>
          <a:bodyPr wrap="square" lIns="0" tIns="0" rIns="0" bIns="0" anchor="t">
            <a:spAutoFit/>
          </a:bodyPr>
          <a:lstStyle/>
          <a:p>
            <a:pPr algn="l"/>
            <a:r>
              <a:rPr sz="1050" b="1" dirty="0">
                <a:solidFill>
                  <a:srgbClr val="1B2A41"/>
                </a:solidFill>
              </a:rPr>
              <a:t>Explain the difference between expected loss and unexpected loss, and what each is funded by.</a:t>
            </a:r>
          </a:p>
          <a:p>
            <a:pPr algn="l">
              <a:spcBef>
                <a:spcPts val="200"/>
              </a:spcBef>
            </a:pPr>
            <a:r>
              <a:rPr sz="900" b="1" dirty="0">
                <a:solidFill>
                  <a:srgbClr val="C9A227"/>
                </a:solidFill>
              </a:rPr>
              <a:t>TIP</a:t>
            </a:r>
            <a:r>
              <a:rPr sz="900" b="0" dirty="0">
                <a:solidFill>
                  <a:srgbClr val="5D6B7E"/>
                </a:solidFill>
              </a:rPr>
              <a:t>Expected loss is budgeted and priced in. Unexpected loss is the bad year, and capital is held against it.</a:t>
            </a:r>
          </a:p>
        </p:txBody>
      </p:sp>
      <p:sp>
        <p:nvSpPr>
          <p:cNvPr id="13" name="Rectangle 12"/>
          <p:cNvSpPr/>
          <p:nvPr/>
        </p:nvSpPr>
        <p:spPr>
          <a:xfrm>
            <a:off x="548640" y="2907791"/>
            <a:ext cx="11091672"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2907791"/>
            <a:ext cx="64008" cy="676656"/>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2971799"/>
            <a:ext cx="640080" cy="365760"/>
          </a:xfrm>
          <a:prstGeom prst="rect">
            <a:avLst/>
          </a:prstGeom>
          <a:noFill/>
        </p:spPr>
        <p:txBody>
          <a:bodyPr wrap="square" lIns="0" tIns="0" rIns="0" bIns="0" anchor="t">
            <a:spAutoFit/>
          </a:bodyPr>
          <a:lstStyle/>
          <a:p>
            <a:pPr algn="l"/>
            <a:r>
              <a:rPr sz="1400" b="1">
                <a:solidFill>
                  <a:srgbClr val="3A5C9E"/>
                </a:solidFill>
                <a:latin typeface="Georgia"/>
              </a:rPr>
              <a:t>Q3</a:t>
            </a:r>
          </a:p>
        </p:txBody>
      </p:sp>
      <p:sp>
        <p:nvSpPr>
          <p:cNvPr id="16" name="TextBox 15"/>
          <p:cNvSpPr txBox="1"/>
          <p:nvPr/>
        </p:nvSpPr>
        <p:spPr>
          <a:xfrm>
            <a:off x="1554480" y="2962656"/>
            <a:ext cx="9875520" cy="585216"/>
          </a:xfrm>
          <a:prstGeom prst="rect">
            <a:avLst/>
          </a:prstGeom>
          <a:noFill/>
        </p:spPr>
        <p:txBody>
          <a:bodyPr wrap="square" lIns="0" tIns="0" rIns="0" bIns="0" anchor="t">
            <a:spAutoFit/>
          </a:bodyPr>
          <a:lstStyle/>
          <a:p>
            <a:pPr algn="l"/>
            <a:r>
              <a:rPr sz="1050" b="1" dirty="0">
                <a:solidFill>
                  <a:srgbClr val="1B2A41"/>
                </a:solidFill>
              </a:rPr>
              <a:t>A PD model scores AUC 0.78. Say what that means without using the word AUC.</a:t>
            </a:r>
          </a:p>
          <a:p>
            <a:pPr algn="l">
              <a:spcBef>
                <a:spcPts val="200"/>
              </a:spcBef>
            </a:pPr>
            <a:r>
              <a:rPr sz="900" b="1" dirty="0">
                <a:solidFill>
                  <a:srgbClr val="C9A227"/>
                </a:solidFill>
              </a:rPr>
              <a:t>TIP</a:t>
            </a:r>
            <a:r>
              <a:rPr sz="900" b="0" dirty="0">
                <a:solidFill>
                  <a:srgbClr val="5D6B7E"/>
                </a:solidFill>
              </a:rPr>
              <a:t>Take a defaulter and a non-defaulter at random; 78 times in 100 the model scores the defaulter as riskier.</a:t>
            </a:r>
          </a:p>
        </p:txBody>
      </p:sp>
      <p:sp>
        <p:nvSpPr>
          <p:cNvPr id="17" name="Rectangle 16"/>
          <p:cNvSpPr/>
          <p:nvPr/>
        </p:nvSpPr>
        <p:spPr>
          <a:xfrm>
            <a:off x="548640" y="3639311"/>
            <a:ext cx="11091672"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48640" y="3639311"/>
            <a:ext cx="64008" cy="676656"/>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3703320"/>
            <a:ext cx="640080" cy="365760"/>
          </a:xfrm>
          <a:prstGeom prst="rect">
            <a:avLst/>
          </a:prstGeom>
          <a:noFill/>
        </p:spPr>
        <p:txBody>
          <a:bodyPr wrap="square" lIns="0" tIns="0" rIns="0" bIns="0" anchor="t">
            <a:spAutoFit/>
          </a:bodyPr>
          <a:lstStyle/>
          <a:p>
            <a:pPr algn="l"/>
            <a:r>
              <a:rPr sz="1400" b="1">
                <a:solidFill>
                  <a:srgbClr val="3A5C9E"/>
                </a:solidFill>
                <a:latin typeface="Georgia"/>
              </a:rPr>
              <a:t>Q4</a:t>
            </a:r>
          </a:p>
        </p:txBody>
      </p:sp>
      <p:sp>
        <p:nvSpPr>
          <p:cNvPr id="20" name="TextBox 19"/>
          <p:cNvSpPr txBox="1"/>
          <p:nvPr/>
        </p:nvSpPr>
        <p:spPr>
          <a:xfrm>
            <a:off x="1554480" y="3694175"/>
            <a:ext cx="9875520" cy="484748"/>
          </a:xfrm>
          <a:prstGeom prst="rect">
            <a:avLst/>
          </a:prstGeom>
          <a:noFill/>
        </p:spPr>
        <p:txBody>
          <a:bodyPr wrap="square" lIns="0" tIns="0" rIns="0" bIns="0" anchor="t">
            <a:spAutoFit/>
          </a:bodyPr>
          <a:lstStyle/>
          <a:p>
            <a:pPr algn="l"/>
            <a:r>
              <a:rPr lang="en-US" sz="1050" b="1" dirty="0" err="1">
                <a:solidFill>
                  <a:srgbClr val="1B2A41"/>
                </a:solidFill>
              </a:rPr>
              <a:t>Whar</a:t>
            </a:r>
            <a:r>
              <a:rPr lang="en-US" sz="1050" b="1" dirty="0">
                <a:solidFill>
                  <a:srgbClr val="1B2A41"/>
                </a:solidFill>
              </a:rPr>
              <a:t>are different methods of PD Modelling? Is it required for Standardized Approach? How you can use AI for Modelling Risk ?</a:t>
            </a:r>
          </a:p>
          <a:p>
            <a:pPr algn="l"/>
            <a:endParaRPr lang="en-US" sz="1050" b="1" dirty="0">
              <a:solidFill>
                <a:srgbClr val="1B2A41"/>
              </a:solidFill>
            </a:endParaRPr>
          </a:p>
          <a:p>
            <a:pPr algn="l"/>
            <a:r>
              <a:rPr lang="en-US" sz="1050" b="1" dirty="0">
                <a:solidFill>
                  <a:srgbClr val="1B2A41"/>
                </a:solidFill>
              </a:rPr>
              <a:t>Tip – This is the essence of this module. Please take notes of slides and u should have the answer</a:t>
            </a:r>
            <a:r>
              <a:rPr lang="en-US" sz="1050" b="1" dirty="0">
                <a:solidFill>
                  <a:srgbClr val="1B2A41"/>
                </a:solidFill>
                <a:sym typeface="Wingdings" pitchFamily="2" charset="2"/>
              </a:rPr>
              <a:t></a:t>
            </a:r>
            <a:endParaRPr sz="900" b="0" dirty="0">
              <a:solidFill>
                <a:srgbClr val="5D6B7E"/>
              </a:solidFill>
            </a:endParaRPr>
          </a:p>
        </p:txBody>
      </p:sp>
      <p:sp>
        <p:nvSpPr>
          <p:cNvPr id="21" name="Rectangle 20"/>
          <p:cNvSpPr/>
          <p:nvPr/>
        </p:nvSpPr>
        <p:spPr>
          <a:xfrm>
            <a:off x="548640" y="4370831"/>
            <a:ext cx="11091672"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48640" y="4370831"/>
            <a:ext cx="64008" cy="676656"/>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4434840"/>
            <a:ext cx="640080" cy="365760"/>
          </a:xfrm>
          <a:prstGeom prst="rect">
            <a:avLst/>
          </a:prstGeom>
          <a:noFill/>
        </p:spPr>
        <p:txBody>
          <a:bodyPr wrap="square" lIns="0" tIns="0" rIns="0" bIns="0" anchor="t">
            <a:spAutoFit/>
          </a:bodyPr>
          <a:lstStyle/>
          <a:p>
            <a:pPr algn="l"/>
            <a:r>
              <a:rPr sz="1400" b="1">
                <a:solidFill>
                  <a:srgbClr val="3A5C9E"/>
                </a:solidFill>
                <a:latin typeface="Georgia"/>
              </a:rPr>
              <a:t>Q5</a:t>
            </a:r>
          </a:p>
        </p:txBody>
      </p:sp>
      <p:sp>
        <p:nvSpPr>
          <p:cNvPr id="24" name="TextBox 23"/>
          <p:cNvSpPr txBox="1"/>
          <p:nvPr/>
        </p:nvSpPr>
        <p:spPr>
          <a:xfrm>
            <a:off x="1554480" y="4425695"/>
            <a:ext cx="9875520" cy="585216"/>
          </a:xfrm>
          <a:prstGeom prst="rect">
            <a:avLst/>
          </a:prstGeom>
          <a:noFill/>
        </p:spPr>
        <p:txBody>
          <a:bodyPr wrap="square" lIns="0" tIns="0" rIns="0" bIns="0" anchor="t">
            <a:spAutoFit/>
          </a:bodyPr>
          <a:lstStyle/>
          <a:p>
            <a:pPr algn="l"/>
            <a:r>
              <a:rPr sz="1050" b="1" dirty="0">
                <a:solidFill>
                  <a:srgbClr val="1B2A41"/>
                </a:solidFill>
              </a:rPr>
              <a:t>Historical, parametric and Monte Carlo give three different</a:t>
            </a:r>
            <a:r>
              <a:rPr sz="1050" b="1" dirty="0" err="1">
                <a:solidFill>
                  <a:srgbClr val="1B2A41"/>
                </a:solidFill>
              </a:rPr>
              <a:t>VaRs</a:t>
            </a:r>
            <a:r>
              <a:rPr sz="1050" b="1" dirty="0">
                <a:solidFill>
                  <a:srgbClr val="1B2A41"/>
                </a:solidFill>
              </a:rPr>
              <a:t>on one portfolio. Why, and which do you report?</a:t>
            </a:r>
          </a:p>
          <a:p>
            <a:pPr algn="l">
              <a:spcBef>
                <a:spcPts val="200"/>
              </a:spcBef>
            </a:pPr>
            <a:r>
              <a:rPr sz="900" b="1" dirty="0">
                <a:solidFill>
                  <a:srgbClr val="C9A227"/>
                </a:solidFill>
              </a:rPr>
              <a:t>TIP</a:t>
            </a:r>
            <a:r>
              <a:rPr sz="900" b="0" dirty="0">
                <a:solidFill>
                  <a:srgbClr val="5D6B7E"/>
                </a:solidFill>
              </a:rPr>
              <a:t>Each assumes something different about returns. Report the method your policy names, and disclose the other two.</a:t>
            </a:r>
          </a:p>
        </p:txBody>
      </p:sp>
      <p:sp>
        <p:nvSpPr>
          <p:cNvPr id="25" name="Rectangle 24"/>
          <p:cNvSpPr/>
          <p:nvPr/>
        </p:nvSpPr>
        <p:spPr>
          <a:xfrm>
            <a:off x="548640" y="5102351"/>
            <a:ext cx="11091672"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48640" y="5102351"/>
            <a:ext cx="64008" cy="676656"/>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5166359"/>
            <a:ext cx="640080" cy="365760"/>
          </a:xfrm>
          <a:prstGeom prst="rect">
            <a:avLst/>
          </a:prstGeom>
          <a:noFill/>
        </p:spPr>
        <p:txBody>
          <a:bodyPr wrap="square" lIns="0" tIns="0" rIns="0" bIns="0" anchor="t">
            <a:spAutoFit/>
          </a:bodyPr>
          <a:lstStyle/>
          <a:p>
            <a:pPr algn="l"/>
            <a:r>
              <a:rPr sz="1400" b="1">
                <a:solidFill>
                  <a:srgbClr val="3A5C9E"/>
                </a:solidFill>
                <a:latin typeface="Georgia"/>
              </a:rPr>
              <a:t>Q6</a:t>
            </a:r>
          </a:p>
        </p:txBody>
      </p:sp>
      <p:sp>
        <p:nvSpPr>
          <p:cNvPr id="28" name="TextBox 27"/>
          <p:cNvSpPr txBox="1"/>
          <p:nvPr/>
        </p:nvSpPr>
        <p:spPr>
          <a:xfrm>
            <a:off x="1554480" y="5157215"/>
            <a:ext cx="9875520" cy="585216"/>
          </a:xfrm>
          <a:prstGeom prst="rect">
            <a:avLst/>
          </a:prstGeom>
          <a:noFill/>
        </p:spPr>
        <p:txBody>
          <a:bodyPr wrap="square" lIns="0" tIns="0" rIns="0" bIns="0" anchor="t">
            <a:spAutoFit/>
          </a:bodyPr>
          <a:lstStyle/>
          <a:p>
            <a:pPr algn="l"/>
            <a:r>
              <a:rPr sz="1050" b="1">
                <a:solidFill>
                  <a:srgbClr val="1B2A41"/>
                </a:solidFill>
              </a:rPr>
              <a:t>Your 99% one-day VaR is ₹6.6 lakh. In 250 trading days you breach it nine times. What does that tell you?</a:t>
            </a:r>
          </a:p>
          <a:p>
            <a:pPr algn="l">
              <a:spcBef>
                <a:spcPts val="200"/>
              </a:spcBef>
            </a:pPr>
            <a:r>
              <a:rPr sz="900" b="1">
                <a:solidFill>
                  <a:srgbClr val="C9A227"/>
                </a:solidFill>
              </a:rPr>
              <a:t>TIP</a:t>
            </a:r>
            <a:r>
              <a:rPr sz="900" b="0">
                <a:solidFill>
                  <a:srgbClr val="5D6B7E"/>
                </a:solidFill>
              </a:rPr>
              <a:t>You expected about 2 or 3. Nine says the model understates risk, and it must be rebuilt, not explained away.</a:t>
            </a:r>
          </a:p>
        </p:txBody>
      </p:sp>
      <p:sp>
        <p:nvSpPr>
          <p:cNvPr id="29" name="Rectangle 28"/>
          <p:cNvSpPr/>
          <p:nvPr/>
        </p:nvSpPr>
        <p:spPr>
          <a:xfrm>
            <a:off x="548640" y="5870448"/>
            <a:ext cx="11091672" cy="51206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48640" y="5870448"/>
            <a:ext cx="64008" cy="5120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 y="5870448"/>
            <a:ext cx="10515600" cy="512064"/>
          </a:xfrm>
          <a:prstGeom prst="rect">
            <a:avLst/>
          </a:prstGeom>
          <a:noFill/>
        </p:spPr>
        <p:txBody>
          <a:bodyPr wrap="square" lIns="0" tIns="0" rIns="0" bIns="0" anchor="ctr">
            <a:spAutoFit/>
          </a:bodyPr>
          <a:lstStyle/>
          <a:p>
            <a:pPr algn="l"/>
            <a:r>
              <a:rPr sz="1100" b="1">
                <a:solidFill>
                  <a:srgbClr val="C9A227"/>
                </a:solidFill>
              </a:rPr>
              <a:t>Before Session 6:</a:t>
            </a:r>
            <a:r>
              <a:rPr sz="1100" b="0">
                <a:solidFill>
                  <a:srgbClr val="FFFFFF"/>
                </a:solidFill>
              </a:rPr>
              <a:t>pick five listed stocks, and write down the one thing that would make all five fall together.</a:t>
            </a:r>
          </a:p>
        </p:txBody>
      </p:sp>
      <p:sp>
        <p:nvSpPr>
          <p:cNvPr id="32" name="TextBox 31"/>
          <p:cNvSpPr txBox="1"/>
          <p:nvPr/>
        </p:nvSpPr>
        <p:spPr>
          <a:xfrm>
            <a:off x="548640" y="6473952"/>
            <a:ext cx="8229600" cy="228600"/>
          </a:xfrm>
          <a:prstGeom prst="rect">
            <a:avLst/>
          </a:prstGeom>
          <a:noFill/>
        </p:spPr>
        <p:txBody>
          <a:bodyPr wrap="square" lIns="0" tIns="0" rIns="0" bIns="0" anchor="t">
            <a:spAutoFit/>
          </a:bodyPr>
          <a:lstStyle/>
          <a:p>
            <a:pPr algn="l"/>
            <a:r>
              <a:rPr sz="800" b="0">
                <a:solidFill>
                  <a:srgbClr val="5D6B7E"/>
                </a:solidFill>
              </a:rPr>
              <a:t>The tip is the shape of the answer, not the whole answer. Two or three sentences each in the exam.</a:t>
            </a:r>
          </a:p>
        </p:txBody>
      </p:sp>
      <p:sp>
        <p:nvSpPr>
          <p:cNvPr id="33" name="TextBox 32"/>
          <p:cNvSpPr txBox="1"/>
          <p:nvPr/>
        </p:nvSpPr>
        <p:spPr>
          <a:xfrm>
            <a:off x="9262872" y="6473952"/>
            <a:ext cx="2377440" cy="228600"/>
          </a:xfrm>
          <a:prstGeom prst="rect">
            <a:avLst/>
          </a:prstGeom>
          <a:noFill/>
        </p:spPr>
        <p:txBody>
          <a:bodyPr wrap="square" lIns="0" tIns="0" rIns="0" bIns="0" anchor="t">
            <a:spAutoFit/>
          </a:bodyPr>
          <a:lstStyle/>
          <a:p>
            <a:pPr algn="r"/>
            <a:r>
              <a:rPr sz="800" b="0">
                <a:solidFill>
                  <a:srgbClr val="5D6B7E"/>
                </a:solidFill>
              </a:rPr>
              <a:t>MODULE 5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TotalTime>
  <Words>2571</Words>
  <Application>Microsoft Macintosh PowerPoint</Application>
  <PresentationFormat>Widescreen</PresentationFormat>
  <Paragraphs>265</Paragraphs>
  <Slides>12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Arial</vt:lpstr>
      <vt:lpstr>Calibri</vt:lpstr>
      <vt:lpstr>Consolas</vt:lpstr>
      <vt:lpstr>Georgia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Tejas Jadhav</cp:lastModifiedBy>
  <cp:revision>4</cp:revision>
  <dcterms:created xsi:type="dcterms:W3CDTF">2013-01-27T09:14:16Z</dcterms:created>
  <dcterms:modified xsi:type="dcterms:W3CDTF">2026-09-19T01:09:34Z</dcterms:modified>
  <cp:category/>
</cp:coreProperties>
</file>