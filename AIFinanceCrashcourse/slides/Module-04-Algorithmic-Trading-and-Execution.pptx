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0" r:id="rId6"/>
    <p:sldId id="266" r:id="rId7"/>
    <p:sldId id="261" r:id="rId8"/>
    <p:sldId id="268" r:id="rId9"/>
    <p:sldId id="262" r:id="rId10"/>
    <p:sldId id="270" r:id="rId17"/>
    <p:sldId id="263" r:id="rId11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2.xml"/><Relationship Id="rId17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AI IN FINANCE · THE COMPLETE CRASH COURSE · MODULE 4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4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Algorithmic Trading &amp; Execution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AI in Finance: The Complete Crash Course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tejasgjadhav.github.io/AIFinanceCrashcourse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 1 signals · Hour 2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backtesting · Hour 3 bot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maths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Every idea is one rule you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write in one sentence.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TRADING BOT, BACKTESTED,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4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The order book: bids, asks and the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7296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▪</a:t>
            </a:r>
            <a:r>
              <a:rPr lang="en-US" sz="1100" b="1" dirty="0">
                <a:solidFill>
                  <a:srgbClr val="1B2A41"/>
                </a:solidFill>
              </a:rPr>
              <a:t>O</a:t>
            </a:r>
            <a:r>
              <a:rPr sz="1100" b="0" dirty="0">
                <a:solidFill>
                  <a:srgbClr val="1B2A41"/>
                </a:solidFill>
              </a:rPr>
              <a:t>rder types, SEBI's rules, the Medallion 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Three signal families: momentum, mean reversion,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▪</a:t>
            </a:r>
            <a:r>
              <a:rPr sz="1100" b="0" dirty="0">
                <a:solidFill>
                  <a:srgbClr val="1B2A41"/>
                </a:solidFill>
              </a:rPr>
              <a:t>Simulation: match five orders on a virtual order 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In-sample, out-of-sample, walk-forward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Sharpe, Sortino, max drawdown, and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Costs, overfitting and data snooping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Case: Knight Capital lost $440M in 45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One sentence into Codex: momentum on NIFTY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Two years of test data, 12 months of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Read the monthly table against the 5%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Costs at 25, 50 and 100 bps, live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Our goal for today:</a:t>
            </a:r>
            <a:r>
              <a:rPr sz="1200" b="0">
                <a:solidFill>
                  <a:srgbClr val="FFFFFF"/>
                </a:solidFill>
              </a:rPr>
              <a:t>one trading rule, tested honestly on two years of NSE data, with a report that says whether to trust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E88E0A56-6C4B-1549-399E-F3CCC491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5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hart with graphs and charts&#10;&#10;Description automatically generated with medium confidence">
            <a:extLst>
              <a:ext uri="{FF2B5EF4-FFF2-40B4-BE49-F238E27FC236}">
                <a16:creationId xmlns:a16="http://schemas.microsoft.com/office/drawing/2014/main" id="{7B381EF4-AF05-F3C9-C3C6-D84D6D5B3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4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ONE IDEA BEHIND EVERY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trading bot is a goal plus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What you want, as a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goal is one sentence a machine can check. It says what to buy, when to buy it, and when to get out. If you cannot write it in one sentence, the bot cannot run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Buy when the stock closes above its 20-day high. Sell at +2% or at −1%.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goal is the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Same steps, on a timer.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A loop repeats a short list of steps on a timer. Fetch the price. Check the rule. Act. Write it down. Repeat. The loop never gets bored and never skips a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Every day at 15:36, the loop reads the closing prices of 200 stocks and checks each one against the rule.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loop is the clock.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GOAL +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That is a trading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Put the goal inside the loop and you have a bot. Add a stop, a size limit and a log, and you have a bot you can trust. Every agent in this course is built the same way.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Goal: sell an options credit spread after a breakout. Loop: scan at 15:36 daily, send the signal to Telegram, record the result at expiry.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Goal plus loop equals agent.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3712" y="3493008"/>
            <a:ext cx="54864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4930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0096" y="3493008"/>
            <a:ext cx="54864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0096" y="349300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493008"/>
            <a:ext cx="45720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49300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493008"/>
            <a:ext cx="23774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3493008"/>
            <a:ext cx="457200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1424" y="3493008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8624" y="3493008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One line to remember:</a:t>
            </a:r>
            <a:r>
              <a:rPr sz="1200" b="0">
                <a:solidFill>
                  <a:srgbClr val="FFFFFF"/>
                </a:solidFill>
              </a:rPr>
              <a:t>the goal is the rule, the loop is the clock, and a bot is nothing more than the two together.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with text and images&#10;&#10;Description automatically generated">
            <a:extLst>
              <a:ext uri="{FF2B5EF4-FFF2-40B4-BE49-F238E27FC236}">
                <a16:creationId xmlns:a16="http://schemas.microsoft.com/office/drawing/2014/main" id="{04D464AC-D819-74B3-B91F-85341854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58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BACKTESTING METHODOLOGY AND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Backtesting: how to test a rule without fooling yourself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TEST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Split the data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In-sample is the data you build the rule on. Out-of-sample is data the rule has never seen. Walk-forward repeats that split year by year. Overfitting is a rule that fits the past and fails the future. Data snooping is trying 100 rules and reporting the one that worked.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Build on 2019 to 2024. Test on 2025 to 2026 once. A rule that wins 80% in-sample and 55% out-of-sample was fitted, not found.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Out-of-sample is the only test that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THREE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Return, risk, worst fall.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The Sharpe ratio is the average return divided by its ups and downs. Sortino counts only the downside moves. Max drawdown is the biggest fall from a peak to the next low. Subtract brokerage, STT and the spread before you compute any of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rule made 20% a year with a 30% max drawdown. Your investor lost a third of the money on the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A Sharpe above 1 after costs is good. Above 3 is usually a bug.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CASE · KNIGHT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$440 million in 45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On 1 August 2012 Knight Capital pushed new software to eight servers. One server kept old test code. At the open it sent millions of unwanted orders. Knight lost $440 million before anyone stopped it, and the firm was sold within months.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The bug was not the strategy. It was a deploy with no kill switch and nobody watching the first minutes.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Every bot needs an off switch a human can reach.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exam line:</a:t>
            </a:r>
            <a:r>
              <a:rPr sz="1200" b="0">
                <a:solidFill>
                  <a:srgbClr val="FFFFFF"/>
                </a:solidFill>
              </a:rPr>
              <a:t>a backtest is a ceiling on what a rule can earn, never a promise.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a trading order&#10;&#10;Description automatically generated">
            <a:extLst>
              <a:ext uri="{FF2B5EF4-FFF2-40B4-BE49-F238E27FC236}">
                <a16:creationId xmlns:a16="http://schemas.microsoft.com/office/drawing/2014/main" id="{A0FEA185-2C12-D368-D847-D53C7C00C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09"/>
            <a:ext cx="12192000" cy="683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40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LIVE LAB IN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lab: one sentence in, a momentum backtest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We type one English sentence into Codex. Codex writes a plan, asks for approval, then builds and runs the backtest in front of the class.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1206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BRIEF WE TYPED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249424"/>
            <a:ext cx="4617720" cy="713232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322576"/>
            <a:ext cx="43434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F2145"/>
                </a:solidFill>
                <a:latin typeface="Georgia"/>
              </a:rPr>
              <a:t>“We want to run a Momentum strategy on last two year NSE data with a goal that we get monthly returns above 5%.”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7238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CODEX DID BEFORE WRITING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6499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</a:t>
            </a:r>
            <a:r>
              <a:rPr sz="950" b="0">
                <a:solidFill>
                  <a:srgbClr val="1B2A41"/>
                </a:solidFill>
              </a:rPr>
              <a:t>Checked the workspace and found no data or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9417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</a:t>
            </a:r>
            <a:r>
              <a:rPr sz="950" b="0">
                <a:solidFill>
                  <a:srgbClr val="1B2A41"/>
                </a:solidFill>
              </a:rPr>
              <a:t>Asked us three questions, then searched for NSE 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233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▪</a:t>
            </a:r>
            <a:r>
              <a:rPr sz="950" b="0">
                <a:solidFill>
                  <a:srgbClr val="1B2A41"/>
                </a:solidFill>
              </a:rPr>
              <a:t>Wrote a plan and asked “Implement this plan?” before touching a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773936"/>
            <a:ext cx="578815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PLAN CODEX WROTE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24942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267712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Download 36 months of NSE data: 12 to form the signal, 24 to test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267004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88336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At each month-end, rank the NIFTY 50 stocks by 12-1 momentum: the return from 12 months ago to one month ago.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309067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0896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Hold the top five at 20% each, long only, and trade at the next session's open.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351129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2958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Charge 25, 50 and 100 bps round trip, and compare each run to the NIFTY 50 total return.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9319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950207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B2A41"/>
                </a:solidFill>
              </a:rPr>
              <a:t>Write out holdings, turnover, trades, NAV and monthly returns. Halt on missing history instead of filling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572000"/>
            <a:ext cx="64008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681728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WHAT YOU DO IN CLASS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B2A41"/>
                </a:solidFill>
              </a:rPr>
              <a:t>Approve the plan. Read the monthly return table and count the months above 5%. Then read the same table at 25, 50 and 100 bps and see what costs take away.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4572000"/>
            <a:ext cx="578815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4572000"/>
            <a:ext cx="64008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681728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THE LESSON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1B2A41"/>
                </a:solidFill>
              </a:rPr>
              <a:t>Codex called 5% a month an aggressive target and treated it as a constraint to test, not a return to promise. That is the right habit. The goal was our sentence. Codex turned it into a loop of month-ends.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What you have at the end:</a:t>
            </a:r>
            <a:r>
              <a:rPr sz="1200" b="0">
                <a:solidFill>
                  <a:srgbClr val="FFFFFF"/>
                </a:solidFill>
              </a:rPr>
              <a:t>a backtest you wrote as one sentence, and a monthly table that says whether 5% a month was ever real.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LIVE TRADE ·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Why a live bot needs a broker API, not Yahoo 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YAHOO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Good for yesterday.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Yahoo's NSE quote runs about 15 minutes late, and the yfinance library scrapes a web page. There is no bid, no ask and no depth. Minute bars are patchy and unadjusted. It cannot place an order, and its terms allow personal viewing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Our Module 4 lab, a daily momentum backtest on two years of closes, runs on Yahoo data. For that job it is fine.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end-of-day work and homework.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BROKER API · UPSTOX OR ZERODHA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Price and order on one wire.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B2A41"/>
                </a:solidFill>
              </a:rPr>
              <a:t>Live ticks over a WebSocket, tens of milliseconds behind the exchange, with five levels of bid and ask. Official one-minute history, adjusted, back years. The bot places, modifies and cancels orders in the same session and logs the fill. The data is licensed.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An Upstox read-only token is free and needs no trading permission. Orders need a separate trading token, which we never switch on in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anything intraday or anything with a spread.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OPTION PREMIUMS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Yahoo has none for NSE.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32888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D6EE"/>
                </a:solidFill>
              </a:rPr>
              <a:t>No option chain, no premium, no futures and no open interest for any Indian contract. The broker API carries the live chain and one-minute premium history for expired contracts from October 2024. Before that, NSE's daily bhavcopy gives settlement premiums back years. Before 2019, nothing.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96849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059936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credit-spread bot cannot even see its own instrument on Yahoo. Every intraday options backtest we ran has a two-year window for this reason.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5604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Any options bot starts at the broker API.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split:</a:t>
            </a:r>
            <a:r>
              <a:rPr sz="1200" b="0">
                <a:solidFill>
                  <a:srgbClr val="FFFFFF"/>
                </a:solidFill>
              </a:rPr>
              <a:t>daily cash equities on Yahoo is fine. Anything intraday, any bid and ask, and any option premium needs the broker API or the NSE bhavcopy.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961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Reliance shows bid ₹2,950.00 and ask ₹2,950.50. What does a market buy pay, and what does a limit buy at ₹2,950.00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The market buy pays ₹2,950.50 now. The limit buy waits at ₹2,950.00 and may never fill.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76272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7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B2A41"/>
                </a:solidFill>
              </a:rPr>
              <a:t>Sort these into momentum, mean reversion or pairs: RSI, Bollinger Bands, cointegration.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00" b="0" dirty="0">
                <a:solidFill>
                  <a:srgbClr val="5D6B7E"/>
                </a:solidFill>
              </a:rPr>
              <a:t>RSI is momentum, Bollinger Bands are mean reversion, cointegration is pairs trading.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0779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7179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62656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a trading bot as a goal plus a loop for a 20-day breakout rule.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Goal: buy above the 20-day high, sell at +2% or −1%. Loop: each day fetch the close, check the rule, act, log, repeat.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3931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63931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9417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A rule wins 80% in-sample and 55% out-of-sample. What happened, and what do you report?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It was overfitted. Report the out-of-sample number, the costs and the drawdown, and do not trade it yet.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7083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37083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2569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Two rules both earn 18% a year. One had a 12% max drawdown, the other 40%. Which would you hold, and which number tells you?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The 12% one. Max drawdown is the worst fall an investor has to sit through: same return, a third of the pain.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1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102351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5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57215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What did Knight Capital's failure teach about deploying a bot, and what one control would have saved it?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The bug was a bad deploy on one server, not the strategy. A kill switch that a human can reach within minutes.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953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859536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2354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1440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 want to buy Infosys only if it dips to ₹1,500, and you will not chase it. Which order type, and what is the risk?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A limit buy at ₹1,500. It waits in the queue and may never fill if the price does not come 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9105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591056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55063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4592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1B2A41"/>
                </a:solidFill>
              </a:rPr>
              <a:t>You hold a stock at ₹800 and want out automatically if it falls to ₹760. Which order type, and what happens if it opens at ₹740 after a gap?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00" b="0" dirty="0">
                <a:solidFill>
                  <a:srgbClr val="5D6B7E"/>
                </a:solidFill>
              </a:rPr>
              <a:t>A stop-loss at ₹760. It becomes a market sell once ₹760 trades, so in a gap it fills near ₹740, not at ₹760.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32257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86583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77440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When would a trading bot send an IOC order instead of a limit order?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When it must not leave an order sitting in the book, such as near the close or in a fast move. IOC fills what it can now and cancels the 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5409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05409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1810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08959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Write the loop for a bot that trades a 20-day breakout on daily closes. List the steps in order and say what it logs.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After each close: fetch the 20-day high and today's close, check the rule, size the trade, place the order with its stop, log the signal and the fill, wait for tomorrow.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85615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785615"/>
            <a:ext cx="64008" cy="676656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8496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840479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B2A41"/>
                </a:solidFill>
              </a:rPr>
              <a:t>Your bot's loop runs every minute. What must sit in the loop before the order step so that Knight Capital cannot repeat?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00" b="0">
                <a:solidFill>
                  <a:srgbClr val="5D6B7E"/>
                </a:solidFill>
              </a:rPr>
              <a:t>A kill-switch check: a cap on orders per minute and a daily loss cap. If either trips, the loop stops sending and alerts a human.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70448"/>
            <a:ext cx="11091672" cy="51206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64008" cy="5120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Before Session 5:</a:t>
            </a:r>
            <a:r>
              <a:rPr sz="1100" b="0">
                <a:solidFill>
                  <a:srgbClr val="FFFFFF"/>
                </a:solidFill>
              </a:rPr>
              <a:t>write one trading rule in one sentence, and list the three numbers you would need before you trust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4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1666</Words>
  <Application>Microsoft Macintosh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3</cp:revision>
  <dcterms:created xsi:type="dcterms:W3CDTF">2013-01-27T09:14:16Z</dcterms:created>
  <dcterms:modified xsi:type="dcterms:W3CDTF">2026-09-05T00:48:03Z</dcterms:modified>
  <cp:category/>
</cp:coreProperties>
</file>