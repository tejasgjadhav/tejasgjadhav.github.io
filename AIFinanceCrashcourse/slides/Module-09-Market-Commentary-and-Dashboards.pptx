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AI IN FINANCE · THE COMPLETE CRASH COURSE · MODULE 9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9</a:t>
            </a:r>
          </a:p>
          <a:p>
            <a:pPr algn="l">
              <a:spcBef>
                <a:spcPts val="1000"/>
              </a:spcBef>
            </a:pPr>
            <a:r>
              <a:rPr sz="2100" b="0">
                <a:solidFill>
                  <a:srgbClr val="C9D6EE"/>
                </a:solidFill>
                <a:latin typeface="Georgia"/>
              </a:rPr>
              <a:t>Market Commentary and Valuation Dashboards</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AI in Finance: The Complete Crash Course</a:t>
            </a:r>
          </a:p>
          <a:p>
            <a:pPr algn="l">
              <a:spcBef>
                <a:spcPts val="300"/>
              </a:spcBef>
            </a:pPr>
            <a:r>
              <a:rPr sz="1200" b="1">
                <a:solidFill>
                  <a:srgbClr val="C9A227"/>
                </a:solidFill>
              </a:rPr>
              <a:t>tejasgjadhav.github.io/AIFinanceCrashcourse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One rule</a:t>
            </a:r>
          </a:p>
          <a:p>
            <a:pPr algn="l">
              <a:spcBef>
                <a:spcPts val="400"/>
              </a:spcBef>
            </a:pPr>
            <a:r>
              <a:rPr sz="1000" b="0">
                <a:solidFill>
                  <a:srgbClr val="8FA1C4"/>
                </a:solidFill>
              </a:rPr>
              <a:t>The arithmetic lives in Python.</a:t>
            </a:r>
          </a:p>
          <a:p>
            <a:pPr algn="l">
              <a:spcBef>
                <a:spcPts val="200"/>
              </a:spcBef>
            </a:pPr>
            <a:r>
              <a:rPr sz="1000" b="0">
                <a:solidFill>
                  <a:srgbClr val="8FA1C4"/>
                </a:solidFill>
              </a:rPr>
              <a:t>The model works on the words.</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One company</a:t>
            </a:r>
          </a:p>
          <a:p>
            <a:pPr algn="l">
              <a:spcBef>
                <a:spcPts val="400"/>
              </a:spcBef>
            </a:pPr>
            <a:r>
              <a:rPr sz="1000" b="0">
                <a:solidFill>
                  <a:srgbClr val="8FA1C4"/>
                </a:solidFill>
              </a:rPr>
              <a:t>Microsoft, priced on</a:t>
            </a:r>
          </a:p>
          <a:p>
            <a:pPr algn="l">
              <a:spcBef>
                <a:spcPts val="200"/>
              </a:spcBef>
            </a:pPr>
            <a:r>
              <a:rPr sz="1000" b="0">
                <a:solidFill>
                  <a:srgbClr val="8FA1C4"/>
                </a:solidFill>
              </a:rPr>
              <a:t>18 September 2026, with no</a:t>
            </a:r>
          </a:p>
          <a:p>
            <a:pPr algn="l">
              <a:spcBef>
                <a:spcPts val="200"/>
              </a:spcBef>
            </a:pPr>
            <a:r>
              <a:rPr sz="1000" b="0">
                <a:solidFill>
                  <a:srgbClr val="8FA1C4"/>
                </a:solidFill>
              </a:rPr>
              <a:t>API key and no paid data.</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1</a:t>
            </a:r>
          </a:p>
          <a:p>
            <a:pPr algn="l">
              <a:spcBef>
                <a:spcPts val="400"/>
              </a:spcBef>
            </a:pPr>
            <a:r>
              <a:rPr sz="900" b="0">
                <a:solidFill>
                  <a:srgbClr val="8FA1C4"/>
                </a:solidFill>
              </a:rPr>
              <a:t>DASHBOARD AND A MORNING</a:t>
            </a:r>
          </a:p>
          <a:p>
            <a:pPr algn="l">
              <a:spcBef>
                <a:spcPts val="200"/>
              </a:spcBef>
            </a:pPr>
            <a:r>
              <a:rPr sz="900" b="0">
                <a:solidFill>
                  <a:srgbClr val="8FA1C4"/>
                </a:solidFill>
              </a:rPr>
              <a:t>NOTE, BEFORE YOU LEAVE</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AI IN FINANCE · THE COMPLETE CRASH COURSE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9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The concepts</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 dashboard is a number, its history and a sentence</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one rule: the model never produces a number</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Three jobs an AI does with financial text</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 DCF in plain English, and comparables as the second opinion</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The architecture</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Five boxes: data, engine, prompt builder, model, page</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No arrow runs backwards</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daily job that rebuilds the page before the open</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design rule that catches a job which fails silently</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Run the engine on the console and read the DCF</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Write the prompt and get the three-paragraph note</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Find the paragraph the model got wrong, and fix the prompt</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Open the Streamlit page and move the sliders</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EVERYTHING TODAY IS FREE.</a:t>
            </a:r>
            <a:r>
              <a:rPr sz="1100" b="0">
                <a:solidFill>
                  <a:srgbClr val="1B2A41"/>
                </a:solidFill>
              </a:rPr>
              <a:t>yfinance for prices, EDGAR for filings, Streamlit for the page, and any assistant you already have for the note.</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a:t>
            </a:r>
            <a:r>
              <a:rPr sz="1200" b="0">
                <a:solidFill>
                  <a:srgbClr val="FFFFFF"/>
                </a:solidFill>
              </a:rPr>
              <a:t>compute the number in Python, hand it to the model, and let the model read rather than reason.</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ONE RULE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A dashboard is a number, its history and a sentence</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Most dashboards get the first two right and leave the third to the reader. The third is where a model earns its place, and where it does the most damage.</a:t>
            </a:r>
          </a:p>
        </p:txBody>
      </p:sp>
      <p:sp>
        <p:nvSpPr>
          <p:cNvPr id="6" name="Rectangle 5"/>
          <p:cNvSpPr/>
          <p:nvPr/>
        </p:nvSpPr>
        <p:spPr>
          <a:xfrm>
            <a:off x="548640" y="1828800"/>
            <a:ext cx="361188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03120"/>
            <a:ext cx="3099816" cy="274320"/>
          </a:xfrm>
          <a:prstGeom prst="rect">
            <a:avLst/>
          </a:prstGeom>
          <a:noFill/>
        </p:spPr>
        <p:txBody>
          <a:bodyPr wrap="square" anchor="t" lIns="0" rIns="0" tIns="0" bIns="0">
            <a:spAutoFit/>
          </a:bodyPr>
          <a:lstStyle/>
          <a:p>
            <a:pPr algn="l"/>
            <a:r>
              <a:rPr sz="950" b="1">
                <a:solidFill>
                  <a:srgbClr val="3A5C9E"/>
                </a:solidFill>
              </a:rPr>
              <a:t>PART ONE</a:t>
            </a:r>
          </a:p>
        </p:txBody>
      </p:sp>
      <p:sp>
        <p:nvSpPr>
          <p:cNvPr id="8" name="TextBox 7"/>
          <p:cNvSpPr txBox="1"/>
          <p:nvPr/>
        </p:nvSpPr>
        <p:spPr>
          <a:xfrm>
            <a:off x="804672" y="2432304"/>
            <a:ext cx="3099816" cy="411480"/>
          </a:xfrm>
          <a:prstGeom prst="rect">
            <a:avLst/>
          </a:prstGeom>
          <a:noFill/>
        </p:spPr>
        <p:txBody>
          <a:bodyPr wrap="square" anchor="t" lIns="0" rIns="0" tIns="0" bIns="0">
            <a:spAutoFit/>
          </a:bodyPr>
          <a:lstStyle/>
          <a:p>
            <a:pPr algn="l"/>
            <a:r>
              <a:rPr sz="1700" b="1">
                <a:solidFill>
                  <a:srgbClr val="0F2145"/>
                </a:solidFill>
                <a:latin typeface="Georgia"/>
              </a:rPr>
              <a:t>The number</a:t>
            </a:r>
          </a:p>
        </p:txBody>
      </p:sp>
      <p:sp>
        <p:nvSpPr>
          <p:cNvPr id="9" name="TextBox 8"/>
          <p:cNvSpPr txBox="1"/>
          <p:nvPr/>
        </p:nvSpPr>
        <p:spPr>
          <a:xfrm>
            <a:off x="804672" y="2962656"/>
            <a:ext cx="3099816"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Microsoft closed at $493.78, down 0.80% on the day</a:t>
            </a:r>
          </a:p>
        </p:txBody>
      </p:sp>
      <p:sp>
        <p:nvSpPr>
          <p:cNvPr id="10" name="TextBox 9"/>
          <p:cNvSpPr txBox="1"/>
          <p:nvPr/>
        </p:nvSpPr>
        <p:spPr>
          <a:xfrm>
            <a:off x="804672" y="3511296"/>
            <a:ext cx="3099816"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Computed in Python from a price the engine pulled</a:t>
            </a:r>
          </a:p>
        </p:txBody>
      </p:sp>
      <p:sp>
        <p:nvSpPr>
          <p:cNvPr id="11" name="TextBox 10"/>
          <p:cNvSpPr txBox="1"/>
          <p:nvPr/>
        </p:nvSpPr>
        <p:spPr>
          <a:xfrm>
            <a:off x="804672" y="4059936"/>
            <a:ext cx="3099816"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It is checkable, and a reader can reproduce it</a:t>
            </a:r>
          </a:p>
        </p:txBody>
      </p:sp>
      <p:sp>
        <p:nvSpPr>
          <p:cNvPr id="12" name="Rectangle 11"/>
          <p:cNvSpPr/>
          <p:nvPr/>
        </p:nvSpPr>
        <p:spPr>
          <a:xfrm>
            <a:off x="548640" y="182880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361188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103120"/>
            <a:ext cx="3099816" cy="274320"/>
          </a:xfrm>
          <a:prstGeom prst="rect">
            <a:avLst/>
          </a:prstGeom>
          <a:noFill/>
        </p:spPr>
        <p:txBody>
          <a:bodyPr wrap="square" anchor="t" lIns="0" rIns="0" tIns="0" bIns="0">
            <a:spAutoFit/>
          </a:bodyPr>
          <a:lstStyle/>
          <a:p>
            <a:pPr algn="l"/>
            <a:r>
              <a:rPr sz="950" b="1">
                <a:solidFill>
                  <a:srgbClr val="3A5C9E"/>
                </a:solidFill>
              </a:rPr>
              <a:t>PART TWO</a:t>
            </a:r>
          </a:p>
        </p:txBody>
      </p:sp>
      <p:sp>
        <p:nvSpPr>
          <p:cNvPr id="15" name="TextBox 14"/>
          <p:cNvSpPr txBox="1"/>
          <p:nvPr/>
        </p:nvSpPr>
        <p:spPr>
          <a:xfrm>
            <a:off x="4572000" y="2432304"/>
            <a:ext cx="3099816" cy="411480"/>
          </a:xfrm>
          <a:prstGeom prst="rect">
            <a:avLst/>
          </a:prstGeom>
          <a:noFill/>
        </p:spPr>
        <p:txBody>
          <a:bodyPr wrap="square" anchor="t" lIns="0" rIns="0" tIns="0" bIns="0">
            <a:spAutoFit/>
          </a:bodyPr>
          <a:lstStyle/>
          <a:p>
            <a:pPr algn="l"/>
            <a:r>
              <a:rPr sz="1700" b="1">
                <a:solidFill>
                  <a:srgbClr val="0F2145"/>
                </a:solidFill>
                <a:latin typeface="Georgia"/>
              </a:rPr>
              <a:t>Where it has been</a:t>
            </a:r>
          </a:p>
        </p:txBody>
      </p:sp>
      <p:sp>
        <p:nvSpPr>
          <p:cNvPr id="16" name="TextBox 15"/>
          <p:cNvSpPr txBox="1"/>
          <p:nvPr/>
        </p:nvSpPr>
        <p:spPr>
          <a:xfrm>
            <a:off x="4572000" y="2962656"/>
            <a:ext cx="3099816"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last year of closes as a line, and the 52-week range</a:t>
            </a:r>
          </a:p>
        </p:txBody>
      </p:sp>
      <p:sp>
        <p:nvSpPr>
          <p:cNvPr id="17" name="TextBox 16"/>
          <p:cNvSpPr txBox="1"/>
          <p:nvPr/>
        </p:nvSpPr>
        <p:spPr>
          <a:xfrm>
            <a:off x="4572000" y="3511296"/>
            <a:ext cx="3099816"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$352.17 to $537.65, on a closing basis</a:t>
            </a:r>
          </a:p>
        </p:txBody>
      </p:sp>
      <p:sp>
        <p:nvSpPr>
          <p:cNvPr id="18" name="TextBox 17"/>
          <p:cNvSpPr txBox="1"/>
          <p:nvPr/>
        </p:nvSpPr>
        <p:spPr>
          <a:xfrm>
            <a:off x="4572000" y="4059936"/>
            <a:ext cx="3099816"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Also computed in Python, from the same series</a:t>
            </a:r>
          </a:p>
        </p:txBody>
      </p:sp>
      <p:sp>
        <p:nvSpPr>
          <p:cNvPr id="19" name="Rectangle 18"/>
          <p:cNvSpPr/>
          <p:nvPr/>
        </p:nvSpPr>
        <p:spPr>
          <a:xfrm>
            <a:off x="4315968" y="182880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1828800"/>
            <a:ext cx="3557016" cy="21945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2103120"/>
            <a:ext cx="3044952" cy="274320"/>
          </a:xfrm>
          <a:prstGeom prst="rect">
            <a:avLst/>
          </a:prstGeom>
          <a:noFill/>
        </p:spPr>
        <p:txBody>
          <a:bodyPr wrap="square" anchor="t" lIns="0" rIns="0" tIns="0" bIns="0">
            <a:spAutoFit/>
          </a:bodyPr>
          <a:lstStyle/>
          <a:p>
            <a:pPr algn="l"/>
            <a:r>
              <a:rPr sz="950" b="1">
                <a:solidFill>
                  <a:srgbClr val="C9A227"/>
                </a:solidFill>
              </a:rPr>
              <a:t>PART THREE</a:t>
            </a:r>
          </a:p>
        </p:txBody>
      </p:sp>
      <p:sp>
        <p:nvSpPr>
          <p:cNvPr id="22" name="TextBox 21"/>
          <p:cNvSpPr txBox="1"/>
          <p:nvPr/>
        </p:nvSpPr>
        <p:spPr>
          <a:xfrm>
            <a:off x="8339327" y="2432304"/>
            <a:ext cx="3044952" cy="411480"/>
          </a:xfrm>
          <a:prstGeom prst="rect">
            <a:avLst/>
          </a:prstGeom>
          <a:noFill/>
        </p:spPr>
        <p:txBody>
          <a:bodyPr wrap="square" anchor="t" lIns="0" rIns="0" tIns="0" bIns="0">
            <a:spAutoFit/>
          </a:bodyPr>
          <a:lstStyle/>
          <a:p>
            <a:pPr algn="l"/>
            <a:r>
              <a:rPr sz="1700" b="1">
                <a:solidFill>
                  <a:srgbClr val="FFFFFF"/>
                </a:solidFill>
                <a:latin typeface="Georgia"/>
              </a:rPr>
              <a:t>What it means today</a:t>
            </a:r>
          </a:p>
        </p:txBody>
      </p:sp>
      <p:sp>
        <p:nvSpPr>
          <p:cNvPr id="23" name="TextBox 22"/>
          <p:cNvSpPr txBox="1"/>
          <p:nvPr/>
        </p:nvSpPr>
        <p:spPr>
          <a:xfrm>
            <a:off x="8339327" y="2962656"/>
            <a:ext cx="3044952"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One paragraph that says whether anything changed</a:t>
            </a:r>
          </a:p>
        </p:txBody>
      </p:sp>
      <p:sp>
        <p:nvSpPr>
          <p:cNvPr id="24" name="TextBox 23"/>
          <p:cNvSpPr txBox="1"/>
          <p:nvPr/>
        </p:nvSpPr>
        <p:spPr>
          <a:xfrm>
            <a:off x="8339327" y="3511296"/>
            <a:ext cx="3044952"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This is the morning note, and it is the model's only job</a:t>
            </a:r>
          </a:p>
        </p:txBody>
      </p:sp>
      <p:sp>
        <p:nvSpPr>
          <p:cNvPr id="25" name="TextBox 24"/>
          <p:cNvSpPr txBox="1"/>
          <p:nvPr/>
        </p:nvSpPr>
        <p:spPr>
          <a:xfrm>
            <a:off x="8339327" y="4059936"/>
            <a:ext cx="3044952" cy="530352"/>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Writing it every day for twenty names used to take an analyst until mid-morning</a:t>
            </a:r>
          </a:p>
        </p:txBody>
      </p:sp>
      <p:sp>
        <p:nvSpPr>
          <p:cNvPr id="26" name="Rectangle 25"/>
          <p:cNvSpPr/>
          <p:nvPr/>
        </p:nvSpPr>
        <p:spPr>
          <a:xfrm>
            <a:off x="548640" y="4169663"/>
            <a:ext cx="11091672" cy="13716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169663"/>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334256"/>
            <a:ext cx="10515600" cy="1097280"/>
          </a:xfrm>
          <a:prstGeom prst="rect">
            <a:avLst/>
          </a:prstGeom>
          <a:noFill/>
        </p:spPr>
        <p:txBody>
          <a:bodyPr wrap="square" anchor="t" lIns="0" rIns="0" tIns="0" bIns="0">
            <a:spAutoFit/>
          </a:bodyPr>
          <a:lstStyle/>
          <a:p>
            <a:pPr algn="l"/>
            <a:r>
              <a:rPr sz="1000" b="1">
                <a:solidFill>
                  <a:srgbClr val="C9A227"/>
                </a:solidFill>
              </a:rPr>
              <a:t>THE ONE RULE OF THIS CHAPTER</a:t>
            </a:r>
          </a:p>
          <a:p>
            <a:pPr algn="l">
              <a:spcBef>
                <a:spcPts val="500"/>
              </a:spcBef>
            </a:pPr>
            <a:r>
              <a:rPr sz="1500" b="1">
                <a:solidFill>
                  <a:srgbClr val="FFFFFF"/>
                </a:solidFill>
                <a:latin typeface="Georgia"/>
              </a:rPr>
              <a:t>The arithmetic lives in Python. The model works on the words.</a:t>
            </a:r>
          </a:p>
          <a:p>
            <a:pPr algn="l">
              <a:spcBef>
                <a:spcPts val="500"/>
              </a:spcBef>
            </a:pPr>
            <a:r>
              <a:rPr sz="1100" b="0">
                <a:solidFill>
                  <a:srgbClr val="C9D6EE"/>
                </a:solidFill>
              </a:rPr>
              <a:t>A language model can write a fluent paragraph about a valuation. It cannot be trusted to compute the valuation, and it cannot be trusted to rank which assumption matters most by reasoning about it in prose. You will watch it get exactly that wrong in Hour 3, on a real run, with the engine's own numbers sitting next to it.</a:t>
            </a:r>
          </a:p>
        </p:txBody>
      </p:sp>
      <p:sp>
        <p:nvSpPr>
          <p:cNvPr id="29" name="TextBox 28"/>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0" name="TextBox 29"/>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THREE JOBS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an AI actually does with financial text</a:t>
            </a:r>
          </a:p>
        </p:txBody>
      </p:sp>
      <p:sp>
        <p:nvSpPr>
          <p:cNvPr id="5" name="Rectangle 4"/>
          <p:cNvSpPr/>
          <p:nvPr/>
        </p:nvSpPr>
        <p:spPr>
          <a:xfrm>
            <a:off x="548640" y="1554480"/>
            <a:ext cx="3611880" cy="3566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828800"/>
            <a:ext cx="3099816" cy="274320"/>
          </a:xfrm>
          <a:prstGeom prst="rect">
            <a:avLst/>
          </a:prstGeom>
          <a:noFill/>
        </p:spPr>
        <p:txBody>
          <a:bodyPr wrap="square" anchor="t" lIns="0" rIns="0" tIns="0" bIns="0">
            <a:spAutoFit/>
          </a:bodyPr>
          <a:lstStyle/>
          <a:p>
            <a:pPr algn="l"/>
            <a:r>
              <a:rPr sz="950" b="1">
                <a:solidFill>
                  <a:srgbClr val="3A5C9E"/>
                </a:solidFill>
              </a:rPr>
              <a:t>JOB ONE</a:t>
            </a:r>
          </a:p>
        </p:txBody>
      </p:sp>
      <p:sp>
        <p:nvSpPr>
          <p:cNvPr id="7" name="TextBox 6"/>
          <p:cNvSpPr txBox="1"/>
          <p:nvPr/>
        </p:nvSpPr>
        <p:spPr>
          <a:xfrm>
            <a:off x="804672"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Scoring</a:t>
            </a:r>
          </a:p>
        </p:txBody>
      </p:sp>
      <p:sp>
        <p:nvSpPr>
          <p:cNvPr id="8" name="TextBox 7"/>
          <p:cNvSpPr txBox="1"/>
          <p:nvPr/>
        </p:nvSpPr>
        <p:spPr>
          <a:xfrm>
            <a:off x="804672" y="2743200"/>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model reads a sentence from an earnings call and labels it positive, negative or neutral</a:t>
            </a:r>
          </a:p>
        </p:txBody>
      </p:sp>
      <p:sp>
        <p:nvSpPr>
          <p:cNvPr id="9" name="TextBox 8"/>
          <p:cNvSpPr txBox="1"/>
          <p:nvPr/>
        </p:nvSpPr>
        <p:spPr>
          <a:xfrm>
            <a:off x="804672" y="3310128"/>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FinBERT, published by Yang and co-authors in 2020, is BERT trained on financial text for this task</a:t>
            </a:r>
          </a:p>
        </p:txBody>
      </p:sp>
      <p:sp>
        <p:nvSpPr>
          <p:cNvPr id="10" name="TextBox 9"/>
          <p:cNvSpPr txBox="1"/>
          <p:nvPr/>
        </p:nvSpPr>
        <p:spPr>
          <a:xfrm>
            <a:off x="804672" y="3877056"/>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Free from Hugging Face, and it runs on a laptop</a:t>
            </a:r>
          </a:p>
        </p:txBody>
      </p:sp>
      <p:sp>
        <p:nvSpPr>
          <p:cNvPr id="11" name="TextBox 10"/>
          <p:cNvSpPr txBox="1"/>
          <p:nvPr/>
        </p:nvSpPr>
        <p:spPr>
          <a:xfrm>
            <a:off x="804672" y="4443983"/>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It reads at most 512 tokens, so split the transcript into sentences first</a:t>
            </a:r>
          </a:p>
        </p:txBody>
      </p:sp>
      <p:sp>
        <p:nvSpPr>
          <p:cNvPr id="12" name="Rectangle 11"/>
          <p:cNvSpPr/>
          <p:nvPr/>
        </p:nvSpPr>
        <p:spPr>
          <a:xfrm>
            <a:off x="548640"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554480"/>
            <a:ext cx="3611880" cy="3566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828800"/>
            <a:ext cx="3099816" cy="274320"/>
          </a:xfrm>
          <a:prstGeom prst="rect">
            <a:avLst/>
          </a:prstGeom>
          <a:noFill/>
        </p:spPr>
        <p:txBody>
          <a:bodyPr wrap="square" anchor="t" lIns="0" rIns="0" tIns="0" bIns="0">
            <a:spAutoFit/>
          </a:bodyPr>
          <a:lstStyle/>
          <a:p>
            <a:pPr algn="l"/>
            <a:r>
              <a:rPr sz="950" b="1">
                <a:solidFill>
                  <a:srgbClr val="3A5C9E"/>
                </a:solidFill>
              </a:rPr>
              <a:t>JOB TWO</a:t>
            </a:r>
          </a:p>
        </p:txBody>
      </p:sp>
      <p:sp>
        <p:nvSpPr>
          <p:cNvPr id="15" name="TextBox 14"/>
          <p:cNvSpPr txBox="1"/>
          <p:nvPr/>
        </p:nvSpPr>
        <p:spPr>
          <a:xfrm>
            <a:off x="4572000"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Summarising</a:t>
            </a:r>
          </a:p>
        </p:txBody>
      </p:sp>
      <p:sp>
        <p:nvSpPr>
          <p:cNvPr id="16" name="TextBox 15"/>
          <p:cNvSpPr txBox="1"/>
          <p:nvPr/>
        </p:nvSpPr>
        <p:spPr>
          <a:xfrm>
            <a:off x="4572000" y="2743200"/>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model reads a transcript or an 8-K and compresses it</a:t>
            </a:r>
          </a:p>
        </p:txBody>
      </p:sp>
      <p:sp>
        <p:nvSpPr>
          <p:cNvPr id="17" name="TextBox 16"/>
          <p:cNvSpPr txBox="1"/>
          <p:nvPr/>
        </p:nvSpPr>
        <p:spPr>
          <a:xfrm>
            <a:off x="4572000" y="3310128"/>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large vendors ship this on their terminals now</a:t>
            </a:r>
          </a:p>
        </p:txBody>
      </p:sp>
      <p:sp>
        <p:nvSpPr>
          <p:cNvPr id="18" name="TextBox 17"/>
          <p:cNvSpPr txBox="1"/>
          <p:nvPr/>
        </p:nvSpPr>
        <p:spPr>
          <a:xfrm>
            <a:off x="4572000" y="3877056"/>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thing to copy is not the summary. It is the link back to the passage</a:t>
            </a:r>
          </a:p>
        </p:txBody>
      </p:sp>
      <p:sp>
        <p:nvSpPr>
          <p:cNvPr id="19" name="TextBox 18"/>
          <p:cNvSpPr txBox="1"/>
          <p:nvPr/>
        </p:nvSpPr>
        <p:spPr>
          <a:xfrm>
            <a:off x="4572000" y="4443983"/>
            <a:ext cx="3099816" cy="54864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summary without a link back to its source is an opinion</a:t>
            </a:r>
          </a:p>
        </p:txBody>
      </p:sp>
      <p:sp>
        <p:nvSpPr>
          <p:cNvPr id="20" name="Rectangle 19"/>
          <p:cNvSpPr/>
          <p:nvPr/>
        </p:nvSpPr>
        <p:spPr>
          <a:xfrm>
            <a:off x="4315968"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3296" y="1554480"/>
            <a:ext cx="3557016" cy="35661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1828800"/>
            <a:ext cx="3044952" cy="274320"/>
          </a:xfrm>
          <a:prstGeom prst="rect">
            <a:avLst/>
          </a:prstGeom>
          <a:noFill/>
        </p:spPr>
        <p:txBody>
          <a:bodyPr wrap="square" anchor="t" lIns="0" rIns="0" tIns="0" bIns="0">
            <a:spAutoFit/>
          </a:bodyPr>
          <a:lstStyle/>
          <a:p>
            <a:pPr algn="l"/>
            <a:r>
              <a:rPr sz="950" b="1">
                <a:solidFill>
                  <a:srgbClr val="C9A227"/>
                </a:solidFill>
              </a:rPr>
              <a:t>JOB THREE</a:t>
            </a:r>
          </a:p>
        </p:txBody>
      </p:sp>
      <p:sp>
        <p:nvSpPr>
          <p:cNvPr id="23" name="TextBox 22"/>
          <p:cNvSpPr txBox="1"/>
          <p:nvPr/>
        </p:nvSpPr>
        <p:spPr>
          <a:xfrm>
            <a:off x="8339327" y="2157984"/>
            <a:ext cx="3044952" cy="411480"/>
          </a:xfrm>
          <a:prstGeom prst="rect">
            <a:avLst/>
          </a:prstGeom>
          <a:noFill/>
        </p:spPr>
        <p:txBody>
          <a:bodyPr wrap="square" anchor="t" lIns="0" rIns="0" tIns="0" bIns="0">
            <a:spAutoFit/>
          </a:bodyPr>
          <a:lstStyle/>
          <a:p>
            <a:pPr algn="l"/>
            <a:r>
              <a:rPr sz="1700" b="1">
                <a:solidFill>
                  <a:srgbClr val="FFFFFF"/>
                </a:solidFill>
                <a:latin typeface="Georgia"/>
              </a:rPr>
              <a:t>Commentary</a:t>
            </a:r>
          </a:p>
        </p:txBody>
      </p:sp>
      <p:sp>
        <p:nvSpPr>
          <p:cNvPr id="24" name="TextBox 23"/>
          <p:cNvSpPr txBox="1"/>
          <p:nvPr/>
        </p:nvSpPr>
        <p:spPr>
          <a:xfrm>
            <a:off x="8339327" y="2743200"/>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A model takes computed numbers and writes the paragraph a human would have written</a:t>
            </a:r>
          </a:p>
        </p:txBody>
      </p:sp>
      <p:sp>
        <p:nvSpPr>
          <p:cNvPr id="25" name="TextBox 24"/>
          <p:cNvSpPr txBox="1"/>
          <p:nvPr/>
        </p:nvSpPr>
        <p:spPr>
          <a:xfrm>
            <a:off x="8339327" y="3310128"/>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This is the job the lab does</a:t>
            </a:r>
          </a:p>
        </p:txBody>
      </p:sp>
      <p:sp>
        <p:nvSpPr>
          <p:cNvPr id="26" name="TextBox 25"/>
          <p:cNvSpPr txBox="1"/>
          <p:nvPr/>
        </p:nvSpPr>
        <p:spPr>
          <a:xfrm>
            <a:off x="8339327" y="3877056"/>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It is the easiest of the three to get right, because the inputs are already numbers</a:t>
            </a:r>
          </a:p>
        </p:txBody>
      </p:sp>
      <p:sp>
        <p:nvSpPr>
          <p:cNvPr id="27" name="TextBox 26"/>
          <p:cNvSpPr txBox="1"/>
          <p:nvPr/>
        </p:nvSpPr>
        <p:spPr>
          <a:xfrm>
            <a:off x="8339327" y="4443983"/>
            <a:ext cx="3044952" cy="54864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It is the hardest to keep right, because a fluent paragraph is the perfect hiding place for a wrong claim</a:t>
            </a:r>
          </a:p>
        </p:txBody>
      </p:sp>
      <p:sp>
        <p:nvSpPr>
          <p:cNvPr id="28" name="Rectangle 27"/>
          <p:cNvSpPr/>
          <p:nvPr/>
        </p:nvSpPr>
        <p:spPr>
          <a:xfrm>
            <a:off x="548640" y="5120640"/>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0640"/>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248655"/>
            <a:ext cx="10515600" cy="384048"/>
          </a:xfrm>
          <a:prstGeom prst="rect">
            <a:avLst/>
          </a:prstGeom>
          <a:noFill/>
        </p:spPr>
        <p:txBody>
          <a:bodyPr wrap="square" anchor="t" lIns="0" rIns="0" tIns="0" bIns="0">
            <a:spAutoFit/>
          </a:bodyPr>
          <a:lstStyle/>
          <a:p>
            <a:pPr algn="l"/>
            <a:r>
              <a:rPr sz="950" b="1">
                <a:solidFill>
                  <a:srgbClr val="3A5C9E"/>
                </a:solidFill>
              </a:rPr>
              <a:t>A MORNING NOTE IS SHORT</a:t>
            </a:r>
          </a:p>
          <a:p>
            <a:pPr algn="l">
              <a:spcBef>
                <a:spcPts val="400"/>
              </a:spcBef>
            </a:pPr>
            <a:r>
              <a:rPr sz="1100" b="0">
                <a:solidFill>
                  <a:srgbClr val="1B2A41"/>
                </a:solidFill>
              </a:rPr>
              <a:t>It says what the price did, where it sits against its own history, what the view is, and what would change it. Then a disclaimer.</a:t>
            </a:r>
          </a:p>
        </p:txBody>
      </p:sp>
      <p:sp>
        <p:nvSpPr>
          <p:cNvPr id="31" name="Rectangle 30"/>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output of scoring is a number:</a:t>
            </a:r>
            <a:r>
              <a:rPr sz="1200" b="0">
                <a:solidFill>
                  <a:srgbClr val="FFFFFF"/>
                </a:solidFill>
              </a:rPr>
              <a:t>that number can feed a signal, which is the only one of the three jobs that reaches a trading decision.</a:t>
            </a:r>
          </a:p>
        </p:txBody>
      </p:sp>
      <p:sp>
        <p:nvSpPr>
          <p:cNvPr id="34" name="TextBox 33"/>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5" name="TextBox 34"/>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VALUATION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Four inputs, one multiplication, three consequences</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A discounted cash flow answers one question. If a business will produce these cash flows, what are they worth today?</a:t>
            </a:r>
          </a:p>
        </p:txBody>
      </p:sp>
      <p:sp>
        <p:nvSpPr>
          <p:cNvPr id="6" name="Rectangle 5"/>
          <p:cNvSpPr/>
          <p:nvPr/>
        </p:nvSpPr>
        <p:spPr>
          <a:xfrm>
            <a:off x="548640" y="1810512"/>
            <a:ext cx="26609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38528"/>
            <a:ext cx="2258568" cy="274320"/>
          </a:xfrm>
          <a:prstGeom prst="rect">
            <a:avLst/>
          </a:prstGeom>
          <a:noFill/>
        </p:spPr>
        <p:txBody>
          <a:bodyPr wrap="square" anchor="t" lIns="0" rIns="0" tIns="0" bIns="0">
            <a:spAutoFit/>
          </a:bodyPr>
          <a:lstStyle/>
          <a:p>
            <a:pPr algn="l"/>
            <a:r>
              <a:rPr sz="950" b="1">
                <a:solidFill>
                  <a:srgbClr val="3A5C9E"/>
                </a:solidFill>
              </a:rPr>
              <a:t>Base cash flow</a:t>
            </a:r>
          </a:p>
        </p:txBody>
      </p:sp>
      <p:sp>
        <p:nvSpPr>
          <p:cNvPr id="9" name="TextBox 8"/>
          <p:cNvSpPr txBox="1"/>
          <p:nvPr/>
        </p:nvSpPr>
        <p:spPr>
          <a:xfrm>
            <a:off x="749808" y="2212848"/>
            <a:ext cx="2258568" cy="347472"/>
          </a:xfrm>
          <a:prstGeom prst="rect">
            <a:avLst/>
          </a:prstGeom>
          <a:noFill/>
        </p:spPr>
        <p:txBody>
          <a:bodyPr wrap="square" anchor="t" lIns="0" rIns="0" tIns="0" bIns="0">
            <a:spAutoFit/>
          </a:bodyPr>
          <a:lstStyle/>
          <a:p>
            <a:pPr algn="l"/>
            <a:r>
              <a:rPr sz="1700" b="1">
                <a:solidFill>
                  <a:srgbClr val="0F2145"/>
                </a:solidFill>
                <a:latin typeface="Georgia"/>
              </a:rPr>
              <a:t>$67.0bn</a:t>
            </a:r>
          </a:p>
        </p:txBody>
      </p:sp>
      <p:sp>
        <p:nvSpPr>
          <p:cNvPr id="10" name="Rectangle 9"/>
          <p:cNvSpPr/>
          <p:nvPr/>
        </p:nvSpPr>
        <p:spPr>
          <a:xfrm>
            <a:off x="3364992" y="1810512"/>
            <a:ext cx="26609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4992" y="1810512"/>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938528"/>
            <a:ext cx="2258568" cy="274320"/>
          </a:xfrm>
          <a:prstGeom prst="rect">
            <a:avLst/>
          </a:prstGeom>
          <a:noFill/>
        </p:spPr>
        <p:txBody>
          <a:bodyPr wrap="square" anchor="t" lIns="0" rIns="0" tIns="0" bIns="0">
            <a:spAutoFit/>
          </a:bodyPr>
          <a:lstStyle/>
          <a:p>
            <a:pPr algn="l"/>
            <a:r>
              <a:rPr sz="950" b="1">
                <a:solidFill>
                  <a:srgbClr val="3A5C9E"/>
                </a:solidFill>
              </a:rPr>
              <a:t>Growth, years 1-5</a:t>
            </a:r>
          </a:p>
        </p:txBody>
      </p:sp>
      <p:sp>
        <p:nvSpPr>
          <p:cNvPr id="13" name="TextBox 12"/>
          <p:cNvSpPr txBox="1"/>
          <p:nvPr/>
        </p:nvSpPr>
        <p:spPr>
          <a:xfrm>
            <a:off x="3566160" y="2212848"/>
            <a:ext cx="2258568" cy="347472"/>
          </a:xfrm>
          <a:prstGeom prst="rect">
            <a:avLst/>
          </a:prstGeom>
          <a:noFill/>
        </p:spPr>
        <p:txBody>
          <a:bodyPr wrap="square" anchor="t" lIns="0" rIns="0" tIns="0" bIns="0">
            <a:spAutoFit/>
          </a:bodyPr>
          <a:lstStyle/>
          <a:p>
            <a:pPr algn="l"/>
            <a:r>
              <a:rPr sz="1700" b="1">
                <a:solidFill>
                  <a:srgbClr val="0F2145"/>
                </a:solidFill>
                <a:latin typeface="Georgia"/>
              </a:rPr>
              <a:t>8%</a:t>
            </a:r>
          </a:p>
        </p:txBody>
      </p:sp>
      <p:sp>
        <p:nvSpPr>
          <p:cNvPr id="14" name="Rectangle 13"/>
          <p:cNvSpPr/>
          <p:nvPr/>
        </p:nvSpPr>
        <p:spPr>
          <a:xfrm>
            <a:off x="6181344" y="1810512"/>
            <a:ext cx="266090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810512"/>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2258568" cy="274320"/>
          </a:xfrm>
          <a:prstGeom prst="rect">
            <a:avLst/>
          </a:prstGeom>
          <a:noFill/>
        </p:spPr>
        <p:txBody>
          <a:bodyPr wrap="square" anchor="t" lIns="0" rIns="0" tIns="0" bIns="0">
            <a:spAutoFit/>
          </a:bodyPr>
          <a:lstStyle/>
          <a:p>
            <a:pPr algn="l"/>
            <a:r>
              <a:rPr sz="950" b="1">
                <a:solidFill>
                  <a:srgbClr val="3A5C9E"/>
                </a:solidFill>
              </a:rPr>
              <a:t>Discount rate</a:t>
            </a:r>
          </a:p>
        </p:txBody>
      </p:sp>
      <p:sp>
        <p:nvSpPr>
          <p:cNvPr id="17" name="TextBox 16"/>
          <p:cNvSpPr txBox="1"/>
          <p:nvPr/>
        </p:nvSpPr>
        <p:spPr>
          <a:xfrm>
            <a:off x="6382512" y="2212848"/>
            <a:ext cx="2258568" cy="347472"/>
          </a:xfrm>
          <a:prstGeom prst="rect">
            <a:avLst/>
          </a:prstGeom>
          <a:noFill/>
        </p:spPr>
        <p:txBody>
          <a:bodyPr wrap="square" anchor="t" lIns="0" rIns="0" tIns="0" bIns="0">
            <a:spAutoFit/>
          </a:bodyPr>
          <a:lstStyle/>
          <a:p>
            <a:pPr algn="l"/>
            <a:r>
              <a:rPr sz="1700" b="1">
                <a:solidFill>
                  <a:srgbClr val="0F2145"/>
                </a:solidFill>
                <a:latin typeface="Georgia"/>
              </a:rPr>
              <a:t>9%</a:t>
            </a:r>
          </a:p>
        </p:txBody>
      </p:sp>
      <p:sp>
        <p:nvSpPr>
          <p:cNvPr id="18" name="Rectangle 17"/>
          <p:cNvSpPr/>
          <p:nvPr/>
        </p:nvSpPr>
        <p:spPr>
          <a:xfrm>
            <a:off x="8997696" y="1810512"/>
            <a:ext cx="2642616"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97696" y="1810512"/>
            <a:ext cx="264261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8864" y="1938528"/>
            <a:ext cx="2240280" cy="274320"/>
          </a:xfrm>
          <a:prstGeom prst="rect">
            <a:avLst/>
          </a:prstGeom>
          <a:noFill/>
        </p:spPr>
        <p:txBody>
          <a:bodyPr wrap="square" anchor="t" lIns="0" rIns="0" tIns="0" bIns="0">
            <a:spAutoFit/>
          </a:bodyPr>
          <a:lstStyle/>
          <a:p>
            <a:pPr algn="l"/>
            <a:r>
              <a:rPr sz="950" b="1">
                <a:solidFill>
                  <a:srgbClr val="3A5C9E"/>
                </a:solidFill>
              </a:rPr>
              <a:t>Terminal growth</a:t>
            </a:r>
          </a:p>
        </p:txBody>
      </p:sp>
      <p:sp>
        <p:nvSpPr>
          <p:cNvPr id="21" name="TextBox 20"/>
          <p:cNvSpPr txBox="1"/>
          <p:nvPr/>
        </p:nvSpPr>
        <p:spPr>
          <a:xfrm>
            <a:off x="9198864" y="2212848"/>
            <a:ext cx="2240280" cy="347472"/>
          </a:xfrm>
          <a:prstGeom prst="rect">
            <a:avLst/>
          </a:prstGeom>
          <a:noFill/>
        </p:spPr>
        <p:txBody>
          <a:bodyPr wrap="square" anchor="t" lIns="0" rIns="0" tIns="0" bIns="0">
            <a:spAutoFit/>
          </a:bodyPr>
          <a:lstStyle/>
          <a:p>
            <a:pPr algn="l"/>
            <a:r>
              <a:rPr sz="1700" b="1">
                <a:solidFill>
                  <a:srgbClr val="0F2145"/>
                </a:solidFill>
                <a:latin typeface="Georgia"/>
              </a:rPr>
              <a:t>2.5%</a:t>
            </a:r>
          </a:p>
        </p:txBody>
      </p:sp>
      <p:sp>
        <p:nvSpPr>
          <p:cNvPr id="22" name="Rectangle 21"/>
          <p:cNvSpPr/>
          <p:nvPr/>
        </p:nvSpPr>
        <p:spPr>
          <a:xfrm>
            <a:off x="548640" y="2761488"/>
            <a:ext cx="11091672" cy="658368"/>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2761488"/>
            <a:ext cx="64008" cy="6583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761488"/>
            <a:ext cx="10515600" cy="658368"/>
          </a:xfrm>
          <a:prstGeom prst="rect">
            <a:avLst/>
          </a:prstGeom>
          <a:noFill/>
        </p:spPr>
        <p:txBody>
          <a:bodyPr wrap="square" anchor="ctr" lIns="0" rIns="0" tIns="0" bIns="0">
            <a:spAutoFit/>
          </a:bodyPr>
          <a:lstStyle/>
          <a:p>
            <a:pPr algn="l"/>
            <a:r>
              <a:rPr sz="1350" b="1">
                <a:solidFill>
                  <a:srgbClr val="FFFFFF"/>
                </a:solidFill>
                <a:latin typeface="Georgia"/>
              </a:rPr>
              <a:t>NEXT YEAR'S CASH FLOW  =  THIS YEAR'S  ×  (1 + GROWTH)</a:t>
            </a:r>
            <a:r>
              <a:rPr sz="1400" b="1">
                <a:solidFill>
                  <a:srgbClr val="C9A227"/>
                </a:solidFill>
                <a:latin typeface="Georgia"/>
              </a:rPr>
              <a:t>$67.0bn at 8%  →  $72.3bn</a:t>
            </a:r>
          </a:p>
        </p:txBody>
      </p:sp>
      <p:sp>
        <p:nvSpPr>
          <p:cNvPr id="25" name="Rectangle 24"/>
          <p:cNvSpPr/>
          <p:nvPr/>
        </p:nvSpPr>
        <p:spPr>
          <a:xfrm>
            <a:off x="548640" y="3584448"/>
            <a:ext cx="3611880" cy="1700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584448"/>
            <a:ext cx="54864" cy="170078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3767328"/>
            <a:ext cx="3099816" cy="548640"/>
          </a:xfrm>
          <a:prstGeom prst="rect">
            <a:avLst/>
          </a:prstGeom>
          <a:noFill/>
        </p:spPr>
        <p:txBody>
          <a:bodyPr wrap="square" anchor="t" lIns="0" rIns="0" tIns="0" bIns="0">
            <a:spAutoFit/>
          </a:bodyPr>
          <a:lstStyle/>
          <a:p>
            <a:pPr algn="l"/>
            <a:r>
              <a:rPr sz="1300" b="1">
                <a:solidFill>
                  <a:srgbClr val="0F2145"/>
                </a:solidFill>
                <a:latin typeface="Georgia"/>
              </a:rPr>
              <a:t>The terminal value carries most of the answer</a:t>
            </a:r>
          </a:p>
        </p:txBody>
      </p:sp>
      <p:sp>
        <p:nvSpPr>
          <p:cNvPr id="28" name="TextBox 27"/>
          <p:cNvSpPr txBox="1"/>
          <p:nvPr/>
        </p:nvSpPr>
        <p:spPr>
          <a:xfrm>
            <a:off x="804672" y="4389120"/>
            <a:ext cx="3099816" cy="822960"/>
          </a:xfrm>
          <a:prstGeom prst="rect">
            <a:avLst/>
          </a:prstGeom>
          <a:noFill/>
        </p:spPr>
        <p:txBody>
          <a:bodyPr wrap="square" anchor="t" lIns="0" rIns="0" tIns="0" bIns="0">
            <a:spAutoFit/>
          </a:bodyPr>
          <a:lstStyle/>
          <a:p>
            <a:pPr algn="l"/>
            <a:r>
              <a:rPr sz="950" b="0">
                <a:solidFill>
                  <a:srgbClr val="1B2A41"/>
                </a:solidFill>
              </a:rPr>
              <a:t>In the lab it is 76% of enterprise value. A model that takes three quarters of its answer from one assumption about the far future should be read as a range, not a point.</a:t>
            </a:r>
          </a:p>
        </p:txBody>
      </p:sp>
      <p:sp>
        <p:nvSpPr>
          <p:cNvPr id="29" name="Rectangle 28"/>
          <p:cNvSpPr/>
          <p:nvPr/>
        </p:nvSpPr>
        <p:spPr>
          <a:xfrm>
            <a:off x="4315968" y="3584448"/>
            <a:ext cx="3611880" cy="1700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15968" y="3584448"/>
            <a:ext cx="54864" cy="170078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3767328"/>
            <a:ext cx="3099816" cy="548640"/>
          </a:xfrm>
          <a:prstGeom prst="rect">
            <a:avLst/>
          </a:prstGeom>
          <a:noFill/>
        </p:spPr>
        <p:txBody>
          <a:bodyPr wrap="square" anchor="t" lIns="0" rIns="0" tIns="0" bIns="0">
            <a:spAutoFit/>
          </a:bodyPr>
          <a:lstStyle/>
          <a:p>
            <a:pPr algn="l"/>
            <a:r>
              <a:rPr sz="1300" b="1">
                <a:solidFill>
                  <a:srgbClr val="0F2145"/>
                </a:solidFill>
                <a:latin typeface="Georgia"/>
              </a:rPr>
              <a:t>The discount rate moves it more than growth does</a:t>
            </a:r>
          </a:p>
        </p:txBody>
      </p:sp>
      <p:sp>
        <p:nvSpPr>
          <p:cNvPr id="32" name="TextBox 31"/>
          <p:cNvSpPr txBox="1"/>
          <p:nvPr/>
        </p:nvSpPr>
        <p:spPr>
          <a:xfrm>
            <a:off x="4572000" y="4389120"/>
            <a:ext cx="3099816" cy="822960"/>
          </a:xfrm>
          <a:prstGeom prst="rect">
            <a:avLst/>
          </a:prstGeom>
          <a:noFill/>
        </p:spPr>
        <p:txBody>
          <a:bodyPr wrap="square" anchor="t" lIns="0" rIns="0" tIns="0" bIns="0">
            <a:spAutoFit/>
          </a:bodyPr>
          <a:lstStyle/>
          <a:p>
            <a:pPr algn="l"/>
            <a:r>
              <a:rPr sz="950" b="0">
                <a:solidFill>
                  <a:srgbClr val="1B2A41"/>
                </a:solidFill>
              </a:rPr>
              <a:t>It touches every year, and it touches the terminal lump twice: once in the discounting, once in the formula for the lump itself.</a:t>
            </a:r>
          </a:p>
        </p:txBody>
      </p:sp>
      <p:sp>
        <p:nvSpPr>
          <p:cNvPr id="33" name="Rectangle 32"/>
          <p:cNvSpPr/>
          <p:nvPr/>
        </p:nvSpPr>
        <p:spPr>
          <a:xfrm>
            <a:off x="8083296" y="3584448"/>
            <a:ext cx="3557016" cy="1700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83296" y="3584448"/>
            <a:ext cx="54864" cy="170078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39327" y="3767328"/>
            <a:ext cx="3044952" cy="548640"/>
          </a:xfrm>
          <a:prstGeom prst="rect">
            <a:avLst/>
          </a:prstGeom>
          <a:noFill/>
        </p:spPr>
        <p:txBody>
          <a:bodyPr wrap="square" anchor="t" lIns="0" rIns="0" tIns="0" bIns="0">
            <a:spAutoFit/>
          </a:bodyPr>
          <a:lstStyle/>
          <a:p>
            <a:pPr algn="l"/>
            <a:r>
              <a:rPr sz="1300" b="1">
                <a:solidFill>
                  <a:srgbClr val="0F2145"/>
                </a:solidFill>
                <a:latin typeface="Georgia"/>
              </a:rPr>
              <a:t>A company spending heavily today will look too low</a:t>
            </a:r>
          </a:p>
        </p:txBody>
      </p:sp>
      <p:sp>
        <p:nvSpPr>
          <p:cNvPr id="36" name="TextBox 35"/>
          <p:cNvSpPr txBox="1"/>
          <p:nvPr/>
        </p:nvSpPr>
        <p:spPr>
          <a:xfrm>
            <a:off x="8339327" y="4389120"/>
            <a:ext cx="3044952" cy="822960"/>
          </a:xfrm>
          <a:prstGeom prst="rect">
            <a:avLst/>
          </a:prstGeom>
          <a:noFill/>
        </p:spPr>
        <p:txBody>
          <a:bodyPr wrap="square" anchor="t" lIns="0" rIns="0" tIns="0" bIns="0">
            <a:spAutoFit/>
          </a:bodyPr>
          <a:lstStyle/>
          <a:p>
            <a:pPr algn="l"/>
            <a:r>
              <a:rPr sz="950" b="0">
                <a:solidFill>
                  <a:srgbClr val="1B2A41"/>
                </a:solidFill>
              </a:rPr>
              <a:t>Microsoft's capital expenditure went from $44.5bn in fiscal 2024 to $115.9bn in fiscal 2026. Free cash flow fell while operating cash flow rose.</a:t>
            </a:r>
          </a:p>
        </p:txBody>
      </p:sp>
      <p:sp>
        <p:nvSpPr>
          <p:cNvPr id="37" name="Rectangle 36"/>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Comparables are the second opinion:</a:t>
            </a:r>
            <a:r>
              <a:rPr sz="1200" b="0">
                <a:solidFill>
                  <a:srgbClr val="FFFFFF"/>
                </a:solidFill>
              </a:rPr>
              <a:t>a DCF value beside a forward multiple gives two views built independently, and disagreement between them is information.</a:t>
            </a:r>
          </a:p>
        </p:txBody>
      </p:sp>
      <p:sp>
        <p:nvSpPr>
          <p:cNvPr id="40" name="TextBox 39"/>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41" name="TextBox 40"/>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ARCHITECTURE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Five boxes, and no arrow runs backwards</a:t>
            </a:r>
          </a:p>
        </p:txBody>
      </p:sp>
      <p:sp>
        <p:nvSpPr>
          <p:cNvPr id="5" name="Rectangle 4"/>
          <p:cNvSpPr/>
          <p:nvPr/>
        </p:nvSpPr>
        <p:spPr>
          <a:xfrm>
            <a:off x="548640" y="1737360"/>
            <a:ext cx="21031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920240"/>
            <a:ext cx="1700784" cy="329184"/>
          </a:xfrm>
          <a:prstGeom prst="rect">
            <a:avLst/>
          </a:prstGeom>
          <a:noFill/>
        </p:spPr>
        <p:txBody>
          <a:bodyPr wrap="square" anchor="t" lIns="0" rIns="0" tIns="0" bIns="0">
            <a:spAutoFit/>
          </a:bodyPr>
          <a:lstStyle/>
          <a:p>
            <a:pPr algn="l"/>
            <a:r>
              <a:rPr sz="1300" b="1">
                <a:solidFill>
                  <a:srgbClr val="0F2145"/>
                </a:solidFill>
                <a:latin typeface="Georgia"/>
              </a:rPr>
              <a:t>DATA</a:t>
            </a:r>
          </a:p>
        </p:txBody>
      </p:sp>
      <p:sp>
        <p:nvSpPr>
          <p:cNvPr id="8" name="TextBox 7"/>
          <p:cNvSpPr txBox="1"/>
          <p:nvPr/>
        </p:nvSpPr>
        <p:spPr>
          <a:xfrm>
            <a:off x="749808" y="2322576"/>
            <a:ext cx="1700784" cy="1828800"/>
          </a:xfrm>
          <a:prstGeom prst="rect">
            <a:avLst/>
          </a:prstGeom>
          <a:noFill/>
        </p:spPr>
        <p:txBody>
          <a:bodyPr wrap="square" anchor="t" lIns="0" rIns="0" tIns="0" bIns="0">
            <a:spAutoFit/>
          </a:bodyPr>
          <a:lstStyle/>
          <a:p>
            <a:pPr algn="l"/>
            <a:r>
              <a:rPr sz="900" b="0">
                <a:solidFill>
                  <a:srgbClr val="1B2A41"/>
                </a:solidFill>
              </a:rPr>
              <a:t>yfinance for prices and cash flows, EDGAR for the filings behind them. Nothing in this box costs money.</a:t>
            </a:r>
          </a:p>
        </p:txBody>
      </p:sp>
      <p:sp>
        <p:nvSpPr>
          <p:cNvPr id="9" name="TextBox 8"/>
          <p:cNvSpPr txBox="1"/>
          <p:nvPr/>
        </p:nvSpPr>
        <p:spPr>
          <a:xfrm>
            <a:off x="2670048" y="2926080"/>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0" name="Rectangle 9"/>
          <p:cNvSpPr/>
          <p:nvPr/>
        </p:nvSpPr>
        <p:spPr>
          <a:xfrm>
            <a:off x="2807208" y="1737360"/>
            <a:ext cx="21031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7208" y="173736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1920240"/>
            <a:ext cx="1700784" cy="329184"/>
          </a:xfrm>
          <a:prstGeom prst="rect">
            <a:avLst/>
          </a:prstGeom>
          <a:noFill/>
        </p:spPr>
        <p:txBody>
          <a:bodyPr wrap="square" anchor="t" lIns="0" rIns="0" tIns="0" bIns="0">
            <a:spAutoFit/>
          </a:bodyPr>
          <a:lstStyle/>
          <a:p>
            <a:pPr algn="l"/>
            <a:r>
              <a:rPr sz="1300" b="1">
                <a:solidFill>
                  <a:srgbClr val="0F2145"/>
                </a:solidFill>
                <a:latin typeface="Georgia"/>
              </a:rPr>
              <a:t>THE ENGINE</a:t>
            </a:r>
          </a:p>
        </p:txBody>
      </p:sp>
      <p:sp>
        <p:nvSpPr>
          <p:cNvPr id="13" name="TextBox 12"/>
          <p:cNvSpPr txBox="1"/>
          <p:nvPr/>
        </p:nvSpPr>
        <p:spPr>
          <a:xfrm>
            <a:off x="3008376" y="2322576"/>
            <a:ext cx="1700784" cy="1828800"/>
          </a:xfrm>
          <a:prstGeom prst="rect">
            <a:avLst/>
          </a:prstGeom>
          <a:noFill/>
        </p:spPr>
        <p:txBody>
          <a:bodyPr wrap="square" anchor="t" lIns="0" rIns="0" tIns="0" bIns="0">
            <a:spAutoFit/>
          </a:bodyPr>
          <a:lstStyle/>
          <a:p>
            <a:pPr algn="l"/>
            <a:r>
              <a:rPr sz="900" b="0">
                <a:solidFill>
                  <a:srgbClr val="1B2A41"/>
                </a:solidFill>
              </a:rPr>
              <a:t>Plain Python. It computes the DCF, the sensitivity grid and the price statistics. No model inside it, and it can be tested against a hand-worked example.</a:t>
            </a:r>
          </a:p>
        </p:txBody>
      </p:sp>
      <p:sp>
        <p:nvSpPr>
          <p:cNvPr id="14" name="TextBox 13"/>
          <p:cNvSpPr txBox="1"/>
          <p:nvPr/>
        </p:nvSpPr>
        <p:spPr>
          <a:xfrm>
            <a:off x="4928616" y="2926080"/>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5" name="Rectangle 14"/>
          <p:cNvSpPr/>
          <p:nvPr/>
        </p:nvSpPr>
        <p:spPr>
          <a:xfrm>
            <a:off x="5065776" y="1737360"/>
            <a:ext cx="21031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65776" y="173736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1920240"/>
            <a:ext cx="1700784" cy="329184"/>
          </a:xfrm>
          <a:prstGeom prst="rect">
            <a:avLst/>
          </a:prstGeom>
          <a:noFill/>
        </p:spPr>
        <p:txBody>
          <a:bodyPr wrap="square" anchor="t" lIns="0" rIns="0" tIns="0" bIns="0">
            <a:spAutoFit/>
          </a:bodyPr>
          <a:lstStyle/>
          <a:p>
            <a:pPr algn="l"/>
            <a:r>
              <a:rPr sz="1300" b="1">
                <a:solidFill>
                  <a:srgbClr val="0F2145"/>
                </a:solidFill>
                <a:latin typeface="Georgia"/>
              </a:rPr>
              <a:t>PROMPT BUILDER</a:t>
            </a:r>
          </a:p>
        </p:txBody>
      </p:sp>
      <p:sp>
        <p:nvSpPr>
          <p:cNvPr id="18" name="TextBox 17"/>
          <p:cNvSpPr txBox="1"/>
          <p:nvPr/>
        </p:nvSpPr>
        <p:spPr>
          <a:xfrm>
            <a:off x="5266944" y="2322576"/>
            <a:ext cx="1700784" cy="1828800"/>
          </a:xfrm>
          <a:prstGeom prst="rect">
            <a:avLst/>
          </a:prstGeom>
          <a:noFill/>
        </p:spPr>
        <p:txBody>
          <a:bodyPr wrap="square" anchor="t" lIns="0" rIns="0" tIns="0" bIns="0">
            <a:spAutoFit/>
          </a:bodyPr>
          <a:lstStyle/>
          <a:p>
            <a:pPr algn="l"/>
            <a:r>
              <a:rPr sz="900" b="0">
                <a:solidFill>
                  <a:srgbClr val="1B2A41"/>
                </a:solidFill>
              </a:rPr>
              <a:t>It writes the engine's output into a prompt as a table. The one rule lives here, because the prompt is the only channel through which the model sees the world.</a:t>
            </a:r>
          </a:p>
        </p:txBody>
      </p:sp>
      <p:sp>
        <p:nvSpPr>
          <p:cNvPr id="19" name="TextBox 18"/>
          <p:cNvSpPr txBox="1"/>
          <p:nvPr/>
        </p:nvSpPr>
        <p:spPr>
          <a:xfrm>
            <a:off x="7187183" y="2926080"/>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0" name="Rectangle 19"/>
          <p:cNvSpPr/>
          <p:nvPr/>
        </p:nvSpPr>
        <p:spPr>
          <a:xfrm>
            <a:off x="7324344" y="1737360"/>
            <a:ext cx="2103120" cy="26517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1920240"/>
            <a:ext cx="1700784" cy="329184"/>
          </a:xfrm>
          <a:prstGeom prst="rect">
            <a:avLst/>
          </a:prstGeom>
          <a:noFill/>
        </p:spPr>
        <p:txBody>
          <a:bodyPr wrap="square" anchor="t" lIns="0" rIns="0" tIns="0" bIns="0">
            <a:spAutoFit/>
          </a:bodyPr>
          <a:lstStyle/>
          <a:p>
            <a:pPr algn="l"/>
            <a:r>
              <a:rPr sz="1300" b="1">
                <a:solidFill>
                  <a:srgbClr val="FFFFFF"/>
                </a:solidFill>
                <a:latin typeface="Georgia"/>
              </a:rPr>
              <a:t>THE MODEL</a:t>
            </a:r>
          </a:p>
        </p:txBody>
      </p:sp>
      <p:sp>
        <p:nvSpPr>
          <p:cNvPr id="22" name="TextBox 21"/>
          <p:cNvSpPr txBox="1"/>
          <p:nvPr/>
        </p:nvSpPr>
        <p:spPr>
          <a:xfrm>
            <a:off x="7525512" y="2322576"/>
            <a:ext cx="1700784" cy="1828800"/>
          </a:xfrm>
          <a:prstGeom prst="rect">
            <a:avLst/>
          </a:prstGeom>
          <a:noFill/>
        </p:spPr>
        <p:txBody>
          <a:bodyPr wrap="square" anchor="t" lIns="0" rIns="0" tIns="0" bIns="0">
            <a:spAutoFit/>
          </a:bodyPr>
          <a:lstStyle/>
          <a:p>
            <a:pPr algn="l"/>
            <a:r>
              <a:rPr sz="900" b="0">
                <a:solidFill>
                  <a:srgbClr val="C9D6EE"/>
                </a:solidFill>
              </a:rPr>
              <a:t>Optional. With a key the script calls the model; without one it prints the finished prompt and you paste it. Three paragraphs come back, and nothing else.</a:t>
            </a:r>
          </a:p>
        </p:txBody>
      </p:sp>
      <p:sp>
        <p:nvSpPr>
          <p:cNvPr id="23" name="TextBox 22"/>
          <p:cNvSpPr txBox="1"/>
          <p:nvPr/>
        </p:nvSpPr>
        <p:spPr>
          <a:xfrm>
            <a:off x="9445751" y="2926080"/>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4" name="Rectangle 23"/>
          <p:cNvSpPr/>
          <p:nvPr/>
        </p:nvSpPr>
        <p:spPr>
          <a:xfrm>
            <a:off x="9582912" y="1737360"/>
            <a:ext cx="21031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82912" y="173736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0" y="1920240"/>
            <a:ext cx="1700784" cy="329184"/>
          </a:xfrm>
          <a:prstGeom prst="rect">
            <a:avLst/>
          </a:prstGeom>
          <a:noFill/>
        </p:spPr>
        <p:txBody>
          <a:bodyPr wrap="square" anchor="t" lIns="0" rIns="0" tIns="0" bIns="0">
            <a:spAutoFit/>
          </a:bodyPr>
          <a:lstStyle/>
          <a:p>
            <a:pPr algn="l"/>
            <a:r>
              <a:rPr sz="1300" b="1">
                <a:solidFill>
                  <a:srgbClr val="0F2145"/>
                </a:solidFill>
                <a:latin typeface="Georgia"/>
              </a:rPr>
              <a:t>THE PAGE</a:t>
            </a:r>
          </a:p>
        </p:txBody>
      </p:sp>
      <p:sp>
        <p:nvSpPr>
          <p:cNvPr id="27" name="TextBox 26"/>
          <p:cNvSpPr txBox="1"/>
          <p:nvPr/>
        </p:nvSpPr>
        <p:spPr>
          <a:xfrm>
            <a:off x="9784080" y="2322576"/>
            <a:ext cx="1700784" cy="1828800"/>
          </a:xfrm>
          <a:prstGeom prst="rect">
            <a:avLst/>
          </a:prstGeom>
          <a:noFill/>
        </p:spPr>
        <p:txBody>
          <a:bodyPr wrap="square" anchor="t" lIns="0" rIns="0" tIns="0" bIns="0">
            <a:spAutoFit/>
          </a:bodyPr>
          <a:lstStyle/>
          <a:p>
            <a:pPr algn="l"/>
            <a:r>
              <a:rPr sz="900" b="0">
                <a:solidFill>
                  <a:srgbClr val="1B2A41"/>
                </a:solidFill>
              </a:rPr>
              <a:t>Streamlit today, which turns a Python script into a web page with sliders. Tomorrow a static HTML file that a scheduled job rebuilds before the open.</a:t>
            </a:r>
          </a:p>
        </p:txBody>
      </p:sp>
      <p:sp>
        <p:nvSpPr>
          <p:cNvPr id="28" name="Rectangle 27"/>
          <p:cNvSpPr/>
          <p:nvPr/>
        </p:nvSpPr>
        <p:spPr>
          <a:xfrm>
            <a:off x="548640" y="4535424"/>
            <a:ext cx="11091672" cy="1133856"/>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535424"/>
            <a:ext cx="64008" cy="11338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663440"/>
            <a:ext cx="10515600" cy="914400"/>
          </a:xfrm>
          <a:prstGeom prst="rect">
            <a:avLst/>
          </a:prstGeom>
          <a:noFill/>
        </p:spPr>
        <p:txBody>
          <a:bodyPr wrap="square" anchor="t" lIns="0" rIns="0" tIns="0" bIns="0">
            <a:spAutoFit/>
          </a:bodyPr>
          <a:lstStyle/>
          <a:p>
            <a:pPr algn="l"/>
            <a:r>
              <a:rPr sz="950" b="1">
                <a:solidFill>
                  <a:srgbClr val="3A5C9E"/>
                </a:solidFill>
              </a:rPr>
              <a:t>THE PAGE THAT HAS ALREADY REFRESHED WHEN YOU SIT DOWN</a:t>
            </a:r>
          </a:p>
          <a:p>
            <a:pPr algn="l">
              <a:spcBef>
                <a:spcPts val="400"/>
              </a:spcBef>
            </a:pPr>
            <a:r>
              <a:rPr sz="1100" b="0">
                <a:solidFill>
                  <a:srgbClr val="1B2A41"/>
                </a:solidFill>
              </a:rPr>
              <a:t>Four parts build it. A script that fetches the data and writes a file. A scheduler that runs the script at a fixed time, which is a GitHub Actions cron line or a launchd agent on a Mac. A commit and a push. And GitHub Pages, which serves the repository and redeploys when the push lands. For a US market page the time to run is before the open. The New York Stock Exchange opens at 9:30 AM Eastern, so a job at 8:00 AM Eastern has the previous close, the overnight futures and any pre-market filings, with ninety minutes to finish.</a:t>
            </a:r>
          </a:p>
        </p:txBody>
      </p:sp>
      <p:sp>
        <p:nvSpPr>
          <p:cNvPr id="31" name="Rectangle 30"/>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One design rule matters more than the rest:</a:t>
            </a:r>
            <a:r>
              <a:rPr sz="1200" b="0">
                <a:solidFill>
                  <a:srgbClr val="FFFFFF"/>
                </a:solidFill>
              </a:rPr>
              <a:t>the page must show the age of its own data. A scheduled job fails silently, and the page keeps serving yesterday's file.</a:t>
            </a:r>
          </a:p>
        </p:txBody>
      </p:sp>
      <p:sp>
        <p:nvSpPr>
          <p:cNvPr id="34" name="TextBox 33"/>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5" name="TextBox 34"/>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3</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Run the engine and read what it says about Microsoft</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m09_dashboard.py --ticker MSFT</a:t>
            </a:r>
          </a:p>
        </p:txBody>
      </p:sp>
      <p:sp>
        <p:nvSpPr>
          <p:cNvPr id="8" name="Rectangle 7"/>
          <p:cNvSpPr/>
          <p:nvPr/>
        </p:nvSpPr>
        <p:spPr>
          <a:xfrm>
            <a:off x="548640" y="2066543"/>
            <a:ext cx="11091672" cy="338328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33832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20 SEPTEMBER 2026)</a:t>
            </a:r>
          </a:p>
        </p:txBody>
      </p:sp>
      <p:sp>
        <p:nvSpPr>
          <p:cNvPr id="11" name="TextBox 10"/>
          <p:cNvSpPr txBox="1"/>
          <p:nvPr/>
        </p:nvSpPr>
        <p:spPr>
          <a:xfrm>
            <a:off x="868680" y="2468879"/>
            <a:ext cx="10543032" cy="2852928"/>
          </a:xfrm>
          <a:prstGeom prst="rect">
            <a:avLst/>
          </a:prstGeom>
          <a:noFill/>
        </p:spPr>
        <p:txBody>
          <a:bodyPr wrap="none" anchor="t" lIns="0" rIns="0" tIns="0" bIns="0">
            <a:spAutoFit/>
          </a:bodyPr>
          <a:lstStyle/>
          <a:p>
            <a:pPr algn="l"/>
            <a:r>
              <a:rPr sz="850" b="0">
                <a:solidFill>
                  <a:srgbClr val="C9D6EE"/>
                </a:solidFill>
                <a:latin typeface="Consolas"/>
              </a:rPr>
              <a:t>=== Microsoft Corporation (MSFT) as of 2026-09-18 ===</a:t>
            </a:r>
          </a:p>
          <a:p>
            <a:pPr algn="l"/>
            <a:r>
              <a:rPr sz="850" b="0">
                <a:solidFill>
                  <a:srgbClr val="C9D6EE"/>
                </a:solidFill>
                <a:latin typeface="Consolas"/>
              </a:rPr>
              <a:t>Last close        $493.78  (-0.80% on the day)</a:t>
            </a:r>
          </a:p>
          <a:p>
            <a:pPr algn="l"/>
            <a:r>
              <a:rPr sz="850" b="0">
                <a:solidFill>
                  <a:srgbClr val="C9D6EE"/>
                </a:solidFill>
                <a:latin typeface="Consolas"/>
              </a:rPr>
              <a:t>52-week closes    $352.17 to $537.65</a:t>
            </a:r>
          </a:p>
          <a:p>
            <a:pPr algn="l"/>
            <a:r>
              <a:rPr sz="850" b="0">
                <a:solidFill>
                  <a:srgbClr val="C9D6EE"/>
                </a:solidFill>
                <a:latin typeface="Consolas"/>
              </a:rPr>
              <a:t>Market cap        $3,667bn   Shares 7.43bn</a:t>
            </a:r>
          </a:p>
          <a:p>
            <a:pPr algn="l"/>
            <a:r>
              <a:rPr sz="850" b="0">
                <a:solidFill>
                  <a:srgbClr val="C9D6EE"/>
                </a:solidFill>
                <a:latin typeface="Consolas"/>
              </a:rPr>
              <a:t>Cash / Debt       $76.8bn / $128.8bn</a:t>
            </a:r>
          </a:p>
          <a:p>
            <a:pPr algn="l"/>
            <a:r>
              <a:rPr sz="850" b="0">
                <a:solidFill>
                  <a:srgbClr val="C9D6EE"/>
                </a:solidFill>
                <a:latin typeface="Consolas"/>
              </a:rPr>
              <a:t>P/E trailing      27.5   forward 20.9</a:t>
            </a:r>
          </a:p>
          <a:p>
            <a:pPr algn="l"/>
            <a:r>
              <a:rPr sz="850" b="0">
                <a:solidFill>
                  <a:srgbClr val="C9D6EE"/>
                </a:solidFill>
                <a:latin typeface="Consolas"/>
              </a:rPr>
              <a:t/>
            </a:r>
          </a:p>
          <a:p>
            <a:pPr algn="l"/>
            <a:r>
              <a:rPr sz="850" b="0">
                <a:solidFill>
                  <a:srgbClr val="C9D6EE"/>
                </a:solidFill>
                <a:latin typeface="Consolas"/>
              </a:rPr>
              <a:t>DCF inputs: growth 8%, discount 9%, terminal growth 2.5%, base FCF $67.0bn</a:t>
            </a:r>
          </a:p>
          <a:p>
            <a:pPr algn="l"/>
            <a:r>
              <a:rPr sz="850" b="0">
                <a:solidFill>
                  <a:srgbClr val="C9D6EE"/>
                </a:solidFill>
                <a:latin typeface="Consolas"/>
              </a:rPr>
              <a:t>Year 1   FCF $72.3bn   PV $66.4bn</a:t>
            </a:r>
          </a:p>
          <a:p>
            <a:pPr algn="l"/>
            <a:r>
              <a:rPr sz="850" b="0">
                <a:solidFill>
                  <a:srgbClr val="C9D6EE"/>
                </a:solidFill>
                <a:latin typeface="Consolas"/>
              </a:rPr>
              <a:t>Year 5   FCF $98.4bn   PV $64.0bn</a:t>
            </a:r>
          </a:p>
          <a:p>
            <a:pPr algn="l"/>
            <a:r>
              <a:rPr sz="850" b="0">
                <a:solidFill>
                  <a:srgbClr val="C9D6EE"/>
                </a:solidFill>
                <a:latin typeface="Consolas"/>
              </a:rPr>
              <a:t>PV of years 1-5      $325.8bn</a:t>
            </a:r>
          </a:p>
          <a:p>
            <a:pPr algn="l"/>
            <a:r>
              <a:rPr sz="850" b="0">
                <a:solidFill>
                  <a:srgbClr val="C9D6EE"/>
                </a:solidFill>
                <a:latin typeface="Consolas"/>
              </a:rPr>
              <a:t>PV of terminal value $1,008.8bn  (76% of enterprise value)</a:t>
            </a:r>
          </a:p>
          <a:p>
            <a:pPr algn="l"/>
            <a:r>
              <a:rPr sz="850" b="0">
                <a:solidFill>
                  <a:srgbClr val="C9D6EE"/>
                </a:solidFill>
                <a:latin typeface="Consolas"/>
              </a:rPr>
              <a:t>Enterprise value     $1,334.6bn</a:t>
            </a:r>
          </a:p>
          <a:p>
            <a:pPr algn="l"/>
            <a:r>
              <a:rPr sz="850" b="0">
                <a:solidFill>
                  <a:srgbClr val="C9D6EE"/>
                </a:solidFill>
                <a:latin typeface="Consolas"/>
              </a:rPr>
              <a:t>Equity value         $1,282.6bn</a:t>
            </a:r>
          </a:p>
          <a:p>
            <a:pPr algn="l"/>
            <a:r>
              <a:rPr sz="850" b="0">
                <a:solidFill>
                  <a:srgbClr val="C9D6EE"/>
                </a:solidFill>
                <a:latin typeface="Consolas"/>
              </a:rPr>
              <a:t>Value per share      $172.73  vs close $493.78  (-65.0%)</a:t>
            </a:r>
          </a:p>
          <a:p>
            <a:pPr algn="l"/>
            <a:r>
              <a:rPr sz="850" b="0">
                <a:solidFill>
                  <a:srgbClr val="C9D6EE"/>
                </a:solidFill>
                <a:latin typeface="Consolas"/>
              </a:rPr>
              <a:t/>
            </a:r>
          </a:p>
          <a:p>
            <a:pPr algn="l"/>
            <a:r>
              <a:rPr sz="850" b="0">
                <a:solidFill>
                  <a:srgbClr val="C9D6EE"/>
                </a:solidFill>
                <a:latin typeface="Consolas"/>
              </a:rPr>
              <a:t>Sensitivity: value per share (rows discount rate, columns terminal growth)</a:t>
            </a:r>
          </a:p>
          <a:p>
            <a:pPr algn="l"/>
            <a:r>
              <a:rPr sz="850" b="0">
                <a:solidFill>
                  <a:srgbClr val="C9D6EE"/>
                </a:solidFill>
                <a:latin typeface="Consolas"/>
              </a:rPr>
              <a:t>g=2.0%  g=2.5%  g=3.0%</a:t>
            </a:r>
          </a:p>
          <a:p>
            <a:pPr algn="l"/>
            <a:r>
              <a:rPr sz="850" b="0">
                <a:solidFill>
                  <a:srgbClr val="C9D6EE"/>
                </a:solidFill>
                <a:latin typeface="Consolas"/>
              </a:rPr>
              <a:t>r=8%   191.47  206.23  223.94</a:t>
            </a:r>
          </a:p>
          <a:p>
            <a:pPr algn="l"/>
            <a:r>
              <a:rPr sz="850" b="0">
                <a:solidFill>
                  <a:srgbClr val="C9D6EE"/>
                </a:solidFill>
                <a:latin typeface="Consolas"/>
              </a:rPr>
              <a:t>r=9%   162.41  172.73  184.77</a:t>
            </a:r>
          </a:p>
          <a:p>
            <a:pPr algn="l"/>
            <a:r>
              <a:rPr sz="850" b="0">
                <a:solidFill>
                  <a:srgbClr val="C9D6EE"/>
                </a:solidFill>
                <a:latin typeface="Consolas"/>
              </a:rPr>
              <a:t>r=10%  140.64  148.19  156.81</a:t>
            </a:r>
          </a:p>
        </p:txBody>
      </p:sp>
      <p:sp>
        <p:nvSpPr>
          <p:cNvPr id="12" name="Rectangle 1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model says $172.73 and the market says $493.78. Neither is wrong:</a:t>
            </a:r>
            <a:r>
              <a:rPr sz="1200" b="0">
                <a:solidFill>
                  <a:srgbClr val="FFFFFF"/>
                </a:solidFill>
              </a:rPr>
              <a:t>run the engine backwards and the market price needs 34.8% growth a year for five years. That is a statement about the price, not a forecast.</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6</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model wrote a fluent paragraph and got it backwards</a:t>
            </a:r>
          </a:p>
        </p:txBody>
      </p:sp>
      <p:sp>
        <p:nvSpPr>
          <p:cNvPr id="5" name="Rectangle 4"/>
          <p:cNvSpPr/>
          <p:nvPr/>
        </p:nvSpPr>
        <p:spPr>
          <a:xfrm>
            <a:off x="548640" y="1408176"/>
            <a:ext cx="11091672" cy="1572768"/>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15727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36192"/>
            <a:ext cx="10543032" cy="219456"/>
          </a:xfrm>
          <a:prstGeom prst="rect">
            <a:avLst/>
          </a:prstGeom>
          <a:noFill/>
        </p:spPr>
        <p:txBody>
          <a:bodyPr wrap="square" anchor="t" lIns="0" rIns="0" tIns="0" bIns="0">
            <a:spAutoFit/>
          </a:bodyPr>
          <a:lstStyle/>
          <a:p>
            <a:pPr algn="l"/>
            <a:r>
              <a:rPr sz="850" b="1">
                <a:solidFill>
                  <a:srgbClr val="C9A227"/>
                </a:solidFill>
              </a:rPr>
              <a:t>WHAT THE MODEL WROTE (REAL RUN, PARAGRAPH THREE, UNEDITED)</a:t>
            </a:r>
          </a:p>
        </p:txBody>
      </p:sp>
      <p:sp>
        <p:nvSpPr>
          <p:cNvPr id="8" name="TextBox 7"/>
          <p:cNvSpPr txBox="1"/>
          <p:nvPr/>
        </p:nvSpPr>
        <p:spPr>
          <a:xfrm>
            <a:off x="868680" y="1810512"/>
            <a:ext cx="10543032" cy="1042416"/>
          </a:xfrm>
          <a:prstGeom prst="rect">
            <a:avLst/>
          </a:prstGeom>
          <a:noFill/>
        </p:spPr>
        <p:txBody>
          <a:bodyPr wrap="none" anchor="t" lIns="0" rIns="0" tIns="0" bIns="0">
            <a:spAutoFit/>
          </a:bodyPr>
          <a:lstStyle/>
          <a:p>
            <a:pPr algn="l"/>
            <a:r>
              <a:rPr sz="950" b="0">
                <a:solidFill>
                  <a:srgbClr val="C9D6EE"/>
                </a:solidFill>
                <a:latin typeface="Consolas"/>
              </a:rPr>
              <a:t>The terminal growth rate is the assumption that would move the value</a:t>
            </a:r>
          </a:p>
          <a:p>
            <a:pPr algn="l"/>
            <a:r>
              <a:rPr sz="950" b="0">
                <a:solidFill>
                  <a:srgbClr val="C9D6EE"/>
                </a:solidFill>
                <a:latin typeface="Consolas"/>
              </a:rPr>
              <a:t>most if changed by one percentage point. It sits inside the terminal</a:t>
            </a:r>
          </a:p>
          <a:p>
            <a:pPr algn="l"/>
            <a:r>
              <a:rPr sz="950" b="0">
                <a:solidFill>
                  <a:srgbClr val="C9D6EE"/>
                </a:solidFill>
                <a:latin typeface="Consolas"/>
              </a:rPr>
              <a:t>value, and the terminal value is already 76% of the total. A change to</a:t>
            </a:r>
          </a:p>
          <a:p>
            <a:pPr algn="l"/>
            <a:r>
              <a:rPr sz="950" b="0">
                <a:solidFill>
                  <a:srgbClr val="C9D6EE"/>
                </a:solidFill>
                <a:latin typeface="Consolas"/>
              </a:rPr>
              <a:t>the growth rate in years 1-5 only touches the smaller, non-terminal</a:t>
            </a:r>
          </a:p>
          <a:p>
            <a:pPr algn="l"/>
            <a:r>
              <a:rPr sz="950" b="0">
                <a:solidFill>
                  <a:srgbClr val="C9D6EE"/>
                </a:solidFill>
                <a:latin typeface="Consolas"/>
              </a:rPr>
              <a:t>share of the value.</a:t>
            </a:r>
          </a:p>
        </p:txBody>
      </p:sp>
      <p:sp>
        <p:nvSpPr>
          <p:cNvPr id="9" name="Rectangle 8"/>
          <p:cNvSpPr/>
          <p:nvPr/>
        </p:nvSpPr>
        <p:spPr>
          <a:xfrm>
            <a:off x="548640" y="3145536"/>
            <a:ext cx="11091672" cy="1243584"/>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145536"/>
            <a:ext cx="64008" cy="1243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73552"/>
            <a:ext cx="10543032" cy="219456"/>
          </a:xfrm>
          <a:prstGeom prst="rect">
            <a:avLst/>
          </a:prstGeom>
          <a:noFill/>
        </p:spPr>
        <p:txBody>
          <a:bodyPr wrap="square" anchor="t" lIns="0" rIns="0" tIns="0" bIns="0">
            <a:spAutoFit/>
          </a:bodyPr>
          <a:lstStyle/>
          <a:p>
            <a:pPr algn="l"/>
            <a:r>
              <a:rPr sz="850" b="1">
                <a:solidFill>
                  <a:srgbClr val="C9A227"/>
                </a:solidFill>
              </a:rPr>
              <a:t>WHAT THE ENGINE SAYS WHEN YOU ASK IT THE SAME QUESTION</a:t>
            </a:r>
          </a:p>
        </p:txBody>
      </p:sp>
      <p:sp>
        <p:nvSpPr>
          <p:cNvPr id="12" name="TextBox 11"/>
          <p:cNvSpPr txBox="1"/>
          <p:nvPr/>
        </p:nvSpPr>
        <p:spPr>
          <a:xfrm>
            <a:off x="868680" y="3547872"/>
            <a:ext cx="10543032" cy="713232"/>
          </a:xfrm>
          <a:prstGeom prst="rect">
            <a:avLst/>
          </a:prstGeom>
          <a:noFill/>
        </p:spPr>
        <p:txBody>
          <a:bodyPr wrap="none" anchor="t" lIns="0" rIns="0" tIns="0" bIns="0">
            <a:spAutoFit/>
          </a:bodyPr>
          <a:lstStyle/>
          <a:p>
            <a:pPr algn="l"/>
            <a:r>
              <a:rPr sz="950" b="0">
                <a:solidFill>
                  <a:srgbClr val="C9D6EE"/>
                </a:solidFill>
                <a:latin typeface="Consolas"/>
              </a:rPr>
              <a:t>base (growth 8%, discount 9%, terminal 2.5%)   $172.73</a:t>
            </a:r>
          </a:p>
          <a:p>
            <a:pPr algn="l"/>
            <a:r>
              <a:rPr sz="950" b="0">
                <a:solidFill>
                  <a:srgbClr val="C9D6EE"/>
                </a:solidFill>
                <a:latin typeface="Consolas"/>
              </a:rPr>
              <a:t>growth 9%                                       $180.36   (+$7.63)</a:t>
            </a:r>
          </a:p>
          <a:p>
            <a:pPr algn="l"/>
            <a:r>
              <a:rPr sz="950" b="0">
                <a:solidFill>
                  <a:srgbClr val="C9D6EE"/>
                </a:solidFill>
                <a:latin typeface="Consolas"/>
              </a:rPr>
              <a:t>discount 8%                                     $206.23   (+$33.50)</a:t>
            </a:r>
          </a:p>
          <a:p>
            <a:pPr algn="l"/>
            <a:r>
              <a:rPr sz="950" b="0">
                <a:solidFill>
                  <a:srgbClr val="C9D6EE"/>
                </a:solidFill>
                <a:latin typeface="Consolas"/>
              </a:rPr>
              <a:t>terminal growth 3.5%                            $199.00   (+$26.27)</a:t>
            </a:r>
          </a:p>
        </p:txBody>
      </p:sp>
      <p:sp>
        <p:nvSpPr>
          <p:cNvPr id="13" name="TextBox 12"/>
          <p:cNvSpPr txBox="1"/>
          <p:nvPr/>
        </p:nvSpPr>
        <p:spPr>
          <a:xfrm>
            <a:off x="548640" y="4572000"/>
            <a:ext cx="5486400" cy="1042415"/>
          </a:xfrm>
          <a:prstGeom prst="rect">
            <a:avLst/>
          </a:prstGeom>
          <a:noFill/>
        </p:spPr>
        <p:txBody>
          <a:bodyPr wrap="square" anchor="t" lIns="0" rIns="0" tIns="0" bIns="0">
            <a:spAutoFit/>
          </a:bodyPr>
          <a:lstStyle/>
          <a:p>
            <a:pPr algn="l"/>
            <a:r>
              <a:rPr sz="1500" b="1">
                <a:solidFill>
                  <a:srgbClr val="0F2145"/>
                </a:solidFill>
                <a:latin typeface="Georgia"/>
              </a:rPr>
              <a:t>Why the reasoning reads well and is wrong</a:t>
            </a:r>
          </a:p>
          <a:p>
            <a:pPr algn="l">
              <a:spcBef>
                <a:spcPts val="600"/>
              </a:spcBef>
            </a:pPr>
            <a:r>
              <a:rPr sz="1050" b="0">
                <a:solidFill>
                  <a:srgbClr val="1B2A41"/>
                </a:solidFill>
              </a:rPr>
              <a:t>It noticed that the terminal value is 76% of the total and concluded that the assumption inside it must matter most. The discount rate also sits inside the terminal value, and it sits in the explicit years as well. Plausible sentence, wrong answer.</a:t>
            </a:r>
          </a:p>
        </p:txBody>
      </p:sp>
      <p:sp>
        <p:nvSpPr>
          <p:cNvPr id="14" name="TextBox 13"/>
          <p:cNvSpPr txBox="1"/>
          <p:nvPr/>
        </p:nvSpPr>
        <p:spPr>
          <a:xfrm>
            <a:off x="6309360" y="4572000"/>
            <a:ext cx="5330952" cy="1042415"/>
          </a:xfrm>
          <a:prstGeom prst="rect">
            <a:avLst/>
          </a:prstGeom>
          <a:noFill/>
        </p:spPr>
        <p:txBody>
          <a:bodyPr wrap="square" anchor="t" lIns="0" rIns="0" tIns="0" bIns="0">
            <a:spAutoFit/>
          </a:bodyPr>
          <a:lstStyle/>
          <a:p>
            <a:pPr algn="l"/>
            <a:r>
              <a:rPr sz="1500" b="1">
                <a:solidFill>
                  <a:srgbClr val="0F2145"/>
                </a:solidFill>
                <a:latin typeface="Georgia"/>
              </a:rPr>
              <a:t>The fix is not a better model</a:t>
            </a:r>
          </a:p>
          <a:p>
            <a:pPr algn="l">
              <a:spcBef>
                <a:spcPts val="600"/>
              </a:spcBef>
            </a:pPr>
            <a:r>
              <a:rPr sz="1050" b="0">
                <a:solidFill>
                  <a:srgbClr val="1B2A41"/>
                </a:solidFill>
              </a:rPr>
              <a:t>Compute the three one-point moves in Python and put them in the prompt. Then instruct: name the assumption with the largest move in this list and quote both values. Paragraph three becomes a reading task instead of a reasoning task.</a:t>
            </a:r>
          </a:p>
        </p:txBody>
      </p:sp>
      <p:sp>
        <p:nvSpPr>
          <p:cNvPr id="15" name="Rectangle 14"/>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first two paragraphs were correct, including two subtractions it did itself:</a:t>
            </a:r>
            <a:r>
              <a:rPr sz="1200" b="0">
                <a:solidFill>
                  <a:srgbClr val="FFFFFF"/>
                </a:solidFill>
              </a:rPr>
              <a:t>that is what makes the third one dangerous. A reader without the engine would have believed it.</a:t>
            </a:r>
          </a:p>
        </p:txBody>
      </p:sp>
      <p:sp>
        <p:nvSpPr>
          <p:cNvPr id="18" name="TextBox 17"/>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9" name="TextBox 18"/>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5</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prompt is the only channel the model sees</a:t>
            </a:r>
          </a:p>
        </p:txBody>
      </p:sp>
      <p:sp>
        <p:nvSpPr>
          <p:cNvPr id="5" name="Rectangle 4"/>
          <p:cNvSpPr/>
          <p:nvPr/>
        </p:nvSpPr>
        <p:spPr>
          <a:xfrm>
            <a:off x="548640" y="1444752"/>
            <a:ext cx="11091672" cy="859536"/>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64008" cy="85953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44752"/>
            <a:ext cx="10515600" cy="859536"/>
          </a:xfrm>
          <a:prstGeom prst="rect">
            <a:avLst/>
          </a:prstGeom>
          <a:noFill/>
        </p:spPr>
        <p:txBody>
          <a:bodyPr wrap="square" anchor="ctr" lIns="0" rIns="0" tIns="0" bIns="0">
            <a:spAutoFit/>
          </a:bodyPr>
          <a:lstStyle/>
          <a:p>
            <a:pPr algn="l"/>
            <a:r>
              <a:rPr sz="850" b="1">
                <a:solidFill>
                  <a:srgbClr val="C9A227"/>
                </a:solidFill>
              </a:rPr>
              <a:t>THE INSTRUCTION ABOVE THE TABLE</a:t>
            </a:r>
          </a:p>
          <a:p>
            <a:pPr algn="l">
              <a:spcBef>
                <a:spcPts val="200"/>
              </a:spcBef>
            </a:pPr>
            <a:r>
              <a:rPr sz="1250" b="1">
                <a:solidFill>
                  <a:srgbClr val="FFFFFF"/>
                </a:solidFill>
                <a:latin typeface="Georgia"/>
              </a:rPr>
              <a:t>“Write three paragraphs on this company for a portfolio manager. Use only the numbers in the table below. If a number you need is not in the table, write ‘not in the data’. End with the line: Educational use only. Not investment advice.”</a:t>
            </a:r>
          </a:p>
        </p:txBody>
      </p:sp>
      <p:sp>
        <p:nvSpPr>
          <p:cNvPr id="8" name="Rectangle 7"/>
          <p:cNvSpPr/>
          <p:nvPr/>
        </p:nvSpPr>
        <p:spPr>
          <a:xfrm>
            <a:off x="548640" y="2542032"/>
            <a:ext cx="361188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816351"/>
            <a:ext cx="3099816" cy="274320"/>
          </a:xfrm>
          <a:prstGeom prst="rect">
            <a:avLst/>
          </a:prstGeom>
          <a:noFill/>
        </p:spPr>
        <p:txBody>
          <a:bodyPr wrap="square" anchor="t" lIns="0" rIns="0" tIns="0" bIns="0">
            <a:spAutoFit/>
          </a:bodyPr>
          <a:lstStyle/>
          <a:p>
            <a:pPr algn="l"/>
            <a:r>
              <a:rPr sz="950" b="1">
                <a:solidFill>
                  <a:srgbClr val="3A5C9E"/>
                </a:solidFill>
              </a:rPr>
              <a:t>PARAGRAPH ONE</a:t>
            </a:r>
          </a:p>
        </p:txBody>
      </p:sp>
      <p:sp>
        <p:nvSpPr>
          <p:cNvPr id="10" name="TextBox 9"/>
          <p:cNvSpPr txBox="1"/>
          <p:nvPr/>
        </p:nvSpPr>
        <p:spPr>
          <a:xfrm>
            <a:off x="804672" y="3145536"/>
            <a:ext cx="3099816" cy="411480"/>
          </a:xfrm>
          <a:prstGeom prst="rect">
            <a:avLst/>
          </a:prstGeom>
          <a:noFill/>
        </p:spPr>
        <p:txBody>
          <a:bodyPr wrap="square" anchor="t" lIns="0" rIns="0" tIns="0" bIns="0">
            <a:spAutoFit/>
          </a:bodyPr>
          <a:lstStyle/>
          <a:p>
            <a:pPr algn="l"/>
            <a:r>
              <a:rPr sz="1700" b="1">
                <a:solidFill>
                  <a:srgbClr val="0F2145"/>
                </a:solidFill>
                <a:latin typeface="Georgia"/>
              </a:rPr>
              <a:t>What the price did</a:t>
            </a:r>
          </a:p>
        </p:txBody>
      </p:sp>
      <p:sp>
        <p:nvSpPr>
          <p:cNvPr id="11" name="TextBox 10"/>
          <p:cNvSpPr txBox="1"/>
          <p:nvPr/>
        </p:nvSpPr>
        <p:spPr>
          <a:xfrm>
            <a:off x="804672" y="3657600"/>
            <a:ext cx="3099816"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last close and the day move</a:t>
            </a:r>
          </a:p>
        </p:txBody>
      </p:sp>
      <p:sp>
        <p:nvSpPr>
          <p:cNvPr id="12" name="TextBox 11"/>
          <p:cNvSpPr txBox="1"/>
          <p:nvPr/>
        </p:nvSpPr>
        <p:spPr>
          <a:xfrm>
            <a:off x="804672" y="4133087"/>
            <a:ext cx="3099816"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Where that sits in the 52-week range</a:t>
            </a:r>
          </a:p>
        </p:txBody>
      </p:sp>
      <p:sp>
        <p:nvSpPr>
          <p:cNvPr id="13" name="TextBox 12"/>
          <p:cNvSpPr txBox="1"/>
          <p:nvPr/>
        </p:nvSpPr>
        <p:spPr>
          <a:xfrm>
            <a:off x="804672" y="4608576"/>
            <a:ext cx="3099816"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Every figure is in the table above it</a:t>
            </a:r>
          </a:p>
        </p:txBody>
      </p:sp>
      <p:sp>
        <p:nvSpPr>
          <p:cNvPr id="14" name="Rectangle 13"/>
          <p:cNvSpPr/>
          <p:nvPr/>
        </p:nvSpPr>
        <p:spPr>
          <a:xfrm>
            <a:off x="548640" y="254203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542032"/>
            <a:ext cx="361188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816351"/>
            <a:ext cx="3099816" cy="274320"/>
          </a:xfrm>
          <a:prstGeom prst="rect">
            <a:avLst/>
          </a:prstGeom>
          <a:noFill/>
        </p:spPr>
        <p:txBody>
          <a:bodyPr wrap="square" anchor="t" lIns="0" rIns="0" tIns="0" bIns="0">
            <a:spAutoFit/>
          </a:bodyPr>
          <a:lstStyle/>
          <a:p>
            <a:pPr algn="l"/>
            <a:r>
              <a:rPr sz="950" b="1">
                <a:solidFill>
                  <a:srgbClr val="3A5C9E"/>
                </a:solidFill>
              </a:rPr>
              <a:t>PARAGRAPH TWO</a:t>
            </a:r>
          </a:p>
        </p:txBody>
      </p:sp>
      <p:sp>
        <p:nvSpPr>
          <p:cNvPr id="17" name="TextBox 16"/>
          <p:cNvSpPr txBox="1"/>
          <p:nvPr/>
        </p:nvSpPr>
        <p:spPr>
          <a:xfrm>
            <a:off x="4572000" y="3145536"/>
            <a:ext cx="3099816" cy="411480"/>
          </a:xfrm>
          <a:prstGeom prst="rect">
            <a:avLst/>
          </a:prstGeom>
          <a:noFill/>
        </p:spPr>
        <p:txBody>
          <a:bodyPr wrap="square" anchor="t" lIns="0" rIns="0" tIns="0" bIns="0">
            <a:spAutoFit/>
          </a:bodyPr>
          <a:lstStyle/>
          <a:p>
            <a:pPr algn="l"/>
            <a:r>
              <a:rPr sz="1700" b="1">
                <a:solidFill>
                  <a:srgbClr val="0F2145"/>
                </a:solidFill>
                <a:latin typeface="Georgia"/>
              </a:rPr>
              <a:t>What the model is worth</a:t>
            </a:r>
          </a:p>
        </p:txBody>
      </p:sp>
      <p:sp>
        <p:nvSpPr>
          <p:cNvPr id="18" name="TextBox 17"/>
          <p:cNvSpPr txBox="1"/>
          <p:nvPr/>
        </p:nvSpPr>
        <p:spPr>
          <a:xfrm>
            <a:off x="4572000" y="3657600"/>
            <a:ext cx="3099816"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DCF value per share and its gap to the close</a:t>
            </a:r>
          </a:p>
        </p:txBody>
      </p:sp>
      <p:sp>
        <p:nvSpPr>
          <p:cNvPr id="19" name="TextBox 18"/>
          <p:cNvSpPr txBox="1"/>
          <p:nvPr/>
        </p:nvSpPr>
        <p:spPr>
          <a:xfrm>
            <a:off x="4572000" y="4133087"/>
            <a:ext cx="3099816"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share of value that sits in the terminal lump</a:t>
            </a:r>
          </a:p>
        </p:txBody>
      </p:sp>
      <p:sp>
        <p:nvSpPr>
          <p:cNvPr id="20" name="TextBox 19"/>
          <p:cNvSpPr txBox="1"/>
          <p:nvPr/>
        </p:nvSpPr>
        <p:spPr>
          <a:xfrm>
            <a:off x="4572000" y="4608576"/>
            <a:ext cx="3099816" cy="457200"/>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Again, all of it read from the table</a:t>
            </a:r>
          </a:p>
        </p:txBody>
      </p:sp>
      <p:sp>
        <p:nvSpPr>
          <p:cNvPr id="21" name="Rectangle 20"/>
          <p:cNvSpPr/>
          <p:nvPr/>
        </p:nvSpPr>
        <p:spPr>
          <a:xfrm>
            <a:off x="4315968" y="254203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2542032"/>
            <a:ext cx="3557016"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816351"/>
            <a:ext cx="3044952" cy="274320"/>
          </a:xfrm>
          <a:prstGeom prst="rect">
            <a:avLst/>
          </a:prstGeom>
          <a:noFill/>
        </p:spPr>
        <p:txBody>
          <a:bodyPr wrap="square" anchor="t" lIns="0" rIns="0" tIns="0" bIns="0">
            <a:spAutoFit/>
          </a:bodyPr>
          <a:lstStyle/>
          <a:p>
            <a:pPr algn="l"/>
            <a:r>
              <a:rPr sz="950" b="1">
                <a:solidFill>
                  <a:srgbClr val="C9A227"/>
                </a:solidFill>
              </a:rPr>
              <a:t>PARAGRAPH THREE</a:t>
            </a:r>
          </a:p>
        </p:txBody>
      </p:sp>
      <p:sp>
        <p:nvSpPr>
          <p:cNvPr id="24" name="TextBox 23"/>
          <p:cNvSpPr txBox="1"/>
          <p:nvPr/>
        </p:nvSpPr>
        <p:spPr>
          <a:xfrm>
            <a:off x="8339327" y="3145536"/>
            <a:ext cx="3044952" cy="411480"/>
          </a:xfrm>
          <a:prstGeom prst="rect">
            <a:avLst/>
          </a:prstGeom>
          <a:noFill/>
        </p:spPr>
        <p:txBody>
          <a:bodyPr wrap="square" anchor="t" lIns="0" rIns="0" tIns="0" bIns="0">
            <a:spAutoFit/>
          </a:bodyPr>
          <a:lstStyle/>
          <a:p>
            <a:pPr algn="l"/>
            <a:r>
              <a:rPr sz="1700" b="1">
                <a:solidFill>
                  <a:srgbClr val="FFFFFF"/>
                </a:solidFill>
                <a:latin typeface="Georgia"/>
              </a:rPr>
              <a:t>What moves the answer</a:t>
            </a:r>
          </a:p>
        </p:txBody>
      </p:sp>
      <p:sp>
        <p:nvSpPr>
          <p:cNvPr id="25" name="TextBox 24"/>
          <p:cNvSpPr txBox="1"/>
          <p:nvPr/>
        </p:nvSpPr>
        <p:spPr>
          <a:xfrm>
            <a:off x="8339327" y="3657600"/>
            <a:ext cx="3044952" cy="45720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Which assumption moves the value most, and by how much</a:t>
            </a:r>
          </a:p>
        </p:txBody>
      </p:sp>
      <p:sp>
        <p:nvSpPr>
          <p:cNvPr id="26" name="TextBox 25"/>
          <p:cNvSpPr txBox="1"/>
          <p:nvPr/>
        </p:nvSpPr>
        <p:spPr>
          <a:xfrm>
            <a:off x="8339327" y="4133087"/>
            <a:ext cx="3044952" cy="45720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This is the paragraph the model gets wrong when asked to reason</a:t>
            </a:r>
          </a:p>
        </p:txBody>
      </p:sp>
      <p:sp>
        <p:nvSpPr>
          <p:cNvPr id="27" name="TextBox 26"/>
          <p:cNvSpPr txBox="1"/>
          <p:nvPr/>
        </p:nvSpPr>
        <p:spPr>
          <a:xfrm>
            <a:off x="8339327" y="4608576"/>
            <a:ext cx="3044952" cy="457200"/>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Feed it the computed one-point moves and it becomes a reading task</a:t>
            </a:r>
          </a:p>
        </p:txBody>
      </p:sp>
      <p:sp>
        <p:nvSpPr>
          <p:cNvPr id="28" name="Rectangle 27"/>
          <p:cNvSpPr/>
          <p:nvPr/>
        </p:nvSpPr>
        <p:spPr>
          <a:xfrm>
            <a:off x="548640" y="4956048"/>
            <a:ext cx="11091672" cy="78638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956048"/>
            <a:ext cx="64008" cy="78638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084064"/>
            <a:ext cx="10515600" cy="566928"/>
          </a:xfrm>
          <a:prstGeom prst="rect">
            <a:avLst/>
          </a:prstGeom>
          <a:noFill/>
        </p:spPr>
        <p:txBody>
          <a:bodyPr wrap="square" anchor="t" lIns="0" rIns="0" tIns="0" bIns="0">
            <a:spAutoFit/>
          </a:bodyPr>
          <a:lstStyle/>
          <a:p>
            <a:pPr algn="l"/>
            <a:r>
              <a:rPr sz="950" b="1">
                <a:solidFill>
                  <a:srgbClr val="3A5C9E"/>
                </a:solidFill>
              </a:rPr>
              <a:t>THE INSTRUCTION THAT SOUNDS LIKE A SMALL THING</a:t>
            </a:r>
          </a:p>
          <a:p>
            <a:pPr algn="l">
              <a:spcBef>
                <a:spcPts val="400"/>
              </a:spcBef>
            </a:pPr>
            <a:r>
              <a:rPr sz="1100" b="0">
                <a:solidFill>
                  <a:srgbClr val="1B2A41"/>
                </a:solidFill>
              </a:rPr>
              <a:t>“If the number is not in the table, write not in the data.” That line is the difference between a note you can publish and a note you have to re-check line by line.</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STEPS 7 AND 8</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Put it on a page, then make the page run without you</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streamlit run m09_dashboard.py</a:t>
            </a:r>
          </a:p>
        </p:txBody>
      </p:sp>
      <p:sp>
        <p:nvSpPr>
          <p:cNvPr id="8" name="Rectangle 7"/>
          <p:cNvSpPr/>
          <p:nvPr/>
        </p:nvSpPr>
        <p:spPr>
          <a:xfrm>
            <a:off x="548640" y="2139696"/>
            <a:ext cx="3611880" cy="3054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14015"/>
            <a:ext cx="3099816" cy="274320"/>
          </a:xfrm>
          <a:prstGeom prst="rect">
            <a:avLst/>
          </a:prstGeom>
          <a:noFill/>
        </p:spPr>
        <p:txBody>
          <a:bodyPr wrap="square" anchor="t" lIns="0" rIns="0" tIns="0" bIns="0">
            <a:spAutoFit/>
          </a:bodyPr>
          <a:lstStyle/>
          <a:p>
            <a:pPr algn="l"/>
            <a:r>
              <a:rPr sz="950" b="1">
                <a:solidFill>
                  <a:srgbClr val="3A5C9E"/>
                </a:solidFill>
              </a:rPr>
              <a:t>WHAT THE PAGE SHOWS</a:t>
            </a:r>
          </a:p>
        </p:txBody>
      </p:sp>
      <p:sp>
        <p:nvSpPr>
          <p:cNvPr id="10" name="TextBox 9"/>
          <p:cNvSpPr txBox="1"/>
          <p:nvPr/>
        </p:nvSpPr>
        <p:spPr>
          <a:xfrm>
            <a:off x="804672" y="2743200"/>
            <a:ext cx="3099816" cy="411480"/>
          </a:xfrm>
          <a:prstGeom prst="rect">
            <a:avLst/>
          </a:prstGeom>
          <a:noFill/>
        </p:spPr>
        <p:txBody>
          <a:bodyPr wrap="square" anchor="t" lIns="0" rIns="0" tIns="0" bIns="0">
            <a:spAutoFit/>
          </a:bodyPr>
          <a:lstStyle/>
          <a:p>
            <a:pPr algn="l"/>
            <a:r>
              <a:rPr sz="1700" b="1">
                <a:solidFill>
                  <a:srgbClr val="0F2145"/>
                </a:solidFill>
                <a:latin typeface="Georgia"/>
              </a:rPr>
              <a:t>The sliders are the assumptions</a:t>
            </a:r>
          </a:p>
        </p:txBody>
      </p:sp>
      <p:sp>
        <p:nvSpPr>
          <p:cNvPr id="11" name="TextBox 10"/>
          <p:cNvSpPr txBox="1"/>
          <p:nvPr/>
        </p:nvSpPr>
        <p:spPr>
          <a:xfrm>
            <a:off x="804672" y="3328415"/>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metrics row: last close, day move, 52-week range, market cap</a:t>
            </a:r>
          </a:p>
        </p:txBody>
      </p:sp>
      <p:sp>
        <p:nvSpPr>
          <p:cNvPr id="12" name="TextBox 11"/>
          <p:cNvSpPr txBox="1"/>
          <p:nvPr/>
        </p:nvSpPr>
        <p:spPr>
          <a:xfrm>
            <a:off x="804672" y="3877055"/>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price line and the free cash flow bars</a:t>
            </a:r>
          </a:p>
        </p:txBody>
      </p:sp>
      <p:sp>
        <p:nvSpPr>
          <p:cNvPr id="13" name="TextBox 12"/>
          <p:cNvSpPr txBox="1"/>
          <p:nvPr/>
        </p:nvSpPr>
        <p:spPr>
          <a:xfrm>
            <a:off x="804672" y="4425696"/>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Three sliders for growth, discount rate and terminal growth</a:t>
            </a:r>
          </a:p>
        </p:txBody>
      </p:sp>
      <p:sp>
        <p:nvSpPr>
          <p:cNvPr id="14" name="TextBox 13"/>
          <p:cNvSpPr txBox="1"/>
          <p:nvPr/>
        </p:nvSpPr>
        <p:spPr>
          <a:xfrm>
            <a:off x="804672" y="4974336"/>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The sensitivity grid and the three-paragraph note underneath</a:t>
            </a:r>
          </a:p>
        </p:txBody>
      </p:sp>
      <p:sp>
        <p:nvSpPr>
          <p:cNvPr id="15" name="Rectangle 14"/>
          <p:cNvSpPr/>
          <p:nvPr/>
        </p:nvSpPr>
        <p:spPr>
          <a:xfrm>
            <a:off x="548640" y="2139696"/>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2139696"/>
            <a:ext cx="3611880" cy="3054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414015"/>
            <a:ext cx="3099816" cy="274320"/>
          </a:xfrm>
          <a:prstGeom prst="rect">
            <a:avLst/>
          </a:prstGeom>
          <a:noFill/>
        </p:spPr>
        <p:txBody>
          <a:bodyPr wrap="square" anchor="t" lIns="0" rIns="0" tIns="0" bIns="0">
            <a:spAutoFit/>
          </a:bodyPr>
          <a:lstStyle/>
          <a:p>
            <a:pPr algn="l"/>
            <a:r>
              <a:rPr sz="950" b="1">
                <a:solidFill>
                  <a:srgbClr val="3A5C9E"/>
                </a:solidFill>
              </a:rPr>
              <a:t>WHAT PAGES CANNOT DO</a:t>
            </a:r>
          </a:p>
        </p:txBody>
      </p:sp>
      <p:sp>
        <p:nvSpPr>
          <p:cNvPr id="18" name="TextBox 17"/>
          <p:cNvSpPr txBox="1"/>
          <p:nvPr/>
        </p:nvSpPr>
        <p:spPr>
          <a:xfrm>
            <a:off x="4572000" y="2743200"/>
            <a:ext cx="3099816" cy="411480"/>
          </a:xfrm>
          <a:prstGeom prst="rect">
            <a:avLst/>
          </a:prstGeom>
          <a:noFill/>
        </p:spPr>
        <p:txBody>
          <a:bodyPr wrap="square" anchor="t" lIns="0" rIns="0" tIns="0" bIns="0">
            <a:spAutoFit/>
          </a:bodyPr>
          <a:lstStyle/>
          <a:p>
            <a:pPr algn="l"/>
            <a:r>
              <a:rPr sz="1700" b="1">
                <a:solidFill>
                  <a:srgbClr val="0F2145"/>
                </a:solidFill>
                <a:latin typeface="Georgia"/>
              </a:rPr>
              <a:t>Streamlit needs a server</a:t>
            </a:r>
          </a:p>
        </p:txBody>
      </p:sp>
      <p:sp>
        <p:nvSpPr>
          <p:cNvPr id="19" name="TextBox 18"/>
          <p:cNvSpPr txBox="1"/>
          <p:nvPr/>
        </p:nvSpPr>
        <p:spPr>
          <a:xfrm>
            <a:off x="4572000" y="3328415"/>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GitHub Pages serves static files only</a:t>
            </a:r>
          </a:p>
        </p:txBody>
      </p:sp>
      <p:sp>
        <p:nvSpPr>
          <p:cNvPr id="20" name="TextBox 19"/>
          <p:cNvSpPr txBox="1"/>
          <p:nvPr/>
        </p:nvSpPr>
        <p:spPr>
          <a:xfrm>
            <a:off x="4572000" y="3877055"/>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Write the numbers to a static HTML page and let Pages serve that</a:t>
            </a:r>
          </a:p>
        </p:txBody>
      </p:sp>
      <p:sp>
        <p:nvSpPr>
          <p:cNvPr id="21" name="TextBox 20"/>
          <p:cNvSpPr txBox="1"/>
          <p:nvPr/>
        </p:nvSpPr>
        <p:spPr>
          <a:xfrm>
            <a:off x="4572000" y="4425696"/>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Host the clickable app on Streamlit Community Cloud, free for a public repository</a:t>
            </a:r>
          </a:p>
        </p:txBody>
      </p:sp>
      <p:sp>
        <p:nvSpPr>
          <p:cNvPr id="22" name="TextBox 21"/>
          <p:cNvSpPr txBox="1"/>
          <p:nvPr/>
        </p:nvSpPr>
        <p:spPr>
          <a:xfrm>
            <a:off x="4572000" y="4974336"/>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That two-part arrangement gives you both, at no cost</a:t>
            </a:r>
          </a:p>
        </p:txBody>
      </p:sp>
      <p:sp>
        <p:nvSpPr>
          <p:cNvPr id="23" name="Rectangle 22"/>
          <p:cNvSpPr/>
          <p:nvPr/>
        </p:nvSpPr>
        <p:spPr>
          <a:xfrm>
            <a:off x="4315968" y="2139696"/>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83296" y="2139696"/>
            <a:ext cx="3557016" cy="3054096"/>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7" y="2414015"/>
            <a:ext cx="3044952" cy="274320"/>
          </a:xfrm>
          <a:prstGeom prst="rect">
            <a:avLst/>
          </a:prstGeom>
          <a:noFill/>
        </p:spPr>
        <p:txBody>
          <a:bodyPr wrap="square" anchor="t" lIns="0" rIns="0" tIns="0" bIns="0">
            <a:spAutoFit/>
          </a:bodyPr>
          <a:lstStyle/>
          <a:p>
            <a:pPr algn="l"/>
            <a:r>
              <a:rPr sz="950" b="1">
                <a:solidFill>
                  <a:srgbClr val="C9A227"/>
                </a:solidFill>
              </a:rPr>
              <a:t>THE RULE THAT SAVES YOU</a:t>
            </a:r>
          </a:p>
        </p:txBody>
      </p:sp>
      <p:sp>
        <p:nvSpPr>
          <p:cNvPr id="26" name="TextBox 25"/>
          <p:cNvSpPr txBox="1"/>
          <p:nvPr/>
        </p:nvSpPr>
        <p:spPr>
          <a:xfrm>
            <a:off x="8339327" y="2743200"/>
            <a:ext cx="3044952" cy="411480"/>
          </a:xfrm>
          <a:prstGeom prst="rect">
            <a:avLst/>
          </a:prstGeom>
          <a:noFill/>
        </p:spPr>
        <p:txBody>
          <a:bodyPr wrap="square" anchor="t" lIns="0" rIns="0" tIns="0" bIns="0">
            <a:spAutoFit/>
          </a:bodyPr>
          <a:lstStyle/>
          <a:p>
            <a:pPr algn="l"/>
            <a:r>
              <a:rPr sz="1700" b="1">
                <a:solidFill>
                  <a:srgbClr val="FFFFFF"/>
                </a:solidFill>
                <a:latin typeface="Georgia"/>
              </a:rPr>
              <a:t>Show the age of your own data</a:t>
            </a:r>
          </a:p>
        </p:txBody>
      </p:sp>
      <p:sp>
        <p:nvSpPr>
          <p:cNvPr id="27" name="TextBox 26"/>
          <p:cNvSpPr txBox="1"/>
          <p:nvPr/>
        </p:nvSpPr>
        <p:spPr>
          <a:xfrm>
            <a:off x="8339327" y="3328415"/>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A scheduled job fails silently: the fetch is blocked, the layout changes, the runner times out</a:t>
            </a:r>
          </a:p>
        </p:txBody>
      </p:sp>
      <p:sp>
        <p:nvSpPr>
          <p:cNvPr id="28" name="TextBox 27"/>
          <p:cNvSpPr txBox="1"/>
          <p:nvPr/>
        </p:nvSpPr>
        <p:spPr>
          <a:xfrm>
            <a:off x="8339327" y="3877055"/>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The page then serves yesterday's file with today's date on the tab</a:t>
            </a:r>
          </a:p>
        </p:txBody>
      </p:sp>
      <p:sp>
        <p:nvSpPr>
          <p:cNvPr id="29" name="TextBox 28"/>
          <p:cNvSpPr txBox="1"/>
          <p:nvPr/>
        </p:nvSpPr>
        <p:spPr>
          <a:xfrm>
            <a:off x="8339327" y="4425696"/>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Print the date of the newest real number, and mark anything old as stale</a:t>
            </a:r>
          </a:p>
        </p:txBody>
      </p:sp>
      <p:sp>
        <p:nvSpPr>
          <p:cNvPr id="30" name="TextBox 29"/>
          <p:cNvSpPr txBox="1"/>
          <p:nvPr/>
        </p:nvSpPr>
        <p:spPr>
          <a:xfrm>
            <a:off x="8339327" y="4974336"/>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That rule came from a stretch of mornings where the job reported success and fetched nothing</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Rectangle 3"/>
          <p:cNvSpPr/>
          <p:nvPr/>
        </p:nvSpPr>
        <p:spPr>
          <a:xfrm>
            <a:off x="548640" y="9601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96012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14984"/>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7" name="TextBox 6"/>
          <p:cNvSpPr txBox="1"/>
          <p:nvPr/>
        </p:nvSpPr>
        <p:spPr>
          <a:xfrm>
            <a:off x="1554480" y="1005840"/>
            <a:ext cx="9875520" cy="566928"/>
          </a:xfrm>
          <a:prstGeom prst="rect">
            <a:avLst/>
          </a:prstGeom>
          <a:noFill/>
        </p:spPr>
        <p:txBody>
          <a:bodyPr wrap="square" anchor="t" lIns="0" rIns="0" tIns="0" bIns="0">
            <a:spAutoFit/>
          </a:bodyPr>
          <a:lstStyle/>
          <a:p>
            <a:pPr algn="l"/>
            <a:r>
              <a:rPr sz="1050" b="1">
                <a:solidFill>
                  <a:srgbClr val="1B2A41"/>
                </a:solidFill>
              </a:rPr>
              <a:t>State the one rule of this chapter, and give the example from the lab where breaking it produced a wrong paragraph.</a:t>
            </a:r>
          </a:p>
          <a:p>
            <a:pPr algn="l">
              <a:spcBef>
                <a:spcPts val="200"/>
              </a:spcBef>
            </a:pPr>
            <a:r>
              <a:rPr sz="900" b="1">
                <a:solidFill>
                  <a:srgbClr val="C9A227"/>
                </a:solidFill>
              </a:rPr>
              <a:t>TIP</a:t>
            </a:r>
            <a:r>
              <a:rPr sz="900" b="0">
                <a:solidFill>
                  <a:srgbClr val="5D6B7E"/>
                </a:solidFill>
              </a:rPr>
              <a:t>Arithmetic in Python, words in the model. Asked which assumption moved the value most, it reasoned in prose and answered terminal growth.</a:t>
            </a:r>
          </a:p>
        </p:txBody>
      </p:sp>
      <p:sp>
        <p:nvSpPr>
          <p:cNvPr id="8" name="Rectangle 7"/>
          <p:cNvSpPr/>
          <p:nvPr/>
        </p:nvSpPr>
        <p:spPr>
          <a:xfrm>
            <a:off x="548640" y="1655064"/>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55064"/>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9928"/>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1" name="TextBox 10"/>
          <p:cNvSpPr txBox="1"/>
          <p:nvPr/>
        </p:nvSpPr>
        <p:spPr>
          <a:xfrm>
            <a:off x="1554480" y="1700784"/>
            <a:ext cx="9875520" cy="566928"/>
          </a:xfrm>
          <a:prstGeom prst="rect">
            <a:avLst/>
          </a:prstGeom>
          <a:noFill/>
        </p:spPr>
        <p:txBody>
          <a:bodyPr wrap="square" anchor="t" lIns="0" rIns="0" tIns="0" bIns="0">
            <a:spAutoFit/>
          </a:bodyPr>
          <a:lstStyle/>
          <a:p>
            <a:pPr algn="l"/>
            <a:r>
              <a:rPr sz="1050" b="1">
                <a:solidFill>
                  <a:srgbClr val="1B2A41"/>
                </a:solidFill>
              </a:rPr>
              <a:t>The lab's 52-week range is $352.17 to $537.65. A vendor shows a different range for the same dates. Why?</a:t>
            </a:r>
          </a:p>
          <a:p>
            <a:pPr algn="l">
              <a:spcBef>
                <a:spcPts val="200"/>
              </a:spcBef>
            </a:pPr>
            <a:r>
              <a:rPr sz="900" b="1">
                <a:solidFill>
                  <a:srgbClr val="C9A227"/>
                </a:solidFill>
              </a:rPr>
              <a:t>TIP</a:t>
            </a:r>
            <a:r>
              <a:rPr sz="900" b="0">
                <a:solidFill>
                  <a:srgbClr val="5D6B7E"/>
                </a:solidFill>
              </a:rPr>
              <a:t>The loader reads the Close column, so the range is on a closing basis. The vendor uses intraday highs and lows.</a:t>
            </a:r>
          </a:p>
        </p:txBody>
      </p:sp>
      <p:sp>
        <p:nvSpPr>
          <p:cNvPr id="12" name="Rectangle 11"/>
          <p:cNvSpPr/>
          <p:nvPr/>
        </p:nvSpPr>
        <p:spPr>
          <a:xfrm>
            <a:off x="548640" y="2350008"/>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50008"/>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04872"/>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5" name="TextBox 14"/>
          <p:cNvSpPr txBox="1"/>
          <p:nvPr/>
        </p:nvSpPr>
        <p:spPr>
          <a:xfrm>
            <a:off x="1554480" y="2395728"/>
            <a:ext cx="9875520" cy="566928"/>
          </a:xfrm>
          <a:prstGeom prst="rect">
            <a:avLst/>
          </a:prstGeom>
          <a:noFill/>
        </p:spPr>
        <p:txBody>
          <a:bodyPr wrap="square" anchor="t" lIns="0" rIns="0" tIns="0" bIns="0">
            <a:spAutoFit/>
          </a:bodyPr>
          <a:lstStyle/>
          <a:p>
            <a:pPr algn="l"/>
            <a:r>
              <a:rPr sz="1050" b="1">
                <a:solidFill>
                  <a:srgbClr val="1B2A41"/>
                </a:solidFill>
              </a:rPr>
              <a:t>The terminal value is 76% of enterprise value. Explain in two sentences how that changes the way you read $172.73.</a:t>
            </a:r>
          </a:p>
          <a:p>
            <a:pPr algn="l">
              <a:spcBef>
                <a:spcPts val="200"/>
              </a:spcBef>
            </a:pPr>
            <a:r>
              <a:rPr sz="900" b="1">
                <a:solidFill>
                  <a:srgbClr val="C9A227"/>
                </a:solidFill>
              </a:rPr>
              <a:t>TIP</a:t>
            </a:r>
            <a:r>
              <a:rPr sz="900" b="0">
                <a:solidFill>
                  <a:srgbClr val="5D6B7E"/>
                </a:solidFill>
              </a:rPr>
              <a:t>Three quarters of the answer rests on one assumption about growth after year five. Read it as a point inside the range the sensitivity grid draws.</a:t>
            </a:r>
          </a:p>
        </p:txBody>
      </p:sp>
      <p:sp>
        <p:nvSpPr>
          <p:cNvPr id="16" name="Rectangle 15"/>
          <p:cNvSpPr/>
          <p:nvPr/>
        </p:nvSpPr>
        <p:spPr>
          <a:xfrm>
            <a:off x="548640" y="3044952"/>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2"/>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19" name="TextBox 18"/>
          <p:cNvSpPr txBox="1"/>
          <p:nvPr/>
        </p:nvSpPr>
        <p:spPr>
          <a:xfrm>
            <a:off x="1554480" y="3090672"/>
            <a:ext cx="9875520" cy="566928"/>
          </a:xfrm>
          <a:prstGeom prst="rect">
            <a:avLst/>
          </a:prstGeom>
          <a:noFill/>
        </p:spPr>
        <p:txBody>
          <a:bodyPr wrap="square" anchor="t" lIns="0" rIns="0" tIns="0" bIns="0">
            <a:spAutoFit/>
          </a:bodyPr>
          <a:lstStyle/>
          <a:p>
            <a:pPr algn="l"/>
            <a:r>
              <a:rPr sz="1050" b="1">
                <a:solidFill>
                  <a:srgbClr val="1B2A41"/>
                </a:solidFill>
              </a:rPr>
              <a:t>Rank the three one-point sensitivities by size, and explain why the discount rate beats terminal growth.</a:t>
            </a:r>
          </a:p>
          <a:p>
            <a:pPr algn="l">
              <a:spcBef>
                <a:spcPts val="200"/>
              </a:spcBef>
            </a:pPr>
            <a:r>
              <a:rPr sz="900" b="1">
                <a:solidFill>
                  <a:srgbClr val="C9A227"/>
                </a:solidFill>
              </a:rPr>
              <a:t>TIP</a:t>
            </a:r>
            <a:r>
              <a:rPr sz="900" b="0">
                <a:solidFill>
                  <a:srgbClr val="5D6B7E"/>
                </a:solidFill>
              </a:rPr>
              <a:t>Discount $33.50, terminal growth $26.27, five-year growth $7.63. The discount rate sits in every year and in the terminal lump twice.</a:t>
            </a:r>
          </a:p>
        </p:txBody>
      </p:sp>
      <p:sp>
        <p:nvSpPr>
          <p:cNvPr id="20" name="Rectangle 19"/>
          <p:cNvSpPr/>
          <p:nvPr/>
        </p:nvSpPr>
        <p:spPr>
          <a:xfrm>
            <a:off x="548640" y="3739896"/>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94759"/>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3" name="TextBox 22"/>
          <p:cNvSpPr txBox="1"/>
          <p:nvPr/>
        </p:nvSpPr>
        <p:spPr>
          <a:xfrm>
            <a:off x="1554480" y="3785615"/>
            <a:ext cx="9875520" cy="566928"/>
          </a:xfrm>
          <a:prstGeom prst="rect">
            <a:avLst/>
          </a:prstGeom>
          <a:noFill/>
        </p:spPr>
        <p:txBody>
          <a:bodyPr wrap="square" anchor="t" lIns="0" rIns="0" tIns="0" bIns="0">
            <a:spAutoFit/>
          </a:bodyPr>
          <a:lstStyle/>
          <a:p>
            <a:pPr algn="l"/>
            <a:r>
              <a:rPr sz="1050" b="1">
                <a:solidFill>
                  <a:srgbClr val="1B2A41"/>
                </a:solidFill>
              </a:rPr>
              <a:t>Rewrite the third prompt instruction so the model performs a reading task, and say what the engine must supply.</a:t>
            </a:r>
          </a:p>
          <a:p>
            <a:pPr algn="l">
              <a:spcBef>
                <a:spcPts val="200"/>
              </a:spcBef>
            </a:pPr>
            <a:r>
              <a:rPr sz="900" b="1">
                <a:solidFill>
                  <a:srgbClr val="C9A227"/>
                </a:solidFill>
              </a:rPr>
              <a:t>TIP</a:t>
            </a:r>
            <a:r>
              <a:rPr sz="900" b="0">
                <a:solidFill>
                  <a:srgbClr val="5D6B7E"/>
                </a:solidFill>
              </a:rPr>
              <a:t>Name the assumption with the largest move in the list and quote both values. The engine supplies the three one-point moves as lines.</a:t>
            </a:r>
          </a:p>
        </p:txBody>
      </p:sp>
      <p:sp>
        <p:nvSpPr>
          <p:cNvPr id="24" name="Rectangle 23"/>
          <p:cNvSpPr/>
          <p:nvPr/>
        </p:nvSpPr>
        <p:spPr>
          <a:xfrm>
            <a:off x="548640" y="443484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3484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89703"/>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7" name="TextBox 26"/>
          <p:cNvSpPr txBox="1"/>
          <p:nvPr/>
        </p:nvSpPr>
        <p:spPr>
          <a:xfrm>
            <a:off x="1554480" y="4480559"/>
            <a:ext cx="9875520" cy="566928"/>
          </a:xfrm>
          <a:prstGeom prst="rect">
            <a:avLst/>
          </a:prstGeom>
          <a:noFill/>
        </p:spPr>
        <p:txBody>
          <a:bodyPr wrap="square" anchor="t" lIns="0" rIns="0" tIns="0" bIns="0">
            <a:spAutoFit/>
          </a:bodyPr>
          <a:lstStyle/>
          <a:p>
            <a:pPr algn="l"/>
            <a:r>
              <a:rPr sz="1050" b="1">
                <a:solidFill>
                  <a:srgbClr val="1B2A41"/>
                </a:solidFill>
              </a:rPr>
              <a:t>A workflow reports success every morning for a month and the page has not changed. Give three causes and the page-design rule that exposes it.</a:t>
            </a:r>
          </a:p>
          <a:p>
            <a:pPr algn="l">
              <a:spcBef>
                <a:spcPts val="200"/>
              </a:spcBef>
            </a:pPr>
            <a:r>
              <a:rPr sz="900" b="1">
                <a:solidFill>
                  <a:srgbClr val="C9A227"/>
                </a:solidFill>
              </a:rPr>
              <a:t>TIP</a:t>
            </a:r>
            <a:r>
              <a:rPr sz="900" b="0">
                <a:solidFill>
                  <a:srgbClr val="5D6B7E"/>
                </a:solidFill>
              </a:rPr>
              <a:t>The fetch was blocked, the layout changed, or a step continued on error. Every page prints the date of its newest real number.</a:t>
            </a:r>
          </a:p>
        </p:txBody>
      </p:sp>
      <p:sp>
        <p:nvSpPr>
          <p:cNvPr id="28" name="Rectangle 27"/>
          <p:cNvSpPr/>
          <p:nvPr/>
        </p:nvSpPr>
        <p:spPr>
          <a:xfrm>
            <a:off x="548640" y="5129783"/>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9783"/>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84647"/>
            <a:ext cx="640080" cy="365760"/>
          </a:xfrm>
          <a:prstGeom prst="rect">
            <a:avLst/>
          </a:prstGeom>
          <a:noFill/>
        </p:spPr>
        <p:txBody>
          <a:bodyPr wrap="square" anchor="t" lIns="0" rIns="0" tIns="0" bIns="0">
            <a:spAutoFit/>
          </a:bodyPr>
          <a:lstStyle/>
          <a:p>
            <a:pPr algn="l"/>
            <a:r>
              <a:rPr sz="1400" b="1">
                <a:solidFill>
                  <a:srgbClr val="3A5C9E"/>
                </a:solidFill>
                <a:latin typeface="Georgia"/>
              </a:rPr>
              <a:t>Q7</a:t>
            </a:r>
          </a:p>
        </p:txBody>
      </p:sp>
      <p:sp>
        <p:nvSpPr>
          <p:cNvPr id="31" name="TextBox 30"/>
          <p:cNvSpPr txBox="1"/>
          <p:nvPr/>
        </p:nvSpPr>
        <p:spPr>
          <a:xfrm>
            <a:off x="1554480" y="5175503"/>
            <a:ext cx="9875520" cy="566928"/>
          </a:xfrm>
          <a:prstGeom prst="rect">
            <a:avLst/>
          </a:prstGeom>
          <a:noFill/>
        </p:spPr>
        <p:txBody>
          <a:bodyPr wrap="square" anchor="t" lIns="0" rIns="0" tIns="0" bIns="0">
            <a:spAutoFit/>
          </a:bodyPr>
          <a:lstStyle/>
          <a:p>
            <a:pPr algn="l"/>
            <a:r>
              <a:rPr sz="1050" b="1">
                <a:solidFill>
                  <a:srgbClr val="1B2A41"/>
                </a:solidFill>
              </a:rPr>
              <a:t>GitHub Pages cannot serve the Streamlit dashboard. Say why, and describe the free two-part arrangement.</a:t>
            </a:r>
          </a:p>
          <a:p>
            <a:pPr algn="l">
              <a:spcBef>
                <a:spcPts val="200"/>
              </a:spcBef>
            </a:pPr>
            <a:r>
              <a:rPr sz="900" b="1">
                <a:solidFill>
                  <a:srgbClr val="C9A227"/>
                </a:solidFill>
              </a:rPr>
              <a:t>TIP</a:t>
            </a:r>
            <a:r>
              <a:rPr sz="900" b="0">
                <a:solidFill>
                  <a:srgbClr val="5D6B7E"/>
                </a:solidFill>
              </a:rPr>
              <a:t>Pages serves static files and Streamlit needs a running server. Static numbers on Pages, clickable app on Streamlit Community Cloud.</a:t>
            </a:r>
          </a:p>
        </p:txBody>
      </p:sp>
      <p:sp>
        <p:nvSpPr>
          <p:cNvPr id="32" name="Rectangle 31"/>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Before Session 10:</a:t>
            </a:r>
            <a:r>
              <a:rPr sz="1100" b="0">
                <a:solidFill>
                  <a:srgbClr val="FFFFFF"/>
                </a:solidFill>
              </a:rPr>
              <a:t>list the nine things you have built in this course, and write one sentence each on what a hiring manager would ask about them.</a:t>
            </a:r>
          </a:p>
        </p:txBody>
      </p:sp>
      <p:sp>
        <p:nvSpPr>
          <p:cNvPr id="35" name="TextBox 34"/>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9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