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14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354312" y="0"/>
            <a:ext cx="2834640" cy="685800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354312" y="0"/>
            <a:ext cx="36576" cy="6858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32688"/>
            <a:ext cx="8229600" cy="274320"/>
          </a:xfrm>
          <a:prstGeom prst="rect">
            <a:avLst/>
          </a:prstGeom>
          <a:noFill/>
        </p:spPr>
        <p:txBody>
          <a:bodyPr wrap="square" anchor="t" lIns="0" rIns="0" tIns="0" bIns="0">
            <a:spAutoFit/>
          </a:bodyPr>
          <a:lstStyle/>
          <a:p>
            <a:pPr algn="l"/>
            <a:r>
              <a:rPr sz="1200" b="1">
                <a:solidFill>
                  <a:srgbClr val="C9A227"/>
                </a:solidFill>
              </a:rPr>
              <a:t>AI IN FINANCE · THE COMPLETE CRASH COURSE · MODULE 10 OF 10</a:t>
            </a:r>
          </a:p>
        </p:txBody>
      </p:sp>
      <p:sp>
        <p:nvSpPr>
          <p:cNvPr id="6" name="TextBox 5"/>
          <p:cNvSpPr txBox="1"/>
          <p:nvPr/>
        </p:nvSpPr>
        <p:spPr>
          <a:xfrm>
            <a:off x="548640" y="1371600"/>
            <a:ext cx="8595360" cy="2194560"/>
          </a:xfrm>
          <a:prstGeom prst="rect">
            <a:avLst/>
          </a:prstGeom>
          <a:noFill/>
        </p:spPr>
        <p:txBody>
          <a:bodyPr wrap="square" anchor="t" lIns="0" rIns="0" tIns="0" bIns="0">
            <a:spAutoFit/>
          </a:bodyPr>
          <a:lstStyle/>
          <a:p>
            <a:pPr algn="l"/>
            <a:r>
              <a:rPr sz="5800" b="1">
                <a:solidFill>
                  <a:srgbClr val="FFFFFF"/>
                </a:solidFill>
                <a:latin typeface="Georgia"/>
              </a:rPr>
              <a:t>Module 10</a:t>
            </a:r>
          </a:p>
          <a:p>
            <a:pPr algn="l">
              <a:spcBef>
                <a:spcPts val="1000"/>
              </a:spcBef>
            </a:pPr>
            <a:r>
              <a:rPr sz="2100" b="0">
                <a:solidFill>
                  <a:srgbClr val="C9D6EE"/>
                </a:solidFill>
                <a:latin typeface="Georgia"/>
              </a:rPr>
              <a:t>Capstone: An Integrated Financial AI System</a:t>
            </a:r>
          </a:p>
        </p:txBody>
      </p:sp>
      <p:sp>
        <p:nvSpPr>
          <p:cNvPr id="7" name="Rectangle 6"/>
          <p:cNvSpPr/>
          <p:nvPr/>
        </p:nvSpPr>
        <p:spPr>
          <a:xfrm>
            <a:off x="548640" y="3913632"/>
            <a:ext cx="4023360" cy="182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4133087"/>
            <a:ext cx="8229600" cy="1097280"/>
          </a:xfrm>
          <a:prstGeom prst="rect">
            <a:avLst/>
          </a:prstGeom>
          <a:noFill/>
        </p:spPr>
        <p:txBody>
          <a:bodyPr wrap="square" anchor="t" lIns="0" rIns="0" tIns="0" bIns="0">
            <a:spAutoFit/>
          </a:bodyPr>
          <a:lstStyle/>
          <a:p>
            <a:pPr algn="l"/>
            <a:r>
              <a:rPr sz="1700" b="1">
                <a:solidFill>
                  <a:srgbClr val="FFFFFF"/>
                </a:solidFill>
              </a:rPr>
              <a:t>Tejas Jadhav, CFA, FRM</a:t>
            </a:r>
          </a:p>
          <a:p>
            <a:pPr algn="l">
              <a:spcBef>
                <a:spcPts val="400"/>
              </a:spcBef>
            </a:pPr>
            <a:r>
              <a:rPr sz="1200" b="0">
                <a:solidFill>
                  <a:srgbClr val="8FA1C4"/>
                </a:solidFill>
              </a:rPr>
              <a:t>AI in Finance: The Complete Crash Course</a:t>
            </a:r>
          </a:p>
          <a:p>
            <a:pPr algn="l">
              <a:spcBef>
                <a:spcPts val="300"/>
              </a:spcBef>
            </a:pPr>
            <a:r>
              <a:rPr sz="1200" b="1">
                <a:solidFill>
                  <a:srgbClr val="C9A227"/>
                </a:solidFill>
              </a:rPr>
              <a:t>tejasgjadhav.github.io/AIFinanceCrashcourse</a:t>
            </a:r>
          </a:p>
        </p:txBody>
      </p:sp>
      <p:sp>
        <p:nvSpPr>
          <p:cNvPr id="9" name="TextBox 8"/>
          <p:cNvSpPr txBox="1"/>
          <p:nvPr/>
        </p:nvSpPr>
        <p:spPr>
          <a:xfrm>
            <a:off x="9646920" y="850392"/>
            <a:ext cx="2194560" cy="274320"/>
          </a:xfrm>
          <a:prstGeom prst="rect">
            <a:avLst/>
          </a:prstGeom>
          <a:noFill/>
        </p:spPr>
        <p:txBody>
          <a:bodyPr wrap="square" anchor="t" lIns="0" rIns="0" tIns="0" bIns="0">
            <a:spAutoFit/>
          </a:bodyPr>
          <a:lstStyle/>
          <a:p>
            <a:pPr algn="l"/>
            <a:r>
              <a:rPr sz="1000" b="1">
                <a:solidFill>
                  <a:srgbClr val="C9A227"/>
                </a:solidFill>
              </a:rPr>
              <a:t>TODAY</a:t>
            </a:r>
          </a:p>
        </p:txBody>
      </p:sp>
      <p:sp>
        <p:nvSpPr>
          <p:cNvPr id="10" name="TextBox 9"/>
          <p:cNvSpPr txBox="1"/>
          <p:nvPr/>
        </p:nvSpPr>
        <p:spPr>
          <a:xfrm>
            <a:off x="9646920" y="1234440"/>
            <a:ext cx="2286000" cy="1005840"/>
          </a:xfrm>
          <a:prstGeom prst="rect">
            <a:avLst/>
          </a:prstGeom>
          <a:noFill/>
        </p:spPr>
        <p:txBody>
          <a:bodyPr wrap="square" anchor="t" lIns="0" rIns="0" tIns="0" bIns="0">
            <a:spAutoFit/>
          </a:bodyPr>
          <a:lstStyle/>
          <a:p>
            <a:pPr algn="l"/>
            <a:r>
              <a:rPr sz="1500" b="1">
                <a:solidFill>
                  <a:srgbClr val="FFFFFF"/>
                </a:solidFill>
                <a:latin typeface="Georgia"/>
              </a:rPr>
              <a:t>Not a new project</a:t>
            </a:r>
          </a:p>
          <a:p>
            <a:pPr algn="l">
              <a:spcBef>
                <a:spcPts val="400"/>
              </a:spcBef>
            </a:pPr>
            <a:r>
              <a:rPr sz="1000" b="0">
                <a:solidFill>
                  <a:srgbClr val="8FA1C4"/>
                </a:solidFill>
              </a:rPr>
              <a:t>The nine things you have</a:t>
            </a:r>
          </a:p>
          <a:p>
            <a:pPr algn="l">
              <a:spcBef>
                <a:spcPts val="200"/>
              </a:spcBef>
            </a:pPr>
            <a:r>
              <a:rPr sz="1000" b="0">
                <a:solidFill>
                  <a:srgbClr val="8FA1C4"/>
                </a:solidFill>
              </a:rPr>
              <a:t>already built, assembled</a:t>
            </a:r>
          </a:p>
          <a:p>
            <a:pPr algn="l">
              <a:spcBef>
                <a:spcPts val="200"/>
              </a:spcBef>
            </a:pPr>
            <a:r>
              <a:rPr sz="1000" b="0">
                <a:solidFill>
                  <a:srgbClr val="8FA1C4"/>
                </a:solidFill>
              </a:rPr>
              <a:t>into one answer.</a:t>
            </a:r>
          </a:p>
        </p:txBody>
      </p:sp>
      <p:sp>
        <p:nvSpPr>
          <p:cNvPr id="11" name="TextBox 10"/>
          <p:cNvSpPr txBox="1"/>
          <p:nvPr/>
        </p:nvSpPr>
        <p:spPr>
          <a:xfrm>
            <a:off x="9646920" y="2788920"/>
            <a:ext cx="2286000" cy="1097280"/>
          </a:xfrm>
          <a:prstGeom prst="rect">
            <a:avLst/>
          </a:prstGeom>
          <a:noFill/>
        </p:spPr>
        <p:txBody>
          <a:bodyPr wrap="square" anchor="t" lIns="0" rIns="0" tIns="0" bIns="0">
            <a:spAutoFit/>
          </a:bodyPr>
          <a:lstStyle/>
          <a:p>
            <a:pPr algn="l"/>
            <a:r>
              <a:rPr sz="1500" b="1">
                <a:solidFill>
                  <a:srgbClr val="FFFFFF"/>
                </a:solidFill>
                <a:latin typeface="Georgia"/>
              </a:rPr>
              <a:t>One link</a:t>
            </a:r>
          </a:p>
          <a:p>
            <a:pPr algn="l">
              <a:spcBef>
                <a:spcPts val="400"/>
              </a:spcBef>
            </a:pPr>
            <a:r>
              <a:rPr sz="1000" b="0">
                <a:solidFill>
                  <a:srgbClr val="8FA1C4"/>
                </a:solidFill>
              </a:rPr>
              <a:t>A hiring manager does not</a:t>
            </a:r>
          </a:p>
          <a:p>
            <a:pPr algn="l">
              <a:spcBef>
                <a:spcPts val="200"/>
              </a:spcBef>
            </a:pPr>
            <a:r>
              <a:rPr sz="1000" b="0">
                <a:solidFill>
                  <a:srgbClr val="8FA1C4"/>
                </a:solidFill>
              </a:rPr>
              <a:t>read nine folders.</a:t>
            </a:r>
          </a:p>
          <a:p>
            <a:pPr algn="l">
              <a:spcBef>
                <a:spcPts val="200"/>
              </a:spcBef>
            </a:pPr>
            <a:r>
              <a:rPr sz="1000" b="0">
                <a:solidFill>
                  <a:srgbClr val="8FA1C4"/>
                </a:solidFill>
              </a:rPr>
              <a:t>They open one link.</a:t>
            </a:r>
          </a:p>
        </p:txBody>
      </p:sp>
      <p:sp>
        <p:nvSpPr>
          <p:cNvPr id="12" name="TextBox 11"/>
          <p:cNvSpPr txBox="1"/>
          <p:nvPr/>
        </p:nvSpPr>
        <p:spPr>
          <a:xfrm>
            <a:off x="9646920" y="4434840"/>
            <a:ext cx="2286000" cy="1463040"/>
          </a:xfrm>
          <a:prstGeom prst="rect">
            <a:avLst/>
          </a:prstGeom>
          <a:noFill/>
        </p:spPr>
        <p:txBody>
          <a:bodyPr wrap="square" anchor="t" lIns="0" rIns="0" tIns="0" bIns="0">
            <a:spAutoFit/>
          </a:bodyPr>
          <a:lstStyle/>
          <a:p>
            <a:pPr algn="l"/>
            <a:r>
              <a:rPr sz="4400" b="1">
                <a:solidFill>
                  <a:srgbClr val="C9A227"/>
                </a:solidFill>
                <a:latin typeface="Georgia"/>
              </a:rPr>
              <a:t>50</a:t>
            </a:r>
          </a:p>
          <a:p>
            <a:pPr algn="l">
              <a:spcBef>
                <a:spcPts val="400"/>
              </a:spcBef>
            </a:pPr>
            <a:r>
              <a:rPr sz="900" b="0">
                <a:solidFill>
                  <a:srgbClr val="8FA1C4"/>
                </a:solidFill>
              </a:rPr>
              <a:t>MARKS. TWENTY OF THEM TEST</a:t>
            </a:r>
          </a:p>
          <a:p>
            <a:pPr algn="l">
              <a:spcBef>
                <a:spcPts val="200"/>
              </a:spcBef>
            </a:pPr>
            <a:r>
              <a:rPr sz="900" b="0">
                <a:solidFill>
                  <a:srgbClr val="8FA1C4"/>
                </a:solidFill>
              </a:rPr>
              <a:t>WHETHER YOU CAN EXPLAIN</a:t>
            </a:r>
          </a:p>
          <a:p>
            <a:pPr algn="l">
              <a:spcBef>
                <a:spcPts val="200"/>
              </a:spcBef>
            </a:pPr>
            <a:r>
              <a:rPr sz="900" b="0">
                <a:solidFill>
                  <a:srgbClr val="8FA1C4"/>
                </a:solidFill>
              </a:rPr>
              <a:t>YOUR OWN CALCULATION</a:t>
            </a:r>
          </a:p>
        </p:txBody>
      </p:sp>
      <p:sp>
        <p:nvSpPr>
          <p:cNvPr id="13" name="TextBox 12"/>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8FA1C4"/>
                </a:solidFill>
              </a:rPr>
              <a:t>AI IN FINANCE · THE COMPLETE CRASH COURSE</a:t>
            </a:r>
          </a:p>
        </p:txBody>
      </p:sp>
      <p:sp>
        <p:nvSpPr>
          <p:cNvPr id="14" name="TextBox 13"/>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8FA1C4"/>
                </a:solidFill>
              </a:rPr>
              <a:t>MODULE 10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THE PLAN</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What we do in these three hours</a:t>
            </a:r>
          </a:p>
        </p:txBody>
      </p:sp>
      <p:sp>
        <p:nvSpPr>
          <p:cNvPr id="5" name="Rectangle 4"/>
          <p:cNvSpPr/>
          <p:nvPr/>
        </p:nvSpPr>
        <p:spPr>
          <a:xfrm>
            <a:off x="548640"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847088"/>
            <a:ext cx="3108960" cy="274320"/>
          </a:xfrm>
          <a:prstGeom prst="rect">
            <a:avLst/>
          </a:prstGeom>
          <a:noFill/>
        </p:spPr>
        <p:txBody>
          <a:bodyPr wrap="square" anchor="t" lIns="0" rIns="0" tIns="0" bIns="0">
            <a:spAutoFit/>
          </a:bodyPr>
          <a:lstStyle/>
          <a:p>
            <a:pPr algn="l"/>
            <a:r>
              <a:rPr sz="950" b="1">
                <a:solidFill>
                  <a:srgbClr val="3A5C9E"/>
                </a:solidFill>
              </a:rPr>
              <a:t>HOUR 1 · 60 MIN</a:t>
            </a:r>
          </a:p>
        </p:txBody>
      </p:sp>
      <p:sp>
        <p:nvSpPr>
          <p:cNvPr id="8" name="TextBox 7"/>
          <p:cNvSpPr txBox="1"/>
          <p:nvPr/>
        </p:nvSpPr>
        <p:spPr>
          <a:xfrm>
            <a:off x="804672" y="2176272"/>
            <a:ext cx="3108960" cy="411480"/>
          </a:xfrm>
          <a:prstGeom prst="rect">
            <a:avLst/>
          </a:prstGeom>
          <a:noFill/>
        </p:spPr>
        <p:txBody>
          <a:bodyPr wrap="square" anchor="t" lIns="0" rIns="0" tIns="0" bIns="0">
            <a:spAutoFit/>
          </a:bodyPr>
          <a:lstStyle/>
          <a:p>
            <a:pPr algn="l"/>
            <a:r>
              <a:rPr sz="1700" b="1">
                <a:solidFill>
                  <a:srgbClr val="0F2145"/>
                </a:solidFill>
                <a:latin typeface="Georgia"/>
              </a:rPr>
              <a:t>The shape of it</a:t>
            </a:r>
          </a:p>
        </p:txBody>
      </p:sp>
      <p:sp>
        <p:nvSpPr>
          <p:cNvPr id="9" name="TextBox 8"/>
          <p:cNvSpPr txBox="1"/>
          <p:nvPr/>
        </p:nvSpPr>
        <p:spPr>
          <a:xfrm>
            <a:off x="804672" y="2743200"/>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Why the capstone assembles instead of starting over</a:t>
            </a:r>
          </a:p>
        </p:txBody>
      </p:sp>
      <p:sp>
        <p:nvSpPr>
          <p:cNvPr id="10" name="TextBox 9"/>
          <p:cNvSpPr txBox="1"/>
          <p:nvPr/>
        </p:nvSpPr>
        <p:spPr>
          <a:xfrm>
            <a:off x="804672" y="3218688"/>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The rubric, and where the fifty marks actually sit</a:t>
            </a:r>
          </a:p>
        </p:txBody>
      </p:sp>
      <p:sp>
        <p:nvSpPr>
          <p:cNvPr id="11" name="TextBox 10"/>
          <p:cNvSpPr txBox="1"/>
          <p:nvPr/>
        </p:nvSpPr>
        <p:spPr>
          <a:xfrm>
            <a:off x="804672" y="3694176"/>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Five layers, and the rubric line each one earns</a:t>
            </a:r>
          </a:p>
        </p:txBody>
      </p:sp>
      <p:sp>
        <p:nvSpPr>
          <p:cNvPr id="12" name="TextBox 11"/>
          <p:cNvSpPr txBox="1"/>
          <p:nvPr/>
        </p:nvSpPr>
        <p:spPr>
          <a:xfrm>
            <a:off x="804672" y="4169664"/>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Ten rules, and a question that can come out either way</a:t>
            </a:r>
          </a:p>
        </p:txBody>
      </p:sp>
      <p:sp>
        <p:nvSpPr>
          <p:cNvPr id="13" name="Rectangle 12"/>
          <p:cNvSpPr/>
          <p:nvPr/>
        </p:nvSpPr>
        <p:spPr>
          <a:xfrm>
            <a:off x="4315968"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847088"/>
            <a:ext cx="3108960" cy="274320"/>
          </a:xfrm>
          <a:prstGeom prst="rect">
            <a:avLst/>
          </a:prstGeom>
          <a:noFill/>
        </p:spPr>
        <p:txBody>
          <a:bodyPr wrap="square" anchor="t" lIns="0" rIns="0" tIns="0" bIns="0">
            <a:spAutoFit/>
          </a:bodyPr>
          <a:lstStyle/>
          <a:p>
            <a:pPr algn="l"/>
            <a:r>
              <a:rPr sz="950" b="1">
                <a:solidFill>
                  <a:srgbClr val="3A5C9E"/>
                </a:solidFill>
              </a:rPr>
              <a:t>HOUR 2 · 60 MIN</a:t>
            </a:r>
          </a:p>
        </p:txBody>
      </p:sp>
      <p:sp>
        <p:nvSpPr>
          <p:cNvPr id="16" name="TextBox 15"/>
          <p:cNvSpPr txBox="1"/>
          <p:nvPr/>
        </p:nvSpPr>
        <p:spPr>
          <a:xfrm>
            <a:off x="4572000" y="2176272"/>
            <a:ext cx="3108960" cy="411480"/>
          </a:xfrm>
          <a:prstGeom prst="rect">
            <a:avLst/>
          </a:prstGeom>
          <a:noFill/>
        </p:spPr>
        <p:txBody>
          <a:bodyPr wrap="square" anchor="t" lIns="0" rIns="0" tIns="0" bIns="0">
            <a:spAutoFit/>
          </a:bodyPr>
          <a:lstStyle/>
          <a:p>
            <a:pPr algn="l"/>
            <a:r>
              <a:rPr sz="1700" b="1">
                <a:solidFill>
                  <a:srgbClr val="0F2145"/>
                </a:solidFill>
                <a:latin typeface="Georgia"/>
              </a:rPr>
              <a:t>The repository</a:t>
            </a:r>
          </a:p>
        </p:txBody>
      </p:sp>
      <p:sp>
        <p:nvSpPr>
          <p:cNvPr id="17" name="TextBox 16"/>
          <p:cNvSpPr txBox="1"/>
          <p:nvPr/>
        </p:nvSpPr>
        <p:spPr>
          <a:xfrm>
            <a:off x="4572000" y="2743200"/>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The folder layout, fixed, because the panel navigates it</a:t>
            </a:r>
          </a:p>
        </p:txBody>
      </p:sp>
      <p:sp>
        <p:nvSpPr>
          <p:cNvPr id="18" name="TextBox 17"/>
          <p:cNvSpPr txBox="1"/>
          <p:nvPr/>
        </p:nvSpPr>
        <p:spPr>
          <a:xfrm>
            <a:off x="4572000" y="3218688"/>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sources.csv, and what happens to a number with no row</a:t>
            </a:r>
          </a:p>
        </p:txBody>
      </p:sp>
      <p:sp>
        <p:nvSpPr>
          <p:cNvPr id="19" name="TextBox 18"/>
          <p:cNvSpPr txBox="1"/>
          <p:nvPr/>
        </p:nvSpPr>
        <p:spPr>
          <a:xfrm>
            <a:off x="4572000" y="3694176"/>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One integration test that runs all five layers end to end</a:t>
            </a:r>
          </a:p>
        </p:txBody>
      </p:sp>
      <p:sp>
        <p:nvSpPr>
          <p:cNvPr id="20" name="TextBox 19"/>
          <p:cNvSpPr txBox="1"/>
          <p:nvPr/>
        </p:nvSpPr>
        <p:spPr>
          <a:xfrm>
            <a:off x="4572000" y="4169664"/>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The five-slide pitch and the deployment checklist</a:t>
            </a:r>
          </a:p>
        </p:txBody>
      </p:sp>
      <p:sp>
        <p:nvSpPr>
          <p:cNvPr id="21" name="Rectangle 20"/>
          <p:cNvSpPr/>
          <p:nvPr/>
        </p:nvSpPr>
        <p:spPr>
          <a:xfrm>
            <a:off x="8083296"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83296"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9327" y="1847088"/>
            <a:ext cx="3108960" cy="274320"/>
          </a:xfrm>
          <a:prstGeom prst="rect">
            <a:avLst/>
          </a:prstGeom>
          <a:noFill/>
        </p:spPr>
        <p:txBody>
          <a:bodyPr wrap="square" anchor="t" lIns="0" rIns="0" tIns="0" bIns="0">
            <a:spAutoFit/>
          </a:bodyPr>
          <a:lstStyle/>
          <a:p>
            <a:pPr algn="l"/>
            <a:r>
              <a:rPr sz="950" b="1">
                <a:solidFill>
                  <a:srgbClr val="3A5C9E"/>
                </a:solidFill>
              </a:rPr>
              <a:t>HOUR 3 · 60 MIN</a:t>
            </a:r>
          </a:p>
        </p:txBody>
      </p:sp>
      <p:sp>
        <p:nvSpPr>
          <p:cNvPr id="24" name="TextBox 23"/>
          <p:cNvSpPr txBox="1"/>
          <p:nvPr/>
        </p:nvSpPr>
        <p:spPr>
          <a:xfrm>
            <a:off x="8339327" y="2176272"/>
            <a:ext cx="3108960" cy="411480"/>
          </a:xfrm>
          <a:prstGeom prst="rect">
            <a:avLst/>
          </a:prstGeom>
          <a:noFill/>
        </p:spPr>
        <p:txBody>
          <a:bodyPr wrap="square" anchor="t" lIns="0" rIns="0" tIns="0" bIns="0">
            <a:spAutoFit/>
          </a:bodyPr>
          <a:lstStyle/>
          <a:p>
            <a:pPr algn="l"/>
            <a:r>
              <a:rPr sz="1700" b="1">
                <a:solidFill>
                  <a:srgbClr val="0F2145"/>
                </a:solidFill>
                <a:latin typeface="Georgia"/>
              </a:rPr>
              <a:t>Assemble and defend</a:t>
            </a:r>
          </a:p>
        </p:txBody>
      </p:sp>
      <p:sp>
        <p:nvSpPr>
          <p:cNvPr id="25" name="TextBox 24"/>
          <p:cNvSpPr txBox="1"/>
          <p:nvPr/>
        </p:nvSpPr>
        <p:spPr>
          <a:xfrm>
            <a:off x="8339327" y="2743200"/>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Write the question, then inventory your nine artifacts</a:t>
            </a:r>
          </a:p>
        </p:txBody>
      </p:sp>
      <p:sp>
        <p:nvSpPr>
          <p:cNvPr id="26" name="TextBox 25"/>
          <p:cNvSpPr txBox="1"/>
          <p:nvPr/>
        </p:nvSpPr>
        <p:spPr>
          <a:xfrm>
            <a:off x="8339327" y="3218688"/>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Lay out the folder, write sources.csv, write the engine test</a:t>
            </a:r>
          </a:p>
        </p:txBody>
      </p:sp>
      <p:sp>
        <p:nvSpPr>
          <p:cNvPr id="27" name="TextBox 26"/>
          <p:cNvSpPr txBox="1"/>
          <p:nvPr/>
        </p:nvSpPr>
        <p:spPr>
          <a:xfrm>
            <a:off x="8339327" y="3694176"/>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Draft the pitch from your own README and correct it</a:t>
            </a:r>
          </a:p>
        </p:txBody>
      </p:sp>
      <p:sp>
        <p:nvSpPr>
          <p:cNvPr id="28" name="TextBox 27"/>
          <p:cNvSpPr txBox="1"/>
          <p:nvPr/>
        </p:nvSpPr>
        <p:spPr>
          <a:xfrm>
            <a:off x="8339327" y="4169664"/>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The mock panel: ten questions, live</a:t>
            </a:r>
          </a:p>
        </p:txBody>
      </p:sp>
      <p:sp>
        <p:nvSpPr>
          <p:cNvPr id="29" name="Rectangle 28"/>
          <p:cNvSpPr/>
          <p:nvPr/>
        </p:nvSpPr>
        <p:spPr>
          <a:xfrm>
            <a:off x="548640" y="4956048"/>
            <a:ext cx="11091672" cy="60350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956048"/>
            <a:ext cx="64008"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956048"/>
            <a:ext cx="10515600" cy="603504"/>
          </a:xfrm>
          <a:prstGeom prst="rect">
            <a:avLst/>
          </a:prstGeom>
          <a:noFill/>
        </p:spPr>
        <p:txBody>
          <a:bodyPr wrap="square" anchor="ctr" lIns="0" rIns="0" tIns="0" bIns="0">
            <a:spAutoFit/>
          </a:bodyPr>
          <a:lstStyle/>
          <a:p>
            <a:pPr algn="l"/>
            <a:r>
              <a:rPr sz="1100" b="1">
                <a:solidFill>
                  <a:srgbClr val="3A5C9E"/>
                </a:solidFill>
              </a:rPr>
              <a:t>THE DEMONSTRATION RUNS IN THREE MINUTES AND INCLUDES ONE FAILURE.</a:t>
            </a:r>
            <a:r>
              <a:rPr sz="1100" b="0">
                <a:solidFill>
                  <a:srgbClr val="1B2A41"/>
                </a:solidFill>
              </a:rPr>
              <a:t>Showing the system reject a bad input proves the system is real.</a:t>
            </a:r>
          </a:p>
        </p:txBody>
      </p:sp>
      <p:sp>
        <p:nvSpPr>
          <p:cNvPr id="32" name="Rectangle 31"/>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The whole module in one line:</a:t>
            </a:r>
            <a:r>
              <a:rPr sz="1200" b="0">
                <a:solidFill>
                  <a:srgbClr val="FFFFFF"/>
                </a:solidFill>
              </a:rPr>
              <a:t>turn nine folders into one link, and be able to explain every line behind it.</a:t>
            </a:r>
          </a:p>
        </p:txBody>
      </p:sp>
      <p:sp>
        <p:nvSpPr>
          <p:cNvPr id="35" name="TextBox 34"/>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36" name="TextBox 3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10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THE RUBRIC</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Fifty marks, and where they actually sit</a:t>
            </a:r>
          </a:p>
        </p:txBody>
      </p:sp>
      <p:sp>
        <p:nvSpPr>
          <p:cNvPr id="5" name="Rectangle 4"/>
          <p:cNvSpPr/>
          <p:nvPr/>
        </p:nvSpPr>
        <p:spPr>
          <a:xfrm>
            <a:off x="548640" y="1481328"/>
            <a:ext cx="5486400" cy="2340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664208"/>
            <a:ext cx="4937760" cy="274320"/>
          </a:xfrm>
          <a:prstGeom prst="rect">
            <a:avLst/>
          </a:prstGeom>
          <a:noFill/>
        </p:spPr>
        <p:txBody>
          <a:bodyPr wrap="square" anchor="t" lIns="0" rIns="0" tIns="0" bIns="0">
            <a:spAutoFit/>
          </a:bodyPr>
          <a:lstStyle/>
          <a:p>
            <a:pPr algn="l"/>
            <a:r>
              <a:rPr sz="950" b="1">
                <a:solidFill>
                  <a:srgbClr val="3A5C9E"/>
                </a:solidFill>
              </a:rPr>
              <a:t>THE REPORT · 20 MARKS</a:t>
            </a:r>
          </a:p>
        </p:txBody>
      </p:sp>
      <p:sp>
        <p:nvSpPr>
          <p:cNvPr id="7" name="TextBox 6"/>
          <p:cNvSpPr txBox="1"/>
          <p:nvPr/>
        </p:nvSpPr>
        <p:spPr>
          <a:xfrm>
            <a:off x="804672" y="1975104"/>
            <a:ext cx="4937760" cy="365760"/>
          </a:xfrm>
          <a:prstGeom prst="rect">
            <a:avLst/>
          </a:prstGeom>
          <a:noFill/>
        </p:spPr>
        <p:txBody>
          <a:bodyPr wrap="square" anchor="t" lIns="0" rIns="0" tIns="0" bIns="0">
            <a:spAutoFit/>
          </a:bodyPr>
          <a:lstStyle/>
          <a:p>
            <a:pPr algn="l"/>
            <a:r>
              <a:rPr sz="1400" b="1">
                <a:solidFill>
                  <a:srgbClr val="0F2145"/>
                </a:solidFill>
                <a:latin typeface="Georgia"/>
              </a:rPr>
              <a:t>Written, submitted in advance</a:t>
            </a:r>
          </a:p>
        </p:txBody>
      </p:sp>
      <p:sp>
        <p:nvSpPr>
          <p:cNvPr id="8" name="TextBox 7"/>
          <p:cNvSpPr txBox="1"/>
          <p:nvPr/>
        </p:nvSpPr>
        <p:spPr>
          <a:xfrm>
            <a:off x="804672" y="2414016"/>
            <a:ext cx="4937760" cy="402336"/>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5  Foundations and reliability: data sourcing, ethics, formatting</a:t>
            </a:r>
          </a:p>
        </p:txBody>
      </p:sp>
      <p:sp>
        <p:nvSpPr>
          <p:cNvPr id="9" name="TextBox 8"/>
          <p:cNvSpPr txBox="1"/>
          <p:nvPr/>
        </p:nvSpPr>
        <p:spPr>
          <a:xfrm>
            <a:off x="804672" y="2834640"/>
            <a:ext cx="4937760" cy="402336"/>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10  Technical execution and logic: the analysis is correct and correctly interpreted</a:t>
            </a:r>
          </a:p>
        </p:txBody>
      </p:sp>
      <p:sp>
        <p:nvSpPr>
          <p:cNvPr id="10" name="TextBox 9"/>
          <p:cNvSpPr txBox="1"/>
          <p:nvPr/>
        </p:nvSpPr>
        <p:spPr>
          <a:xfrm>
            <a:off x="804672" y="3255264"/>
            <a:ext cx="4937760" cy="402336"/>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5  Strategic value: the recommendation is practical and costed</a:t>
            </a:r>
          </a:p>
        </p:txBody>
      </p:sp>
      <p:sp>
        <p:nvSpPr>
          <p:cNvPr id="11" name="Rectangle 10"/>
          <p:cNvSpPr/>
          <p:nvPr/>
        </p:nvSpPr>
        <p:spPr>
          <a:xfrm>
            <a:off x="6153912" y="1481328"/>
            <a:ext cx="5486400" cy="234086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9944" y="1664208"/>
            <a:ext cx="4937760" cy="274320"/>
          </a:xfrm>
          <a:prstGeom prst="rect">
            <a:avLst/>
          </a:prstGeom>
          <a:noFill/>
        </p:spPr>
        <p:txBody>
          <a:bodyPr wrap="square" anchor="t" lIns="0" rIns="0" tIns="0" bIns="0">
            <a:spAutoFit/>
          </a:bodyPr>
          <a:lstStyle/>
          <a:p>
            <a:pPr algn="l"/>
            <a:r>
              <a:rPr sz="950" b="1">
                <a:solidFill>
                  <a:srgbClr val="C9A227"/>
                </a:solidFill>
              </a:rPr>
              <a:t>THE VIVA · 30 MARKS</a:t>
            </a:r>
          </a:p>
        </p:txBody>
      </p:sp>
      <p:sp>
        <p:nvSpPr>
          <p:cNvPr id="13" name="TextBox 12"/>
          <p:cNvSpPr txBox="1"/>
          <p:nvPr/>
        </p:nvSpPr>
        <p:spPr>
          <a:xfrm>
            <a:off x="6409944" y="1975104"/>
            <a:ext cx="4937760" cy="365760"/>
          </a:xfrm>
          <a:prstGeom prst="rect">
            <a:avLst/>
          </a:prstGeom>
          <a:noFill/>
        </p:spPr>
        <p:txBody>
          <a:bodyPr wrap="square" anchor="t" lIns="0" rIns="0" tIns="0" bIns="0">
            <a:spAutoFit/>
          </a:bodyPr>
          <a:lstStyle/>
          <a:p>
            <a:pPr algn="l"/>
            <a:r>
              <a:rPr sz="1400" b="1">
                <a:solidFill>
                  <a:srgbClr val="FFFFFF"/>
                </a:solidFill>
                <a:latin typeface="Georgia"/>
              </a:rPr>
              <a:t>One internal faculty, one external</a:t>
            </a:r>
          </a:p>
        </p:txBody>
      </p:sp>
      <p:sp>
        <p:nvSpPr>
          <p:cNvPr id="14" name="TextBox 13"/>
          <p:cNvSpPr txBox="1"/>
          <p:nvPr/>
        </p:nvSpPr>
        <p:spPr>
          <a:xfrm>
            <a:off x="6409944" y="2414016"/>
            <a:ext cx="4937760" cy="402336"/>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5  Verification of authenticity and ownership: you can show where every input came from</a:t>
            </a:r>
          </a:p>
        </p:txBody>
      </p:sp>
      <p:sp>
        <p:nvSpPr>
          <p:cNvPr id="15" name="TextBox 14"/>
          <p:cNvSpPr txBox="1"/>
          <p:nvPr/>
        </p:nvSpPr>
        <p:spPr>
          <a:xfrm>
            <a:off x="6409944" y="2834640"/>
            <a:ext cx="4937760" cy="402336"/>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10  Technical depth and financial logic: you can defend the assumptions and walk the formula</a:t>
            </a:r>
          </a:p>
        </p:txBody>
      </p:sp>
      <p:sp>
        <p:nvSpPr>
          <p:cNvPr id="16" name="TextBox 15"/>
          <p:cNvSpPr txBox="1"/>
          <p:nvPr/>
        </p:nvSpPr>
        <p:spPr>
          <a:xfrm>
            <a:off x="6409944" y="3255264"/>
            <a:ext cx="4937760" cy="402336"/>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5  Integration with the wider environment: current affairs, regulation, the sector</a:t>
            </a:r>
          </a:p>
        </p:txBody>
      </p:sp>
      <p:sp>
        <p:nvSpPr>
          <p:cNvPr id="17" name="TextBox 16"/>
          <p:cNvSpPr txBox="1"/>
          <p:nvPr/>
        </p:nvSpPr>
        <p:spPr>
          <a:xfrm>
            <a:off x="6409944" y="3675888"/>
            <a:ext cx="4937760" cy="402336"/>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10  Professional conduct: confidence under pressure, precision, knowing your own limits</a:t>
            </a:r>
          </a:p>
        </p:txBody>
      </p:sp>
      <p:sp>
        <p:nvSpPr>
          <p:cNvPr id="18" name="Rectangle 17"/>
          <p:cNvSpPr/>
          <p:nvPr/>
        </p:nvSpPr>
        <p:spPr>
          <a:xfrm>
            <a:off x="548640" y="3986784"/>
            <a:ext cx="11091672" cy="137160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98678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151376"/>
            <a:ext cx="10515600" cy="1097280"/>
          </a:xfrm>
          <a:prstGeom prst="rect">
            <a:avLst/>
          </a:prstGeom>
          <a:noFill/>
        </p:spPr>
        <p:txBody>
          <a:bodyPr wrap="square" anchor="t" lIns="0" rIns="0" tIns="0" bIns="0">
            <a:spAutoFit/>
          </a:bodyPr>
          <a:lstStyle/>
          <a:p>
            <a:pPr algn="l"/>
            <a:r>
              <a:rPr sz="1000" b="1">
                <a:solidFill>
                  <a:srgbClr val="C9A227"/>
                </a:solidFill>
              </a:rPr>
              <a:t>ADD THE TWO TEN-MARK ROWS TOGETHER</a:t>
            </a:r>
          </a:p>
          <a:p>
            <a:pPr algn="l">
              <a:spcBef>
                <a:spcPts val="500"/>
              </a:spcBef>
            </a:pPr>
            <a:r>
              <a:rPr sz="1500" b="1">
                <a:solidFill>
                  <a:srgbClr val="FFFFFF"/>
                </a:solidFill>
                <a:latin typeface="Georgia"/>
              </a:rPr>
              <a:t>Twenty of the fifty marks test whether you can explain your own calculation and defend the assumptions inside it.</a:t>
            </a:r>
          </a:p>
          <a:p>
            <a:pPr algn="l">
              <a:spcBef>
                <a:spcPts val="500"/>
              </a:spcBef>
            </a:pPr>
            <a:r>
              <a:rPr sz="1100" b="0">
                <a:solidFill>
                  <a:srgbClr val="C9D6EE"/>
                </a:solidFill>
              </a:rPr>
              <a:t>Software that runs but that you cannot explain line by line earns neither ten. That is why the mathematics lives in Python rather than in the model, and why every engine ships with a test against a hand-worked example.</a:t>
            </a:r>
          </a:p>
        </p:txBody>
      </p:sp>
      <p:sp>
        <p:nvSpPr>
          <p:cNvPr id="21" name="TextBox 20"/>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22" name="TextBox 21"/>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10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THE FIVE LAYERS</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Each layer earns a specific line of the rubric</a:t>
            </a:r>
          </a:p>
        </p:txBody>
      </p:sp>
      <p:sp>
        <p:nvSpPr>
          <p:cNvPr id="5" name="Rectangle 4"/>
          <p:cNvSpPr/>
          <p:nvPr/>
        </p:nvSpPr>
        <p:spPr>
          <a:xfrm>
            <a:off x="548640" y="1536192"/>
            <a:ext cx="11091672"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36192"/>
            <a:ext cx="54864" cy="749808"/>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45919"/>
            <a:ext cx="2103120" cy="274320"/>
          </a:xfrm>
          <a:prstGeom prst="rect">
            <a:avLst/>
          </a:prstGeom>
          <a:noFill/>
        </p:spPr>
        <p:txBody>
          <a:bodyPr wrap="square" anchor="t" lIns="0" rIns="0" tIns="0" bIns="0">
            <a:spAutoFit/>
          </a:bodyPr>
          <a:lstStyle/>
          <a:p>
            <a:pPr algn="l"/>
            <a:r>
              <a:rPr sz="1050" b="1">
                <a:solidFill>
                  <a:srgbClr val="3A5C9E"/>
                </a:solidFill>
              </a:rPr>
              <a:t>LAYER 1  INGEST</a:t>
            </a:r>
          </a:p>
        </p:txBody>
      </p:sp>
      <p:sp>
        <p:nvSpPr>
          <p:cNvPr id="8" name="TextBox 7"/>
          <p:cNvSpPr txBox="1"/>
          <p:nvPr/>
        </p:nvSpPr>
        <p:spPr>
          <a:xfrm>
            <a:off x="868680" y="1938528"/>
            <a:ext cx="2194560" cy="256032"/>
          </a:xfrm>
          <a:prstGeom prst="rect">
            <a:avLst/>
          </a:prstGeom>
          <a:noFill/>
        </p:spPr>
        <p:txBody>
          <a:bodyPr wrap="square" anchor="t" lIns="0" rIns="0" tIns="0" bIns="0">
            <a:spAutoFit/>
          </a:bodyPr>
          <a:lstStyle/>
          <a:p>
            <a:pPr algn="l"/>
            <a:r>
              <a:rPr sz="850" b="0">
                <a:solidFill>
                  <a:srgbClr val="5D6B7E"/>
                </a:solidFill>
                <a:latin typeface="Consolas"/>
              </a:rPr>
              <a:t>data/  ingest.py  sources.csv</a:t>
            </a:r>
          </a:p>
        </p:txBody>
      </p:sp>
      <p:sp>
        <p:nvSpPr>
          <p:cNvPr id="9" name="TextBox 8"/>
          <p:cNvSpPr txBox="1"/>
          <p:nvPr/>
        </p:nvSpPr>
        <p:spPr>
          <a:xfrm>
            <a:off x="3291840" y="1664207"/>
            <a:ext cx="5577840" cy="548640"/>
          </a:xfrm>
          <a:prstGeom prst="rect">
            <a:avLst/>
          </a:prstGeom>
          <a:noFill/>
        </p:spPr>
        <p:txBody>
          <a:bodyPr wrap="square" anchor="t" lIns="0" rIns="0" tIns="0" bIns="0">
            <a:spAutoFit/>
          </a:bodyPr>
          <a:lstStyle/>
          <a:p>
            <a:pPr algn="l"/>
            <a:r>
              <a:rPr sz="1000" b="0">
                <a:solidFill>
                  <a:srgbClr val="1B2A41"/>
                </a:solidFill>
              </a:rPr>
              <a:t>Pulls every input from a named public source and logs where each one came from.</a:t>
            </a:r>
          </a:p>
        </p:txBody>
      </p:sp>
      <p:sp>
        <p:nvSpPr>
          <p:cNvPr id="10" name="TextBox 9"/>
          <p:cNvSpPr txBox="1"/>
          <p:nvPr/>
        </p:nvSpPr>
        <p:spPr>
          <a:xfrm>
            <a:off x="9052560" y="1737360"/>
            <a:ext cx="2377440" cy="402336"/>
          </a:xfrm>
          <a:prstGeom prst="rect">
            <a:avLst/>
          </a:prstGeom>
          <a:noFill/>
        </p:spPr>
        <p:txBody>
          <a:bodyPr wrap="square" anchor="t" lIns="0" rIns="0" tIns="0" bIns="0">
            <a:spAutoFit/>
          </a:bodyPr>
          <a:lstStyle/>
          <a:p>
            <a:pPr algn="r"/>
            <a:r>
              <a:rPr sz="900" b="1">
                <a:solidFill>
                  <a:srgbClr val="5D6B7E"/>
                </a:solidFill>
              </a:rPr>
              <a:t>Data and provenance marks</a:t>
            </a:r>
          </a:p>
        </p:txBody>
      </p:sp>
      <p:sp>
        <p:nvSpPr>
          <p:cNvPr id="11" name="Rectangle 10"/>
          <p:cNvSpPr/>
          <p:nvPr/>
        </p:nvSpPr>
        <p:spPr>
          <a:xfrm>
            <a:off x="548640" y="2340864"/>
            <a:ext cx="11091672"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40864"/>
            <a:ext cx="54864" cy="749808"/>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450592"/>
            <a:ext cx="2103120" cy="274320"/>
          </a:xfrm>
          <a:prstGeom prst="rect">
            <a:avLst/>
          </a:prstGeom>
          <a:noFill/>
        </p:spPr>
        <p:txBody>
          <a:bodyPr wrap="square" anchor="t" lIns="0" rIns="0" tIns="0" bIns="0">
            <a:spAutoFit/>
          </a:bodyPr>
          <a:lstStyle/>
          <a:p>
            <a:pPr algn="l"/>
            <a:r>
              <a:rPr sz="1050" b="1">
                <a:solidFill>
                  <a:srgbClr val="3A5C9E"/>
                </a:solidFill>
              </a:rPr>
              <a:t>LAYER 2  EXTRACT</a:t>
            </a:r>
          </a:p>
        </p:txBody>
      </p:sp>
      <p:sp>
        <p:nvSpPr>
          <p:cNvPr id="14" name="TextBox 13"/>
          <p:cNvSpPr txBox="1"/>
          <p:nvPr/>
        </p:nvSpPr>
        <p:spPr>
          <a:xfrm>
            <a:off x="868680" y="2743200"/>
            <a:ext cx="2194560" cy="256032"/>
          </a:xfrm>
          <a:prstGeom prst="rect">
            <a:avLst/>
          </a:prstGeom>
          <a:noFill/>
        </p:spPr>
        <p:txBody>
          <a:bodyPr wrap="square" anchor="t" lIns="0" rIns="0" tIns="0" bIns="0">
            <a:spAutoFit/>
          </a:bodyPr>
          <a:lstStyle/>
          <a:p>
            <a:pPr algn="l"/>
            <a:r>
              <a:rPr sz="850" b="0">
                <a:solidFill>
                  <a:srgbClr val="5D6B7E"/>
                </a:solidFill>
                <a:latin typeface="Consolas"/>
              </a:rPr>
              <a:t>extract.py  rag/</a:t>
            </a:r>
          </a:p>
        </p:txBody>
      </p:sp>
      <p:sp>
        <p:nvSpPr>
          <p:cNvPr id="15" name="TextBox 14"/>
          <p:cNvSpPr txBox="1"/>
          <p:nvPr/>
        </p:nvSpPr>
        <p:spPr>
          <a:xfrm>
            <a:off x="3291840" y="2468880"/>
            <a:ext cx="5577840" cy="548640"/>
          </a:xfrm>
          <a:prstGeom prst="rect">
            <a:avLst/>
          </a:prstGeom>
          <a:noFill/>
        </p:spPr>
        <p:txBody>
          <a:bodyPr wrap="square" anchor="t" lIns="0" rIns="0" tIns="0" bIns="0">
            <a:spAutoFit/>
          </a:bodyPr>
          <a:lstStyle/>
          <a:p>
            <a:pPr algn="l"/>
            <a:r>
              <a:rPr sz="1000" b="0">
                <a:solidFill>
                  <a:srgbClr val="1B2A41"/>
                </a:solidFill>
              </a:rPr>
              <a:t>Pulls structure out of filings, or indexes documents for retrieval, or both.</a:t>
            </a:r>
          </a:p>
        </p:txBody>
      </p:sp>
      <p:sp>
        <p:nvSpPr>
          <p:cNvPr id="16" name="TextBox 15"/>
          <p:cNvSpPr txBox="1"/>
          <p:nvPr/>
        </p:nvSpPr>
        <p:spPr>
          <a:xfrm>
            <a:off x="9052560" y="2542032"/>
            <a:ext cx="2377440" cy="402336"/>
          </a:xfrm>
          <a:prstGeom prst="rect">
            <a:avLst/>
          </a:prstGeom>
          <a:noFill/>
        </p:spPr>
        <p:txBody>
          <a:bodyPr wrap="square" anchor="t" lIns="0" rIns="0" tIns="0" bIns="0">
            <a:spAutoFit/>
          </a:bodyPr>
          <a:lstStyle/>
          <a:p>
            <a:pPr algn="r"/>
            <a:r>
              <a:rPr sz="900" b="1">
                <a:solidFill>
                  <a:srgbClr val="5D6B7E"/>
                </a:solidFill>
              </a:rPr>
              <a:t>Methodological choice marks</a:t>
            </a:r>
          </a:p>
        </p:txBody>
      </p:sp>
      <p:sp>
        <p:nvSpPr>
          <p:cNvPr id="17" name="Rectangle 16"/>
          <p:cNvSpPr/>
          <p:nvPr/>
        </p:nvSpPr>
        <p:spPr>
          <a:xfrm>
            <a:off x="548640" y="3145536"/>
            <a:ext cx="11091672" cy="749808"/>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255264"/>
            <a:ext cx="2103120" cy="274320"/>
          </a:xfrm>
          <a:prstGeom prst="rect">
            <a:avLst/>
          </a:prstGeom>
          <a:noFill/>
        </p:spPr>
        <p:txBody>
          <a:bodyPr wrap="square" anchor="t" lIns="0" rIns="0" tIns="0" bIns="0">
            <a:spAutoFit/>
          </a:bodyPr>
          <a:lstStyle/>
          <a:p>
            <a:pPr algn="l"/>
            <a:r>
              <a:rPr sz="1050" b="1">
                <a:solidFill>
                  <a:srgbClr val="C9A227"/>
                </a:solidFill>
              </a:rPr>
              <a:t>LAYER 3  ENGINE</a:t>
            </a:r>
          </a:p>
        </p:txBody>
      </p:sp>
      <p:sp>
        <p:nvSpPr>
          <p:cNvPr id="19" name="TextBox 18"/>
          <p:cNvSpPr txBox="1"/>
          <p:nvPr/>
        </p:nvSpPr>
        <p:spPr>
          <a:xfrm>
            <a:off x="868680" y="3547872"/>
            <a:ext cx="2194560" cy="256032"/>
          </a:xfrm>
          <a:prstGeom prst="rect">
            <a:avLst/>
          </a:prstGeom>
          <a:noFill/>
        </p:spPr>
        <p:txBody>
          <a:bodyPr wrap="square" anchor="t" lIns="0" rIns="0" tIns="0" bIns="0">
            <a:spAutoFit/>
          </a:bodyPr>
          <a:lstStyle/>
          <a:p>
            <a:pPr algn="l"/>
            <a:r>
              <a:rPr sz="850" b="0">
                <a:solidFill>
                  <a:srgbClr val="C9D6EE"/>
                </a:solidFill>
                <a:latin typeface="Consolas"/>
              </a:rPr>
              <a:t>engine/  tests/</a:t>
            </a:r>
          </a:p>
        </p:txBody>
      </p:sp>
      <p:sp>
        <p:nvSpPr>
          <p:cNvPr id="20" name="TextBox 19"/>
          <p:cNvSpPr txBox="1"/>
          <p:nvPr/>
        </p:nvSpPr>
        <p:spPr>
          <a:xfrm>
            <a:off x="3291840" y="3273552"/>
            <a:ext cx="5577840" cy="548640"/>
          </a:xfrm>
          <a:prstGeom prst="rect">
            <a:avLst/>
          </a:prstGeom>
          <a:noFill/>
        </p:spPr>
        <p:txBody>
          <a:bodyPr wrap="square" anchor="t" lIns="0" rIns="0" tIns="0" bIns="0">
            <a:spAutoFit/>
          </a:bodyPr>
          <a:lstStyle/>
          <a:p>
            <a:pPr algn="l"/>
            <a:r>
              <a:rPr sz="1000" b="0">
                <a:solidFill>
                  <a:srgbClr val="C9D6EE"/>
                </a:solidFill>
              </a:rPr>
              <a:t>The financial mathematics, in plain Python, no model in the loop, tested against a hand-worked example.</a:t>
            </a:r>
          </a:p>
        </p:txBody>
      </p:sp>
      <p:sp>
        <p:nvSpPr>
          <p:cNvPr id="21" name="TextBox 20"/>
          <p:cNvSpPr txBox="1"/>
          <p:nvPr/>
        </p:nvSpPr>
        <p:spPr>
          <a:xfrm>
            <a:off x="9052560" y="3346704"/>
            <a:ext cx="2377440" cy="402336"/>
          </a:xfrm>
          <a:prstGeom prst="rect">
            <a:avLst/>
          </a:prstGeom>
          <a:noFill/>
        </p:spPr>
        <p:txBody>
          <a:bodyPr wrap="square" anchor="t" lIns="0" rIns="0" tIns="0" bIns="0">
            <a:spAutoFit/>
          </a:bodyPr>
          <a:lstStyle/>
          <a:p>
            <a:pPr algn="r"/>
            <a:r>
              <a:rPr sz="900" b="1">
                <a:solidFill>
                  <a:srgbClr val="C9A227"/>
                </a:solidFill>
              </a:rPr>
              <a:t>Both ten-mark rows</a:t>
            </a:r>
          </a:p>
        </p:txBody>
      </p:sp>
      <p:sp>
        <p:nvSpPr>
          <p:cNvPr id="22" name="Rectangle 21"/>
          <p:cNvSpPr/>
          <p:nvPr/>
        </p:nvSpPr>
        <p:spPr>
          <a:xfrm>
            <a:off x="548640" y="3950208"/>
            <a:ext cx="11091672"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950208"/>
            <a:ext cx="54864" cy="749808"/>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059936"/>
            <a:ext cx="2103120" cy="274320"/>
          </a:xfrm>
          <a:prstGeom prst="rect">
            <a:avLst/>
          </a:prstGeom>
          <a:noFill/>
        </p:spPr>
        <p:txBody>
          <a:bodyPr wrap="square" anchor="t" lIns="0" rIns="0" tIns="0" bIns="0">
            <a:spAutoFit/>
          </a:bodyPr>
          <a:lstStyle/>
          <a:p>
            <a:pPr algn="l"/>
            <a:r>
              <a:rPr sz="1050" b="1">
                <a:solidFill>
                  <a:srgbClr val="3A5C9E"/>
                </a:solidFill>
              </a:rPr>
              <a:t>LAYER 4  COMMENTARY</a:t>
            </a:r>
          </a:p>
        </p:txBody>
      </p:sp>
      <p:sp>
        <p:nvSpPr>
          <p:cNvPr id="25" name="TextBox 24"/>
          <p:cNvSpPr txBox="1"/>
          <p:nvPr/>
        </p:nvSpPr>
        <p:spPr>
          <a:xfrm>
            <a:off x="868680" y="4352544"/>
            <a:ext cx="2194560" cy="256032"/>
          </a:xfrm>
          <a:prstGeom prst="rect">
            <a:avLst/>
          </a:prstGeom>
          <a:noFill/>
        </p:spPr>
        <p:txBody>
          <a:bodyPr wrap="square" anchor="t" lIns="0" rIns="0" tIns="0" bIns="0">
            <a:spAutoFit/>
          </a:bodyPr>
          <a:lstStyle/>
          <a:p>
            <a:pPr algn="l"/>
            <a:r>
              <a:rPr sz="850" b="0">
                <a:solidFill>
                  <a:srgbClr val="5D6B7E"/>
                </a:solidFill>
                <a:latin typeface="Consolas"/>
              </a:rPr>
              <a:t>commentary.py  governance.md</a:t>
            </a:r>
          </a:p>
        </p:txBody>
      </p:sp>
      <p:sp>
        <p:nvSpPr>
          <p:cNvPr id="26" name="TextBox 25"/>
          <p:cNvSpPr txBox="1"/>
          <p:nvPr/>
        </p:nvSpPr>
        <p:spPr>
          <a:xfrm>
            <a:off x="3291840" y="4078224"/>
            <a:ext cx="5577840" cy="548640"/>
          </a:xfrm>
          <a:prstGeom prst="rect">
            <a:avLst/>
          </a:prstGeom>
          <a:noFill/>
        </p:spPr>
        <p:txBody>
          <a:bodyPr wrap="square" anchor="t" lIns="0" rIns="0" tIns="0" bIns="0">
            <a:spAutoFit/>
          </a:bodyPr>
          <a:lstStyle/>
          <a:p>
            <a:pPr algn="l"/>
            <a:r>
              <a:rPr sz="1000" b="0">
                <a:solidFill>
                  <a:srgbClr val="1B2A41"/>
                </a:solidFill>
              </a:rPr>
              <a:t>Writes over the engine's output only, and cites every claim back to layer one or layer three.</a:t>
            </a:r>
          </a:p>
        </p:txBody>
      </p:sp>
      <p:sp>
        <p:nvSpPr>
          <p:cNvPr id="27" name="TextBox 26"/>
          <p:cNvSpPr txBox="1"/>
          <p:nvPr/>
        </p:nvSpPr>
        <p:spPr>
          <a:xfrm>
            <a:off x="9052560" y="4151376"/>
            <a:ext cx="2377440" cy="402336"/>
          </a:xfrm>
          <a:prstGeom prst="rect">
            <a:avLst/>
          </a:prstGeom>
          <a:noFill/>
        </p:spPr>
        <p:txBody>
          <a:bodyPr wrap="square" anchor="t" lIns="0" rIns="0" tIns="0" bIns="0">
            <a:spAutoFit/>
          </a:bodyPr>
          <a:lstStyle/>
          <a:p>
            <a:pPr algn="r"/>
            <a:r>
              <a:rPr sz="900" b="1">
                <a:solidFill>
                  <a:srgbClr val="5D6B7E"/>
                </a:solidFill>
              </a:rPr>
              <a:t>Tool proficiency and regulatory linkage</a:t>
            </a:r>
          </a:p>
        </p:txBody>
      </p:sp>
      <p:sp>
        <p:nvSpPr>
          <p:cNvPr id="28" name="Rectangle 27"/>
          <p:cNvSpPr/>
          <p:nvPr/>
        </p:nvSpPr>
        <p:spPr>
          <a:xfrm>
            <a:off x="548640" y="4754880"/>
            <a:ext cx="11091672"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754880"/>
            <a:ext cx="54864" cy="749808"/>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864608"/>
            <a:ext cx="2103120" cy="274320"/>
          </a:xfrm>
          <a:prstGeom prst="rect">
            <a:avLst/>
          </a:prstGeom>
          <a:noFill/>
        </p:spPr>
        <p:txBody>
          <a:bodyPr wrap="square" anchor="t" lIns="0" rIns="0" tIns="0" bIns="0">
            <a:spAutoFit/>
          </a:bodyPr>
          <a:lstStyle/>
          <a:p>
            <a:pPr algn="l"/>
            <a:r>
              <a:rPr sz="1050" b="1">
                <a:solidFill>
                  <a:srgbClr val="3A5C9E"/>
                </a:solidFill>
              </a:rPr>
              <a:t>LAYER 5  OUTPUT</a:t>
            </a:r>
          </a:p>
        </p:txBody>
      </p:sp>
      <p:sp>
        <p:nvSpPr>
          <p:cNvPr id="31" name="TextBox 30"/>
          <p:cNvSpPr txBox="1"/>
          <p:nvPr/>
        </p:nvSpPr>
        <p:spPr>
          <a:xfrm>
            <a:off x="868680" y="5157216"/>
            <a:ext cx="2194560" cy="256032"/>
          </a:xfrm>
          <a:prstGeom prst="rect">
            <a:avLst/>
          </a:prstGeom>
          <a:noFill/>
        </p:spPr>
        <p:txBody>
          <a:bodyPr wrap="square" anchor="t" lIns="0" rIns="0" tIns="0" bIns="0">
            <a:spAutoFit/>
          </a:bodyPr>
          <a:lstStyle/>
          <a:p>
            <a:pPr algn="l"/>
            <a:r>
              <a:rPr sz="850" b="0">
                <a:solidFill>
                  <a:srgbClr val="5D6B7E"/>
                </a:solidFill>
                <a:latin typeface="Consolas"/>
              </a:rPr>
              <a:t>app.py  report.py</a:t>
            </a:r>
          </a:p>
        </p:txBody>
      </p:sp>
      <p:sp>
        <p:nvSpPr>
          <p:cNvPr id="32" name="TextBox 31"/>
          <p:cNvSpPr txBox="1"/>
          <p:nvPr/>
        </p:nvSpPr>
        <p:spPr>
          <a:xfrm>
            <a:off x="3291840" y="4882896"/>
            <a:ext cx="5577840" cy="548640"/>
          </a:xfrm>
          <a:prstGeom prst="rect">
            <a:avLst/>
          </a:prstGeom>
          <a:noFill/>
        </p:spPr>
        <p:txBody>
          <a:bodyPr wrap="square" anchor="t" lIns="0" rIns="0" tIns="0" bIns="0">
            <a:spAutoFit/>
          </a:bodyPr>
          <a:lstStyle/>
          <a:p>
            <a:pPr algn="l"/>
            <a:r>
              <a:rPr sz="1000" b="0">
                <a:solidFill>
                  <a:srgbClr val="1B2A41"/>
                </a:solidFill>
              </a:rPr>
              <a:t>An application the panel can open, plus a generated document that becomes an annexure to the report.</a:t>
            </a:r>
          </a:p>
        </p:txBody>
      </p:sp>
      <p:sp>
        <p:nvSpPr>
          <p:cNvPr id="33" name="TextBox 32"/>
          <p:cNvSpPr txBox="1"/>
          <p:nvPr/>
        </p:nvSpPr>
        <p:spPr>
          <a:xfrm>
            <a:off x="9052560" y="4956048"/>
            <a:ext cx="2377440" cy="402336"/>
          </a:xfrm>
          <a:prstGeom prst="rect">
            <a:avLst/>
          </a:prstGeom>
          <a:noFill/>
        </p:spPr>
        <p:txBody>
          <a:bodyPr wrap="square" anchor="t" lIns="0" rIns="0" tIns="0" bIns="0">
            <a:spAutoFit/>
          </a:bodyPr>
          <a:lstStyle/>
          <a:p>
            <a:pPr algn="r"/>
            <a:r>
              <a:rPr sz="900" b="1">
                <a:solidFill>
                  <a:srgbClr val="5D6B7E"/>
                </a:solidFill>
              </a:rPr>
              <a:t>Strategic value marks</a:t>
            </a:r>
          </a:p>
        </p:txBody>
      </p:sp>
      <p:sp>
        <p:nvSpPr>
          <p:cNvPr id="34" name="Rectangle 33"/>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Data flows upward only:</a:t>
            </a:r>
            <a:r>
              <a:rPr sz="1200" b="0">
                <a:solidFill>
                  <a:srgbClr val="FFFFFF"/>
                </a:solidFill>
              </a:rPr>
              <a:t>the model never writes to the engine, and every shelf can be tested on its own. The tests folder is the one the panel will ask to see.</a:t>
            </a:r>
          </a:p>
        </p:txBody>
      </p:sp>
      <p:sp>
        <p:nvSpPr>
          <p:cNvPr id="37" name="TextBox 36"/>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38" name="TextBox 37"/>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10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THE TEN RULES</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Break any one of these and a panel will find it</a:t>
            </a:r>
          </a:p>
        </p:txBody>
      </p:sp>
      <p:sp>
        <p:nvSpPr>
          <p:cNvPr id="5" name="Rectangle 4"/>
          <p:cNvSpPr/>
          <p:nvPr/>
        </p:nvSpPr>
        <p:spPr>
          <a:xfrm>
            <a:off x="548640" y="1572768"/>
            <a:ext cx="548640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72768"/>
            <a:ext cx="54864" cy="58521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719072"/>
            <a:ext cx="457200" cy="274320"/>
          </a:xfrm>
          <a:prstGeom prst="rect">
            <a:avLst/>
          </a:prstGeom>
          <a:noFill/>
        </p:spPr>
        <p:txBody>
          <a:bodyPr wrap="square" anchor="t" lIns="0" rIns="0" tIns="0" bIns="0">
            <a:spAutoFit/>
          </a:bodyPr>
          <a:lstStyle/>
          <a:p>
            <a:pPr algn="l"/>
            <a:r>
              <a:rPr sz="1300" b="1">
                <a:solidFill>
                  <a:srgbClr val="3A5C9E"/>
                </a:solidFill>
                <a:latin typeface="Georgia"/>
              </a:rPr>
              <a:t>1</a:t>
            </a:r>
          </a:p>
        </p:txBody>
      </p:sp>
      <p:sp>
        <p:nvSpPr>
          <p:cNvPr id="8" name="TextBox 7"/>
          <p:cNvSpPr txBox="1"/>
          <p:nvPr/>
        </p:nvSpPr>
        <p:spPr>
          <a:xfrm>
            <a:off x="1371600" y="1682495"/>
            <a:ext cx="4526280" cy="457200"/>
          </a:xfrm>
          <a:prstGeom prst="rect">
            <a:avLst/>
          </a:prstGeom>
          <a:noFill/>
        </p:spPr>
        <p:txBody>
          <a:bodyPr wrap="square" anchor="t" lIns="0" rIns="0" tIns="0" bIns="0">
            <a:spAutoFit/>
          </a:bodyPr>
          <a:lstStyle/>
          <a:p>
            <a:pPr algn="l"/>
            <a:r>
              <a:rPr sz="950" b="0">
                <a:solidFill>
                  <a:srgbClr val="1B2A41"/>
                </a:solidFill>
              </a:rPr>
              <a:t>Build all five layers. A project with no engine is a demonstration.</a:t>
            </a:r>
          </a:p>
        </p:txBody>
      </p:sp>
      <p:sp>
        <p:nvSpPr>
          <p:cNvPr id="9" name="Rectangle 8"/>
          <p:cNvSpPr/>
          <p:nvPr/>
        </p:nvSpPr>
        <p:spPr>
          <a:xfrm>
            <a:off x="6153912" y="1572768"/>
            <a:ext cx="548640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53912" y="1572768"/>
            <a:ext cx="54864" cy="58521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1" y="1719072"/>
            <a:ext cx="457200" cy="274320"/>
          </a:xfrm>
          <a:prstGeom prst="rect">
            <a:avLst/>
          </a:prstGeom>
          <a:noFill/>
        </p:spPr>
        <p:txBody>
          <a:bodyPr wrap="square" anchor="t" lIns="0" rIns="0" tIns="0" bIns="0">
            <a:spAutoFit/>
          </a:bodyPr>
          <a:lstStyle/>
          <a:p>
            <a:pPr algn="l"/>
            <a:r>
              <a:rPr sz="1300" b="1">
                <a:solidFill>
                  <a:srgbClr val="3A5C9E"/>
                </a:solidFill>
                <a:latin typeface="Georgia"/>
              </a:rPr>
              <a:t>2</a:t>
            </a:r>
          </a:p>
        </p:txBody>
      </p:sp>
      <p:sp>
        <p:nvSpPr>
          <p:cNvPr id="12" name="TextBox 11"/>
          <p:cNvSpPr txBox="1"/>
          <p:nvPr/>
        </p:nvSpPr>
        <p:spPr>
          <a:xfrm>
            <a:off x="6976872" y="1682495"/>
            <a:ext cx="4526280" cy="457200"/>
          </a:xfrm>
          <a:prstGeom prst="rect">
            <a:avLst/>
          </a:prstGeom>
          <a:noFill/>
        </p:spPr>
        <p:txBody>
          <a:bodyPr wrap="square" anchor="t" lIns="0" rIns="0" tIns="0" bIns="0">
            <a:spAutoFit/>
          </a:bodyPr>
          <a:lstStyle/>
          <a:p>
            <a:pPr algn="l"/>
            <a:r>
              <a:rPr sz="950" b="0">
                <a:solidFill>
                  <a:srgbClr val="1B2A41"/>
                </a:solidFill>
              </a:rPr>
              <a:t>The mathematics lives in Python, never in the language model.</a:t>
            </a:r>
          </a:p>
        </p:txBody>
      </p:sp>
      <p:sp>
        <p:nvSpPr>
          <p:cNvPr id="13" name="Rectangle 12"/>
          <p:cNvSpPr/>
          <p:nvPr/>
        </p:nvSpPr>
        <p:spPr>
          <a:xfrm>
            <a:off x="548640" y="2231136"/>
            <a:ext cx="548640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231136"/>
            <a:ext cx="54864" cy="58521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2377440"/>
            <a:ext cx="457200" cy="274320"/>
          </a:xfrm>
          <a:prstGeom prst="rect">
            <a:avLst/>
          </a:prstGeom>
          <a:noFill/>
        </p:spPr>
        <p:txBody>
          <a:bodyPr wrap="square" anchor="t" lIns="0" rIns="0" tIns="0" bIns="0">
            <a:spAutoFit/>
          </a:bodyPr>
          <a:lstStyle/>
          <a:p>
            <a:pPr algn="l"/>
            <a:r>
              <a:rPr sz="1300" b="1">
                <a:solidFill>
                  <a:srgbClr val="3A5C9E"/>
                </a:solidFill>
                <a:latin typeface="Georgia"/>
              </a:rPr>
              <a:t>3</a:t>
            </a:r>
          </a:p>
        </p:txBody>
      </p:sp>
      <p:sp>
        <p:nvSpPr>
          <p:cNvPr id="16" name="TextBox 15"/>
          <p:cNvSpPr txBox="1"/>
          <p:nvPr/>
        </p:nvSpPr>
        <p:spPr>
          <a:xfrm>
            <a:off x="1371600" y="2340864"/>
            <a:ext cx="4526280" cy="457200"/>
          </a:xfrm>
          <a:prstGeom prst="rect">
            <a:avLst/>
          </a:prstGeom>
          <a:noFill/>
        </p:spPr>
        <p:txBody>
          <a:bodyPr wrap="square" anchor="t" lIns="0" rIns="0" tIns="0" bIns="0">
            <a:spAutoFit/>
          </a:bodyPr>
          <a:lstStyle/>
          <a:p>
            <a:pPr algn="l"/>
            <a:r>
              <a:rPr sz="950" b="0">
                <a:solidFill>
                  <a:srgbClr val="1B2A41"/>
                </a:solidFill>
              </a:rPr>
              <a:t>Every generated sentence cites a source or a computed number.</a:t>
            </a:r>
          </a:p>
        </p:txBody>
      </p:sp>
      <p:sp>
        <p:nvSpPr>
          <p:cNvPr id="17" name="Rectangle 16"/>
          <p:cNvSpPr/>
          <p:nvPr/>
        </p:nvSpPr>
        <p:spPr>
          <a:xfrm>
            <a:off x="6153912" y="2231136"/>
            <a:ext cx="548640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53912" y="2231136"/>
            <a:ext cx="54864" cy="58521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8231" y="2377440"/>
            <a:ext cx="457200" cy="274320"/>
          </a:xfrm>
          <a:prstGeom prst="rect">
            <a:avLst/>
          </a:prstGeom>
          <a:noFill/>
        </p:spPr>
        <p:txBody>
          <a:bodyPr wrap="square" anchor="t" lIns="0" rIns="0" tIns="0" bIns="0">
            <a:spAutoFit/>
          </a:bodyPr>
          <a:lstStyle/>
          <a:p>
            <a:pPr algn="l"/>
            <a:r>
              <a:rPr sz="1300" b="1">
                <a:solidFill>
                  <a:srgbClr val="3A5C9E"/>
                </a:solidFill>
                <a:latin typeface="Georgia"/>
              </a:rPr>
              <a:t>4</a:t>
            </a:r>
          </a:p>
        </p:txBody>
      </p:sp>
      <p:sp>
        <p:nvSpPr>
          <p:cNvPr id="20" name="TextBox 19"/>
          <p:cNvSpPr txBox="1"/>
          <p:nvPr/>
        </p:nvSpPr>
        <p:spPr>
          <a:xfrm>
            <a:off x="6976872" y="2340864"/>
            <a:ext cx="4526280" cy="457200"/>
          </a:xfrm>
          <a:prstGeom prst="rect">
            <a:avLst/>
          </a:prstGeom>
          <a:noFill/>
        </p:spPr>
        <p:txBody>
          <a:bodyPr wrap="square" anchor="t" lIns="0" rIns="0" tIns="0" bIns="0">
            <a:spAutoFit/>
          </a:bodyPr>
          <a:lstStyle/>
          <a:p>
            <a:pPr algn="l"/>
            <a:r>
              <a:rPr sz="950" b="0">
                <a:solidFill>
                  <a:srgbClr val="1B2A41"/>
                </a:solidFill>
              </a:rPr>
              <a:t>sources.csv records the URL, the publisher and the date pulled, for every input.</a:t>
            </a:r>
          </a:p>
        </p:txBody>
      </p:sp>
      <p:sp>
        <p:nvSpPr>
          <p:cNvPr id="21" name="Rectangle 20"/>
          <p:cNvSpPr/>
          <p:nvPr/>
        </p:nvSpPr>
        <p:spPr>
          <a:xfrm>
            <a:off x="548640" y="2889504"/>
            <a:ext cx="548640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2889504"/>
            <a:ext cx="54864" cy="58521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 y="3035808"/>
            <a:ext cx="457200" cy="274320"/>
          </a:xfrm>
          <a:prstGeom prst="rect">
            <a:avLst/>
          </a:prstGeom>
          <a:noFill/>
        </p:spPr>
        <p:txBody>
          <a:bodyPr wrap="square" anchor="t" lIns="0" rIns="0" tIns="0" bIns="0">
            <a:spAutoFit/>
          </a:bodyPr>
          <a:lstStyle/>
          <a:p>
            <a:pPr algn="l"/>
            <a:r>
              <a:rPr sz="1300" b="1">
                <a:solidFill>
                  <a:srgbClr val="3A5C9E"/>
                </a:solidFill>
                <a:latin typeface="Georgia"/>
              </a:rPr>
              <a:t>5</a:t>
            </a:r>
          </a:p>
        </p:txBody>
      </p:sp>
      <p:sp>
        <p:nvSpPr>
          <p:cNvPr id="24" name="TextBox 23"/>
          <p:cNvSpPr txBox="1"/>
          <p:nvPr/>
        </p:nvSpPr>
        <p:spPr>
          <a:xfrm>
            <a:off x="1371600" y="2999232"/>
            <a:ext cx="4526280" cy="457200"/>
          </a:xfrm>
          <a:prstGeom prst="rect">
            <a:avLst/>
          </a:prstGeom>
          <a:noFill/>
        </p:spPr>
        <p:txBody>
          <a:bodyPr wrap="square" anchor="t" lIns="0" rIns="0" tIns="0" bIns="0">
            <a:spAutoFit/>
          </a:bodyPr>
          <a:lstStyle/>
          <a:p>
            <a:pPr algn="l"/>
            <a:r>
              <a:rPr sz="950" b="0">
                <a:solidFill>
                  <a:srgbClr val="1B2A41"/>
                </a:solidFill>
              </a:rPr>
              <a:t>Every engine ships with a test against a hand-worked example.</a:t>
            </a:r>
          </a:p>
        </p:txBody>
      </p:sp>
      <p:sp>
        <p:nvSpPr>
          <p:cNvPr id="25" name="Rectangle 24"/>
          <p:cNvSpPr/>
          <p:nvPr/>
        </p:nvSpPr>
        <p:spPr>
          <a:xfrm>
            <a:off x="6153912" y="2889504"/>
            <a:ext cx="548640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3912" y="2889504"/>
            <a:ext cx="54864" cy="58521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8231" y="3035808"/>
            <a:ext cx="457200" cy="274320"/>
          </a:xfrm>
          <a:prstGeom prst="rect">
            <a:avLst/>
          </a:prstGeom>
          <a:noFill/>
        </p:spPr>
        <p:txBody>
          <a:bodyPr wrap="square" anchor="t" lIns="0" rIns="0" tIns="0" bIns="0">
            <a:spAutoFit/>
          </a:bodyPr>
          <a:lstStyle/>
          <a:p>
            <a:pPr algn="l"/>
            <a:r>
              <a:rPr sz="1300" b="1">
                <a:solidFill>
                  <a:srgbClr val="3A5C9E"/>
                </a:solidFill>
                <a:latin typeface="Georgia"/>
              </a:rPr>
              <a:t>6</a:t>
            </a:r>
          </a:p>
        </p:txBody>
      </p:sp>
      <p:sp>
        <p:nvSpPr>
          <p:cNvPr id="28" name="TextBox 27"/>
          <p:cNvSpPr txBox="1"/>
          <p:nvPr/>
        </p:nvSpPr>
        <p:spPr>
          <a:xfrm>
            <a:off x="6976872" y="2999232"/>
            <a:ext cx="4526280" cy="457200"/>
          </a:xfrm>
          <a:prstGeom prst="rect">
            <a:avLst/>
          </a:prstGeom>
          <a:noFill/>
        </p:spPr>
        <p:txBody>
          <a:bodyPr wrap="square" anchor="t" lIns="0" rIns="0" tIns="0" bIns="0">
            <a:spAutoFit/>
          </a:bodyPr>
          <a:lstStyle/>
          <a:p>
            <a:pPr algn="l"/>
            <a:r>
              <a:rPr sz="950" b="0">
                <a:solidFill>
                  <a:srgbClr val="1B2A41"/>
                </a:solidFill>
              </a:rPr>
              <a:t>State your assumptions in assumptions.md and defend them in the viva.</a:t>
            </a:r>
          </a:p>
        </p:txBody>
      </p:sp>
      <p:sp>
        <p:nvSpPr>
          <p:cNvPr id="29" name="Rectangle 28"/>
          <p:cNvSpPr/>
          <p:nvPr/>
        </p:nvSpPr>
        <p:spPr>
          <a:xfrm>
            <a:off x="548640" y="3547872"/>
            <a:ext cx="548640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3547872"/>
            <a:ext cx="54864" cy="58521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59" y="3694176"/>
            <a:ext cx="457200" cy="274320"/>
          </a:xfrm>
          <a:prstGeom prst="rect">
            <a:avLst/>
          </a:prstGeom>
          <a:noFill/>
        </p:spPr>
        <p:txBody>
          <a:bodyPr wrap="square" anchor="t" lIns="0" rIns="0" tIns="0" bIns="0">
            <a:spAutoFit/>
          </a:bodyPr>
          <a:lstStyle/>
          <a:p>
            <a:pPr algn="l"/>
            <a:r>
              <a:rPr sz="1300" b="1">
                <a:solidFill>
                  <a:srgbClr val="3A5C9E"/>
                </a:solidFill>
                <a:latin typeface="Georgia"/>
              </a:rPr>
              <a:t>7</a:t>
            </a:r>
          </a:p>
        </p:txBody>
      </p:sp>
      <p:sp>
        <p:nvSpPr>
          <p:cNvPr id="32" name="TextBox 31"/>
          <p:cNvSpPr txBox="1"/>
          <p:nvPr/>
        </p:nvSpPr>
        <p:spPr>
          <a:xfrm>
            <a:off x="1371600" y="3657600"/>
            <a:ext cx="4526280" cy="457200"/>
          </a:xfrm>
          <a:prstGeom prst="rect">
            <a:avLst/>
          </a:prstGeom>
          <a:noFill/>
        </p:spPr>
        <p:txBody>
          <a:bodyPr wrap="square" anchor="t" lIns="0" rIns="0" tIns="0" bIns="0">
            <a:spAutoFit/>
          </a:bodyPr>
          <a:lstStyle/>
          <a:p>
            <a:pPr algn="l"/>
            <a:r>
              <a:rPr sz="950" b="0">
                <a:solidFill>
                  <a:srgbClr val="1B2A41"/>
                </a:solidFill>
              </a:rPr>
              <a:t>Where a ledger is not published, use synthetic data and say so on the methodology page.</a:t>
            </a:r>
          </a:p>
        </p:txBody>
      </p:sp>
      <p:sp>
        <p:nvSpPr>
          <p:cNvPr id="33" name="Rectangle 32"/>
          <p:cNvSpPr/>
          <p:nvPr/>
        </p:nvSpPr>
        <p:spPr>
          <a:xfrm>
            <a:off x="6153912" y="3547872"/>
            <a:ext cx="548640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53912" y="3547872"/>
            <a:ext cx="54864" cy="58521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28231" y="3694176"/>
            <a:ext cx="457200" cy="274320"/>
          </a:xfrm>
          <a:prstGeom prst="rect">
            <a:avLst/>
          </a:prstGeom>
          <a:noFill/>
        </p:spPr>
        <p:txBody>
          <a:bodyPr wrap="square" anchor="t" lIns="0" rIns="0" tIns="0" bIns="0">
            <a:spAutoFit/>
          </a:bodyPr>
          <a:lstStyle/>
          <a:p>
            <a:pPr algn="l"/>
            <a:r>
              <a:rPr sz="1300" b="1">
                <a:solidFill>
                  <a:srgbClr val="3A5C9E"/>
                </a:solidFill>
                <a:latin typeface="Georgia"/>
              </a:rPr>
              <a:t>8</a:t>
            </a:r>
          </a:p>
        </p:txBody>
      </p:sp>
      <p:sp>
        <p:nvSpPr>
          <p:cNvPr id="36" name="TextBox 35"/>
          <p:cNvSpPr txBox="1"/>
          <p:nvPr/>
        </p:nvSpPr>
        <p:spPr>
          <a:xfrm>
            <a:off x="6976872" y="3657600"/>
            <a:ext cx="4526280" cy="457200"/>
          </a:xfrm>
          <a:prstGeom prst="rect">
            <a:avLst/>
          </a:prstGeom>
          <a:noFill/>
        </p:spPr>
        <p:txBody>
          <a:bodyPr wrap="square" anchor="t" lIns="0" rIns="0" tIns="0" bIns="0">
            <a:spAutoFit/>
          </a:bodyPr>
          <a:lstStyle/>
          <a:p>
            <a:pPr algn="l"/>
            <a:r>
              <a:rPr sz="950" b="0">
                <a:solidFill>
                  <a:srgbClr val="1B2A41"/>
                </a:solidFill>
              </a:rPr>
              <a:t>Any tool that outputs buy, sell or hold carries an educational-use disclaimer.</a:t>
            </a:r>
          </a:p>
        </p:txBody>
      </p:sp>
      <p:sp>
        <p:nvSpPr>
          <p:cNvPr id="37" name="Rectangle 36"/>
          <p:cNvSpPr/>
          <p:nvPr/>
        </p:nvSpPr>
        <p:spPr>
          <a:xfrm>
            <a:off x="548640" y="4206240"/>
            <a:ext cx="548640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4206240"/>
            <a:ext cx="54864" cy="58521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59" y="4352544"/>
            <a:ext cx="457200" cy="274320"/>
          </a:xfrm>
          <a:prstGeom prst="rect">
            <a:avLst/>
          </a:prstGeom>
          <a:noFill/>
        </p:spPr>
        <p:txBody>
          <a:bodyPr wrap="square" anchor="t" lIns="0" rIns="0" tIns="0" bIns="0">
            <a:spAutoFit/>
          </a:bodyPr>
          <a:lstStyle/>
          <a:p>
            <a:pPr algn="l"/>
            <a:r>
              <a:rPr sz="1300" b="1">
                <a:solidFill>
                  <a:srgbClr val="3A5C9E"/>
                </a:solidFill>
                <a:latin typeface="Georgia"/>
              </a:rPr>
              <a:t>9</a:t>
            </a:r>
          </a:p>
        </p:txBody>
      </p:sp>
      <p:sp>
        <p:nvSpPr>
          <p:cNvPr id="40" name="TextBox 39"/>
          <p:cNvSpPr txBox="1"/>
          <p:nvPr/>
        </p:nvSpPr>
        <p:spPr>
          <a:xfrm>
            <a:off x="1371600" y="4315968"/>
            <a:ext cx="4526280" cy="457200"/>
          </a:xfrm>
          <a:prstGeom prst="rect">
            <a:avLst/>
          </a:prstGeom>
          <a:noFill/>
        </p:spPr>
        <p:txBody>
          <a:bodyPr wrap="square" anchor="t" lIns="0" rIns="0" tIns="0" bIns="0">
            <a:spAutoFit/>
          </a:bodyPr>
          <a:lstStyle/>
          <a:p>
            <a:pPr algn="l"/>
            <a:r>
              <a:rPr sz="950" b="0">
                <a:solidFill>
                  <a:srgbClr val="1B2A41"/>
                </a:solidFill>
              </a:rPr>
              <a:t>Keep the work in a public repository with commits across the project period.</a:t>
            </a:r>
          </a:p>
        </p:txBody>
      </p:sp>
      <p:sp>
        <p:nvSpPr>
          <p:cNvPr id="41" name="Rectangle 40"/>
          <p:cNvSpPr/>
          <p:nvPr/>
        </p:nvSpPr>
        <p:spPr>
          <a:xfrm>
            <a:off x="6153912" y="4206240"/>
            <a:ext cx="548640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53912" y="4206240"/>
            <a:ext cx="54864" cy="58521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28231" y="4352544"/>
            <a:ext cx="457200" cy="274320"/>
          </a:xfrm>
          <a:prstGeom prst="rect">
            <a:avLst/>
          </a:prstGeom>
          <a:noFill/>
        </p:spPr>
        <p:txBody>
          <a:bodyPr wrap="square" anchor="t" lIns="0" rIns="0" tIns="0" bIns="0">
            <a:spAutoFit/>
          </a:bodyPr>
          <a:lstStyle/>
          <a:p>
            <a:pPr algn="l"/>
            <a:r>
              <a:rPr sz="1300" b="1">
                <a:solidFill>
                  <a:srgbClr val="3A5C9E"/>
                </a:solidFill>
                <a:latin typeface="Georgia"/>
              </a:rPr>
              <a:t>10</a:t>
            </a:r>
          </a:p>
        </p:txBody>
      </p:sp>
      <p:sp>
        <p:nvSpPr>
          <p:cNvPr id="44" name="TextBox 43"/>
          <p:cNvSpPr txBox="1"/>
          <p:nvPr/>
        </p:nvSpPr>
        <p:spPr>
          <a:xfrm>
            <a:off x="6976872" y="4315968"/>
            <a:ext cx="4526280" cy="457200"/>
          </a:xfrm>
          <a:prstGeom prst="rect">
            <a:avLst/>
          </a:prstGeom>
          <a:noFill/>
        </p:spPr>
        <p:txBody>
          <a:bodyPr wrap="square" anchor="t" lIns="0" rIns="0" tIns="0" bIns="0">
            <a:spAutoFit/>
          </a:bodyPr>
          <a:lstStyle/>
          <a:p>
            <a:pPr algn="l"/>
            <a:r>
              <a:rPr sz="950" b="0">
                <a:solidFill>
                  <a:srgbClr val="1B2A41"/>
                </a:solidFill>
              </a:rPr>
              <a:t>Your demonstration runs in three minutes and includes one failure.</a:t>
            </a:r>
          </a:p>
        </p:txBody>
      </p:sp>
      <p:sp>
        <p:nvSpPr>
          <p:cNvPr id="45" name="Rectangle 44"/>
          <p:cNvSpPr/>
          <p:nvPr/>
        </p:nvSpPr>
        <p:spPr>
          <a:xfrm>
            <a:off x="548640" y="4937760"/>
            <a:ext cx="11091672" cy="676656"/>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4937760"/>
            <a:ext cx="64008" cy="67665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8680" y="5065776"/>
            <a:ext cx="10515600" cy="457200"/>
          </a:xfrm>
          <a:prstGeom prst="rect">
            <a:avLst/>
          </a:prstGeom>
          <a:noFill/>
        </p:spPr>
        <p:txBody>
          <a:bodyPr wrap="square" anchor="t" lIns="0" rIns="0" tIns="0" bIns="0">
            <a:spAutoFit/>
          </a:bodyPr>
          <a:lstStyle/>
          <a:p>
            <a:pPr algn="l"/>
            <a:r>
              <a:rPr sz="950" b="1">
                <a:solidFill>
                  <a:srgbClr val="3A5C9E"/>
                </a:solidFill>
              </a:rPr>
              <a:t>THE QUESTION HAS ONE TEST: THE ANSWER MUST BE ABLE TO COME OUT EITHER WAY</a:t>
            </a:r>
          </a:p>
          <a:p>
            <a:pPr algn="l">
              <a:spcBef>
                <a:spcPts val="400"/>
              </a:spcBef>
            </a:pPr>
            <a:r>
              <a:rPr sz="1100" b="0">
                <a:solidFill>
                  <a:srgbClr val="1B2A41"/>
                </a:solidFill>
              </a:rPr>
              <a:t>“Build an AI-powered equity research platform” is not a question. “Do stocks screened as undervalued deliver higher forward returns?” is a question, and the honest answer might be no.</a:t>
            </a:r>
          </a:p>
        </p:txBody>
      </p:sp>
      <p:sp>
        <p:nvSpPr>
          <p:cNvPr id="48" name="Rectangle 47"/>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Three tests before you write a line of code:</a:t>
            </a:r>
            <a:r>
              <a:rPr sz="1200" b="0">
                <a:solidFill>
                  <a:srgbClr val="FFFFFF"/>
                </a:solidFill>
              </a:rPr>
              <a:t>is the data published, is there a calculation at the centre, and could the finding have gone the other way?</a:t>
            </a:r>
          </a:p>
        </p:txBody>
      </p:sp>
      <p:sp>
        <p:nvSpPr>
          <p:cNvPr id="51" name="TextBox 50"/>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52" name="TextBox 51"/>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10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CHOOSING THE QUESTION</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Three worked examples, and which artifacts each one reuses</a:t>
            </a:r>
          </a:p>
        </p:txBody>
      </p:sp>
      <p:sp>
        <p:nvSpPr>
          <p:cNvPr id="5" name="Rectangle 4"/>
          <p:cNvSpPr/>
          <p:nvPr/>
        </p:nvSpPr>
        <p:spPr>
          <a:xfrm>
            <a:off x="548640" y="1554480"/>
            <a:ext cx="3611880" cy="352958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755648"/>
            <a:ext cx="3099816" cy="402336"/>
          </a:xfrm>
          <a:prstGeom prst="rect">
            <a:avLst/>
          </a:prstGeom>
          <a:noFill/>
        </p:spPr>
        <p:txBody>
          <a:bodyPr wrap="square" anchor="t" lIns="0" rIns="0" tIns="0" bIns="0">
            <a:spAutoFit/>
          </a:bodyPr>
          <a:lstStyle/>
          <a:p>
            <a:pPr algn="l"/>
            <a:r>
              <a:rPr sz="950" b="1">
                <a:solidFill>
                  <a:srgbClr val="C9A227"/>
                </a:solidFill>
              </a:rPr>
              <a:t>PILLAR 3 ACROSS THE US G-SIBS</a:t>
            </a:r>
          </a:p>
        </p:txBody>
      </p:sp>
      <p:sp>
        <p:nvSpPr>
          <p:cNvPr id="7" name="TextBox 6"/>
          <p:cNvSpPr txBox="1"/>
          <p:nvPr/>
        </p:nvSpPr>
        <p:spPr>
          <a:xfrm>
            <a:off x="804672" y="2212848"/>
            <a:ext cx="3099816" cy="256032"/>
          </a:xfrm>
          <a:prstGeom prst="rect">
            <a:avLst/>
          </a:prstGeom>
          <a:noFill/>
        </p:spPr>
        <p:txBody>
          <a:bodyPr wrap="square" anchor="t" lIns="0" rIns="0" tIns="0" bIns="0">
            <a:spAutoFit/>
          </a:bodyPr>
          <a:lstStyle/>
          <a:p>
            <a:pPr algn="l"/>
            <a:r>
              <a:rPr sz="900" b="0">
                <a:solidFill>
                  <a:srgbClr val="C9D6EE"/>
                </a:solidFill>
                <a:latin typeface="Consolas"/>
              </a:rPr>
              <a:t>REUSES  A1 A2 A6 A7 A9</a:t>
            </a:r>
          </a:p>
        </p:txBody>
      </p:sp>
      <p:sp>
        <p:nvSpPr>
          <p:cNvPr id="8" name="TextBox 7"/>
          <p:cNvSpPr txBox="1"/>
          <p:nvPr/>
        </p:nvSpPr>
        <p:spPr>
          <a:xfrm>
            <a:off x="804672" y="2578608"/>
            <a:ext cx="3099816" cy="1188720"/>
          </a:xfrm>
          <a:prstGeom prst="rect">
            <a:avLst/>
          </a:prstGeom>
          <a:noFill/>
        </p:spPr>
        <p:txBody>
          <a:bodyPr wrap="square" anchor="t" lIns="0" rIns="0" tIns="0" bIns="0">
            <a:spAutoFit/>
          </a:bodyPr>
          <a:lstStyle/>
          <a:p>
            <a:pPr algn="l"/>
            <a:r>
              <a:rPr sz="1250" b="1">
                <a:solidFill>
                  <a:srgbClr val="FFFFFF"/>
                </a:solidFill>
                <a:latin typeface="Georgia"/>
              </a:rPr>
              <a:t>How has risk-weighted asset density moved across the eight US global systemically important banks since 2019, and what explains the divergence?</a:t>
            </a:r>
          </a:p>
        </p:txBody>
      </p:sp>
      <p:sp>
        <p:nvSpPr>
          <p:cNvPr id="9" name="TextBox 8"/>
          <p:cNvSpPr txBox="1"/>
          <p:nvPr/>
        </p:nvSpPr>
        <p:spPr>
          <a:xfrm>
            <a:off x="804672" y="3803904"/>
            <a:ext cx="3099816" cy="1097280"/>
          </a:xfrm>
          <a:prstGeom prst="rect">
            <a:avLst/>
          </a:prstGeom>
          <a:noFill/>
        </p:spPr>
        <p:txBody>
          <a:bodyPr wrap="square" anchor="t" lIns="0" rIns="0" tIns="0" bIns="0">
            <a:spAutoFit/>
          </a:bodyPr>
          <a:lstStyle/>
          <a:p>
            <a:pPr algn="l"/>
            <a:r>
              <a:rPr sz="950" b="0">
                <a:solidFill>
                  <a:srgbClr val="C9D6EE"/>
                </a:solidFill>
              </a:rPr>
              <a:t>Data: each bank's Pillar 3 PDF and the FR Y-9C reports on the Federal Reserve's site. The test: the recomputed CET1 ratio matches the ratio the bank itself prints, for all eight.</a:t>
            </a:r>
          </a:p>
        </p:txBody>
      </p:sp>
      <p:sp>
        <p:nvSpPr>
          <p:cNvPr id="10" name="Rectangle 9"/>
          <p:cNvSpPr/>
          <p:nvPr/>
        </p:nvSpPr>
        <p:spPr>
          <a:xfrm>
            <a:off x="4315968" y="1554480"/>
            <a:ext cx="3611880" cy="35295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15968" y="1554480"/>
            <a:ext cx="36118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755648"/>
            <a:ext cx="3099816" cy="402336"/>
          </a:xfrm>
          <a:prstGeom prst="rect">
            <a:avLst/>
          </a:prstGeom>
          <a:noFill/>
        </p:spPr>
        <p:txBody>
          <a:bodyPr wrap="square" anchor="t" lIns="0" rIns="0" tIns="0" bIns="0">
            <a:spAutoFit/>
          </a:bodyPr>
          <a:lstStyle/>
          <a:p>
            <a:pPr algn="l"/>
            <a:r>
              <a:rPr sz="950" b="1">
                <a:solidFill>
                  <a:srgbClr val="3A5C9E"/>
                </a:solidFill>
              </a:rPr>
              <a:t>REBUILDING A FUND'S NAV</a:t>
            </a:r>
          </a:p>
        </p:txBody>
      </p:sp>
      <p:sp>
        <p:nvSpPr>
          <p:cNvPr id="13" name="TextBox 12"/>
          <p:cNvSpPr txBox="1"/>
          <p:nvPr/>
        </p:nvSpPr>
        <p:spPr>
          <a:xfrm>
            <a:off x="4572000" y="2212848"/>
            <a:ext cx="3099816" cy="256032"/>
          </a:xfrm>
          <a:prstGeom prst="rect">
            <a:avLst/>
          </a:prstGeom>
          <a:noFill/>
        </p:spPr>
        <p:txBody>
          <a:bodyPr wrap="square" anchor="t" lIns="0" rIns="0" tIns="0" bIns="0">
            <a:spAutoFit/>
          </a:bodyPr>
          <a:lstStyle/>
          <a:p>
            <a:pPr algn="l"/>
            <a:r>
              <a:rPr sz="900" b="0">
                <a:solidFill>
                  <a:srgbClr val="5D6B7E"/>
                </a:solidFill>
                <a:latin typeface="Consolas"/>
              </a:rPr>
              <a:t>REUSES  A1 A3 A8 A9</a:t>
            </a:r>
          </a:p>
        </p:txBody>
      </p:sp>
      <p:sp>
        <p:nvSpPr>
          <p:cNvPr id="14" name="TextBox 13"/>
          <p:cNvSpPr txBox="1"/>
          <p:nvPr/>
        </p:nvSpPr>
        <p:spPr>
          <a:xfrm>
            <a:off x="4572000" y="2578608"/>
            <a:ext cx="3099816" cy="1188720"/>
          </a:xfrm>
          <a:prstGeom prst="rect">
            <a:avLst/>
          </a:prstGeom>
          <a:noFill/>
        </p:spPr>
        <p:txBody>
          <a:bodyPr wrap="square" anchor="t" lIns="0" rIns="0" tIns="0" bIns="0">
            <a:spAutoFit/>
          </a:bodyPr>
          <a:lstStyle/>
          <a:p>
            <a:pPr algn="l"/>
            <a:r>
              <a:rPr sz="1250" b="1">
                <a:solidFill>
                  <a:srgbClr val="0F2145"/>
                </a:solidFill>
                <a:latin typeface="Georgia"/>
              </a:rPr>
              <a:t>Can a published NAV be rebuilt from the fund's own Form N-PORT holdings, and what explains the residual?</a:t>
            </a:r>
          </a:p>
        </p:txBody>
      </p:sp>
      <p:sp>
        <p:nvSpPr>
          <p:cNvPr id="15" name="TextBox 14"/>
          <p:cNvSpPr txBox="1"/>
          <p:nvPr/>
        </p:nvSpPr>
        <p:spPr>
          <a:xfrm>
            <a:off x="4572000" y="3803904"/>
            <a:ext cx="3099816" cy="1097280"/>
          </a:xfrm>
          <a:prstGeom prst="rect">
            <a:avLst/>
          </a:prstGeom>
          <a:noFill/>
        </p:spPr>
        <p:txBody>
          <a:bodyPr wrap="square" anchor="t" lIns="0" rIns="0" tIns="0" bIns="0">
            <a:spAutoFit/>
          </a:bodyPr>
          <a:lstStyle/>
          <a:p>
            <a:pPr algn="l"/>
            <a:r>
              <a:rPr sz="950" b="0">
                <a:solidFill>
                  <a:srgbClr val="1B2A41"/>
                </a:solidFill>
              </a:rPr>
              <a:t>Data: N-PORT from SEC EDGAR, closes from yfinance. The test: the rebuilt NAV ties to the published NAV on the same date, and every residual is explained or flagged.</a:t>
            </a:r>
          </a:p>
        </p:txBody>
      </p:sp>
      <p:sp>
        <p:nvSpPr>
          <p:cNvPr id="16" name="Rectangle 15"/>
          <p:cNvSpPr/>
          <p:nvPr/>
        </p:nvSpPr>
        <p:spPr>
          <a:xfrm>
            <a:off x="8083296" y="1554480"/>
            <a:ext cx="3557016" cy="35295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83296" y="1554480"/>
            <a:ext cx="3557016"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9327" y="1755648"/>
            <a:ext cx="3044952" cy="402336"/>
          </a:xfrm>
          <a:prstGeom prst="rect">
            <a:avLst/>
          </a:prstGeom>
          <a:noFill/>
        </p:spPr>
        <p:txBody>
          <a:bodyPr wrap="square" anchor="t" lIns="0" rIns="0" tIns="0" bIns="0">
            <a:spAutoFit/>
          </a:bodyPr>
          <a:lstStyle/>
          <a:p>
            <a:pPr algn="l"/>
            <a:r>
              <a:rPr sz="950" b="1">
                <a:solidFill>
                  <a:srgbClr val="3A5C9E"/>
                </a:solidFill>
              </a:rPr>
              <a:t>SCREENING AND FORWARD RETURNS</a:t>
            </a:r>
          </a:p>
        </p:txBody>
      </p:sp>
      <p:sp>
        <p:nvSpPr>
          <p:cNvPr id="19" name="TextBox 18"/>
          <p:cNvSpPr txBox="1"/>
          <p:nvPr/>
        </p:nvSpPr>
        <p:spPr>
          <a:xfrm>
            <a:off x="8339327" y="2212848"/>
            <a:ext cx="3044952" cy="256032"/>
          </a:xfrm>
          <a:prstGeom prst="rect">
            <a:avLst/>
          </a:prstGeom>
          <a:noFill/>
        </p:spPr>
        <p:txBody>
          <a:bodyPr wrap="square" anchor="t" lIns="0" rIns="0" tIns="0" bIns="0">
            <a:spAutoFit/>
          </a:bodyPr>
          <a:lstStyle/>
          <a:p>
            <a:pPr algn="l"/>
            <a:r>
              <a:rPr sz="900" b="0">
                <a:solidFill>
                  <a:srgbClr val="5D6B7E"/>
                </a:solidFill>
                <a:latin typeface="Consolas"/>
              </a:rPr>
              <a:t>REUSES  A1 A4 A5 A9</a:t>
            </a:r>
          </a:p>
        </p:txBody>
      </p:sp>
      <p:sp>
        <p:nvSpPr>
          <p:cNvPr id="20" name="TextBox 19"/>
          <p:cNvSpPr txBox="1"/>
          <p:nvPr/>
        </p:nvSpPr>
        <p:spPr>
          <a:xfrm>
            <a:off x="8339327" y="2578608"/>
            <a:ext cx="3044952" cy="1188720"/>
          </a:xfrm>
          <a:prstGeom prst="rect">
            <a:avLst/>
          </a:prstGeom>
          <a:noFill/>
        </p:spPr>
        <p:txBody>
          <a:bodyPr wrap="square" anchor="t" lIns="0" rIns="0" tIns="0" bIns="0">
            <a:spAutoFit/>
          </a:bodyPr>
          <a:lstStyle/>
          <a:p>
            <a:pPr algn="l"/>
            <a:r>
              <a:rPr sz="1250" b="1">
                <a:solidFill>
                  <a:srgbClr val="0F2145"/>
                </a:solidFill>
                <a:latin typeface="Georgia"/>
              </a:rPr>
              <a:t>Do S&amp;P 500 stocks screened as undervalued deliver higher forward returns than the index?</a:t>
            </a:r>
          </a:p>
        </p:txBody>
      </p:sp>
      <p:sp>
        <p:nvSpPr>
          <p:cNvPr id="21" name="TextBox 20"/>
          <p:cNvSpPr txBox="1"/>
          <p:nvPr/>
        </p:nvSpPr>
        <p:spPr>
          <a:xfrm>
            <a:off x="8339327" y="3803904"/>
            <a:ext cx="3044952" cy="1097280"/>
          </a:xfrm>
          <a:prstGeom prst="rect">
            <a:avLst/>
          </a:prstGeom>
          <a:noFill/>
        </p:spPr>
        <p:txBody>
          <a:bodyPr wrap="square" anchor="t" lIns="0" rIns="0" tIns="0" bIns="0">
            <a:spAutoFit/>
          </a:bodyPr>
          <a:lstStyle/>
          <a:p>
            <a:pPr algn="l"/>
            <a:r>
              <a:rPr sz="950" b="0">
                <a:solidFill>
                  <a:srgbClr val="1B2A41"/>
                </a:solidFill>
              </a:rPr>
              <a:t>Data: prices and fundamentals from yfinance, filings from EDGAR. The test: the backtest carries realistic costs, and the honest answer is allowed to be no.</a:t>
            </a:r>
          </a:p>
        </p:txBody>
      </p:sp>
      <p:sp>
        <p:nvSpPr>
          <p:cNvPr id="22" name="Rectangle 21"/>
          <p:cNvSpPr/>
          <p:nvPr/>
        </p:nvSpPr>
        <p:spPr>
          <a:xfrm>
            <a:off x="548640" y="5193792"/>
            <a:ext cx="11091672" cy="768096"/>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5193792"/>
            <a:ext cx="64008" cy="76809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321807"/>
            <a:ext cx="10515600" cy="548640"/>
          </a:xfrm>
          <a:prstGeom prst="rect">
            <a:avLst/>
          </a:prstGeom>
          <a:noFill/>
        </p:spPr>
        <p:txBody>
          <a:bodyPr wrap="square" anchor="t" lIns="0" rIns="0" tIns="0" bIns="0">
            <a:spAutoFit/>
          </a:bodyPr>
          <a:lstStyle/>
          <a:p>
            <a:pPr algn="l"/>
            <a:r>
              <a:rPr sz="950" b="1">
                <a:solidFill>
                  <a:srgbClr val="3A5C9E"/>
                </a:solidFill>
              </a:rPr>
              <a:t>WHEN I SET THE TITLES IN AUGUST 2026, THIRTEEN OF EIGHTY-SEVEN WERE REPLACED</a:t>
            </a:r>
          </a:p>
          <a:p>
            <a:pPr algn="l">
              <a:spcBef>
                <a:spcPts val="400"/>
              </a:spcBef>
            </a:pPr>
            <a:r>
              <a:rPr sz="1100" b="0">
                <a:solidFill>
                  <a:srgbClr val="1B2A41"/>
                </a:solidFill>
              </a:rPr>
              <a:t>Four needed data nobody publishes. Five had no financial calculation to defend at the viva. Three were calculators that produce no finding. One was not a finance topic. In every case the subject area was kept and only the question changed.</a:t>
            </a:r>
          </a:p>
        </p:txBody>
      </p:sp>
      <p:sp>
        <p:nvSpPr>
          <p:cNvPr id="25" name="TextBox 24"/>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26" name="TextBox 2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10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2 · THE REPOSITORY</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The layout is fixed, because the panel navigates it</a:t>
            </a:r>
          </a:p>
        </p:txBody>
      </p:sp>
      <p:sp>
        <p:nvSpPr>
          <p:cNvPr id="5" name="Rectangle 4"/>
          <p:cNvSpPr/>
          <p:nvPr/>
        </p:nvSpPr>
        <p:spPr>
          <a:xfrm>
            <a:off x="548640" y="1444752"/>
            <a:ext cx="11091672" cy="338328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44752"/>
            <a:ext cx="64008" cy="33832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72768"/>
            <a:ext cx="10543032" cy="219456"/>
          </a:xfrm>
          <a:prstGeom prst="rect">
            <a:avLst/>
          </a:prstGeom>
          <a:noFill/>
        </p:spPr>
        <p:txBody>
          <a:bodyPr wrap="square" anchor="t" lIns="0" rIns="0" tIns="0" bIns="0">
            <a:spAutoFit/>
          </a:bodyPr>
          <a:lstStyle/>
          <a:p>
            <a:pPr algn="l"/>
            <a:r>
              <a:rPr sz="850" b="1">
                <a:solidFill>
                  <a:srgbClr val="C9A227"/>
                </a:solidFill>
              </a:rPr>
              <a:t>capstone/</a:t>
            </a:r>
          </a:p>
        </p:txBody>
      </p:sp>
      <p:sp>
        <p:nvSpPr>
          <p:cNvPr id="8" name="TextBox 7"/>
          <p:cNvSpPr txBox="1"/>
          <p:nvPr/>
        </p:nvSpPr>
        <p:spPr>
          <a:xfrm>
            <a:off x="868680" y="1847088"/>
            <a:ext cx="10543032" cy="2852928"/>
          </a:xfrm>
          <a:prstGeom prst="rect">
            <a:avLst/>
          </a:prstGeom>
          <a:noFill/>
        </p:spPr>
        <p:txBody>
          <a:bodyPr wrap="none" anchor="t" lIns="0" rIns="0" tIns="0" bIns="0">
            <a:spAutoFit/>
          </a:bodyPr>
          <a:lstStyle/>
          <a:p>
            <a:pPr algn="l"/>
            <a:r>
              <a:rPr sz="950" b="0">
                <a:solidFill>
                  <a:srgbClr val="C9D6EE"/>
                </a:solidFill>
                <a:latin typeface="Consolas"/>
              </a:rPr>
              <a:t>README.md          what the system answers, how to run it, the live link</a:t>
            </a:r>
          </a:p>
          <a:p>
            <a:pPr algn="l"/>
            <a:r>
              <a:rPr sz="950" b="0">
                <a:solidFill>
                  <a:srgbClr val="C9D6EE"/>
                </a:solidFill>
                <a:latin typeface="Consolas"/>
              </a:rPr>
              <a:t>assumptions.md     every assumption, with the reason for it</a:t>
            </a:r>
          </a:p>
          <a:p>
            <a:pPr algn="l"/>
            <a:r>
              <a:rPr sz="950" b="0">
                <a:solidFill>
                  <a:srgbClr val="C9D6EE"/>
                </a:solidFill>
                <a:latin typeface="Consolas"/>
              </a:rPr>
              <a:t>governance.md      what the model may and may not do, and how outputs are checked</a:t>
            </a:r>
          </a:p>
          <a:p>
            <a:pPr algn="l"/>
            <a:r>
              <a:rPr sz="950" b="0">
                <a:solidFill>
                  <a:srgbClr val="C9D6EE"/>
                </a:solidFill>
                <a:latin typeface="Consolas"/>
              </a:rPr>
              <a:t>sources.csv        url, publisher, date_pulled, used_by, for every input</a:t>
            </a:r>
          </a:p>
          <a:p>
            <a:pPr algn="l"/>
            <a:r>
              <a:rPr sz="950" b="0">
                <a:solidFill>
                  <a:srgbClr val="C9D6EE"/>
                </a:solidFill>
                <a:latin typeface="Consolas"/>
              </a:rPr>
              <a:t>data/              raw pulls, never edited by hand</a:t>
            </a:r>
          </a:p>
          <a:p>
            <a:pPr algn="l"/>
            <a:r>
              <a:rPr sz="950" b="0">
                <a:solidFill>
                  <a:srgbClr val="C9D6EE"/>
                </a:solidFill>
                <a:latin typeface="Consolas"/>
              </a:rPr>
              <a:t>ingest.py          layer one</a:t>
            </a:r>
          </a:p>
          <a:p>
            <a:pPr algn="l"/>
            <a:r>
              <a:rPr sz="950" b="0">
                <a:solidFill>
                  <a:srgbClr val="C9D6EE"/>
                </a:solidFill>
                <a:latin typeface="Consolas"/>
              </a:rPr>
              <a:t>extract.py         layer two</a:t>
            </a:r>
          </a:p>
          <a:p>
            <a:pPr algn="l"/>
            <a:r>
              <a:rPr sz="950" b="0">
                <a:solidFill>
                  <a:srgbClr val="C9D6EE"/>
                </a:solidFill>
                <a:latin typeface="Consolas"/>
              </a:rPr>
              <a:t>rag/               layer two, if the project retrieves</a:t>
            </a:r>
          </a:p>
          <a:p>
            <a:pPr algn="l"/>
            <a:r>
              <a:rPr sz="950" b="0">
                <a:solidFill>
                  <a:srgbClr val="C9D6EE"/>
                </a:solidFill>
                <a:latin typeface="Consolas"/>
              </a:rPr>
              <a:t>engine/            layer three, plain Python, no model</a:t>
            </a:r>
          </a:p>
          <a:p>
            <a:pPr algn="l"/>
            <a:r>
              <a:rPr sz="950" b="0">
                <a:solidFill>
                  <a:srgbClr val="C9D6EE"/>
                </a:solidFill>
                <a:latin typeface="Consolas"/>
              </a:rPr>
              <a:t>tests/             layer three, the hand-worked example as a test</a:t>
            </a:r>
          </a:p>
          <a:p>
            <a:pPr algn="l"/>
            <a:r>
              <a:rPr sz="950" b="0">
                <a:solidFill>
                  <a:srgbClr val="C9D6EE"/>
                </a:solidFill>
                <a:latin typeface="Consolas"/>
              </a:rPr>
              <a:t>commentary.py      layer four</a:t>
            </a:r>
          </a:p>
          <a:p>
            <a:pPr algn="l"/>
            <a:r>
              <a:rPr sz="950" b="0">
                <a:solidFill>
                  <a:srgbClr val="C9D6EE"/>
                </a:solidFill>
                <a:latin typeface="Consolas"/>
              </a:rPr>
              <a:t>app.py             layer five, the application</a:t>
            </a:r>
          </a:p>
          <a:p>
            <a:pPr algn="l"/>
            <a:r>
              <a:rPr sz="950" b="0">
                <a:solidFill>
                  <a:srgbClr val="C9D6EE"/>
                </a:solidFill>
                <a:latin typeface="Consolas"/>
              </a:rPr>
              <a:t>report.py          layer five, the generated annexure</a:t>
            </a:r>
          </a:p>
          <a:p>
            <a:pPr algn="l"/>
            <a:r>
              <a:rPr sz="950" b="0">
                <a:solidFill>
                  <a:srgbClr val="C9D6EE"/>
                </a:solidFill>
                <a:latin typeface="Consolas"/>
              </a:rPr>
              <a:t>docs/              the static site that GitHub Pages serves</a:t>
            </a:r>
          </a:p>
        </p:txBody>
      </p:sp>
      <p:sp>
        <p:nvSpPr>
          <p:cNvPr id="9" name="TextBox 8"/>
          <p:cNvSpPr txBox="1"/>
          <p:nvPr/>
        </p:nvSpPr>
        <p:spPr>
          <a:xfrm>
            <a:off x="548640" y="4974336"/>
            <a:ext cx="5486400" cy="1097280"/>
          </a:xfrm>
          <a:prstGeom prst="rect">
            <a:avLst/>
          </a:prstGeom>
          <a:noFill/>
        </p:spPr>
        <p:txBody>
          <a:bodyPr wrap="square" anchor="t" lIns="0" rIns="0" tIns="0" bIns="0">
            <a:spAutoFit/>
          </a:bodyPr>
          <a:lstStyle/>
          <a:p>
            <a:pPr algn="l"/>
            <a:r>
              <a:rPr sz="1500" b="1">
                <a:solidFill>
                  <a:srgbClr val="0F2145"/>
                </a:solidFill>
                <a:latin typeface="Georgia"/>
              </a:rPr>
              <a:t>sources.csv is your first viva answer</a:t>
            </a:r>
          </a:p>
          <a:p>
            <a:pPr algn="l">
              <a:spcBef>
                <a:spcPts val="600"/>
              </a:spcBef>
            </a:pPr>
            <a:r>
              <a:rPr sz="1050" b="0">
                <a:solidFill>
                  <a:srgbClr val="1B2A41"/>
                </a:solidFill>
              </a:rPr>
              <a:t>Four columns: the URL, the publisher such as SEC EDGAR or Federal Reserve Board, the date you pulled it, and the script that reads it. Every row is a defence against the first viva criterion. A number with no row comes out of the report.</a:t>
            </a:r>
          </a:p>
        </p:txBody>
      </p:sp>
      <p:sp>
        <p:nvSpPr>
          <p:cNvPr id="10" name="TextBox 9"/>
          <p:cNvSpPr txBox="1"/>
          <p:nvPr/>
        </p:nvSpPr>
        <p:spPr>
          <a:xfrm>
            <a:off x="6309360" y="4974336"/>
            <a:ext cx="5330952" cy="1097280"/>
          </a:xfrm>
          <a:prstGeom prst="rect">
            <a:avLst/>
          </a:prstGeom>
          <a:noFill/>
        </p:spPr>
        <p:txBody>
          <a:bodyPr wrap="square" anchor="t" lIns="0" rIns="0" tIns="0" bIns="0">
            <a:spAutoFit/>
          </a:bodyPr>
          <a:lstStyle/>
          <a:p>
            <a:pPr algn="l"/>
            <a:r>
              <a:rPr sz="1500" b="1">
                <a:solidFill>
                  <a:srgbClr val="0F2145"/>
                </a:solidFill>
                <a:latin typeface="Georgia"/>
              </a:rPr>
              <a:t>One test runs all five layers</a:t>
            </a:r>
          </a:p>
          <a:p>
            <a:pPr algn="l">
              <a:spcBef>
                <a:spcPts val="600"/>
              </a:spcBef>
            </a:pPr>
            <a:r>
              <a:rPr sz="1050" b="0">
                <a:solidFill>
                  <a:srgbClr val="1B2A41"/>
                </a:solidFill>
              </a:rPr>
              <a:t>A capstone fails in the join, not in the parts. Take one known input, run it through every layer, and check the final number against a figure you worked by hand. Run it before every commit. When it breaks, the layer it broke in is the layer you changed last.</a:t>
            </a:r>
          </a:p>
        </p:txBody>
      </p:sp>
      <p:sp>
        <p:nvSpPr>
          <p:cNvPr id="11" name="TextBox 10"/>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12" name="TextBox 11"/>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10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2 · THE PITCH AND THE DEPLOYMENT</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Five slides, fifteen minutes, one link</a:t>
            </a:r>
          </a:p>
        </p:txBody>
      </p:sp>
      <p:sp>
        <p:nvSpPr>
          <p:cNvPr id="5" name="Rectangle 4"/>
          <p:cNvSpPr/>
          <p:nvPr/>
        </p:nvSpPr>
        <p:spPr>
          <a:xfrm>
            <a:off x="548640" y="1536192"/>
            <a:ext cx="2103120"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36192"/>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700784"/>
            <a:ext cx="1700784" cy="274320"/>
          </a:xfrm>
          <a:prstGeom prst="rect">
            <a:avLst/>
          </a:prstGeom>
          <a:noFill/>
        </p:spPr>
        <p:txBody>
          <a:bodyPr wrap="square" anchor="t" lIns="0" rIns="0" tIns="0" bIns="0">
            <a:spAutoFit/>
          </a:bodyPr>
          <a:lstStyle/>
          <a:p>
            <a:pPr algn="l"/>
            <a:r>
              <a:rPr sz="1000" b="1">
                <a:solidFill>
                  <a:srgbClr val="3A5C9E"/>
                </a:solidFill>
              </a:rPr>
              <a:t>PROBLEM</a:t>
            </a:r>
          </a:p>
        </p:txBody>
      </p:sp>
      <p:sp>
        <p:nvSpPr>
          <p:cNvPr id="8" name="TextBox 7"/>
          <p:cNvSpPr txBox="1"/>
          <p:nvPr/>
        </p:nvSpPr>
        <p:spPr>
          <a:xfrm>
            <a:off x="749808" y="2011680"/>
            <a:ext cx="1700784" cy="822960"/>
          </a:xfrm>
          <a:prstGeom prst="rect">
            <a:avLst/>
          </a:prstGeom>
          <a:noFill/>
        </p:spPr>
        <p:txBody>
          <a:bodyPr wrap="square" anchor="t" lIns="0" rIns="0" tIns="0" bIns="0">
            <a:spAutoFit/>
          </a:bodyPr>
          <a:lstStyle/>
          <a:p>
            <a:pPr algn="l"/>
            <a:r>
              <a:rPr sz="950" b="0">
                <a:solidFill>
                  <a:srgbClr val="1B2A41"/>
                </a:solidFill>
              </a:rPr>
              <a:t>The question, and how the work is done by hand today</a:t>
            </a:r>
          </a:p>
        </p:txBody>
      </p:sp>
      <p:sp>
        <p:nvSpPr>
          <p:cNvPr id="9" name="TextBox 8"/>
          <p:cNvSpPr txBox="1"/>
          <p:nvPr/>
        </p:nvSpPr>
        <p:spPr>
          <a:xfrm>
            <a:off x="2670048" y="2048256"/>
            <a:ext cx="137160" cy="310896"/>
          </a:xfrm>
          <a:prstGeom prst="rect">
            <a:avLst/>
          </a:prstGeom>
          <a:noFill/>
        </p:spPr>
        <p:txBody>
          <a:bodyPr wrap="square" anchor="ctr" lIns="0" rIns="0" tIns="0" bIns="0">
            <a:spAutoFit/>
          </a:bodyPr>
          <a:lstStyle/>
          <a:p>
            <a:pPr algn="ctr"/>
            <a:r>
              <a:rPr sz="1300" b="1">
                <a:solidFill>
                  <a:srgbClr val="C9A227"/>
                </a:solidFill>
              </a:rPr>
              <a:t>→</a:t>
            </a:r>
          </a:p>
        </p:txBody>
      </p:sp>
      <p:sp>
        <p:nvSpPr>
          <p:cNvPr id="10" name="Rectangle 9"/>
          <p:cNvSpPr/>
          <p:nvPr/>
        </p:nvSpPr>
        <p:spPr>
          <a:xfrm>
            <a:off x="2807208" y="1536192"/>
            <a:ext cx="2103120"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07208" y="1536192"/>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08376" y="1700784"/>
            <a:ext cx="1700784" cy="274320"/>
          </a:xfrm>
          <a:prstGeom prst="rect">
            <a:avLst/>
          </a:prstGeom>
          <a:noFill/>
        </p:spPr>
        <p:txBody>
          <a:bodyPr wrap="square" anchor="t" lIns="0" rIns="0" tIns="0" bIns="0">
            <a:spAutoFit/>
          </a:bodyPr>
          <a:lstStyle/>
          <a:p>
            <a:pPr algn="l"/>
            <a:r>
              <a:rPr sz="1000" b="1">
                <a:solidFill>
                  <a:srgbClr val="3A5C9E"/>
                </a:solidFill>
              </a:rPr>
              <a:t>ARCHITECTURE</a:t>
            </a:r>
          </a:p>
        </p:txBody>
      </p:sp>
      <p:sp>
        <p:nvSpPr>
          <p:cNvPr id="13" name="TextBox 12"/>
          <p:cNvSpPr txBox="1"/>
          <p:nvPr/>
        </p:nvSpPr>
        <p:spPr>
          <a:xfrm>
            <a:off x="3008376" y="2011680"/>
            <a:ext cx="1700784" cy="822960"/>
          </a:xfrm>
          <a:prstGeom prst="rect">
            <a:avLst/>
          </a:prstGeom>
          <a:noFill/>
        </p:spPr>
        <p:txBody>
          <a:bodyPr wrap="square" anchor="t" lIns="0" rIns="0" tIns="0" bIns="0">
            <a:spAutoFit/>
          </a:bodyPr>
          <a:lstStyle/>
          <a:p>
            <a:pPr algn="l"/>
            <a:r>
              <a:rPr sz="950" b="0">
                <a:solidFill>
                  <a:srgbClr val="1B2A41"/>
                </a:solidFill>
              </a:rPr>
              <a:t>The five-shelf diagram, and nothing else</a:t>
            </a:r>
          </a:p>
        </p:txBody>
      </p:sp>
      <p:sp>
        <p:nvSpPr>
          <p:cNvPr id="14" name="TextBox 13"/>
          <p:cNvSpPr txBox="1"/>
          <p:nvPr/>
        </p:nvSpPr>
        <p:spPr>
          <a:xfrm>
            <a:off x="4928616" y="2048256"/>
            <a:ext cx="137160" cy="310896"/>
          </a:xfrm>
          <a:prstGeom prst="rect">
            <a:avLst/>
          </a:prstGeom>
          <a:noFill/>
        </p:spPr>
        <p:txBody>
          <a:bodyPr wrap="square" anchor="ctr" lIns="0" rIns="0" tIns="0" bIns="0">
            <a:spAutoFit/>
          </a:bodyPr>
          <a:lstStyle/>
          <a:p>
            <a:pPr algn="ctr"/>
            <a:r>
              <a:rPr sz="1300" b="1">
                <a:solidFill>
                  <a:srgbClr val="C9A227"/>
                </a:solidFill>
              </a:rPr>
              <a:t>→</a:t>
            </a:r>
          </a:p>
        </p:txBody>
      </p:sp>
      <p:sp>
        <p:nvSpPr>
          <p:cNvPr id="15" name="Rectangle 14"/>
          <p:cNvSpPr/>
          <p:nvPr/>
        </p:nvSpPr>
        <p:spPr>
          <a:xfrm>
            <a:off x="5065776" y="1536192"/>
            <a:ext cx="2103120" cy="13716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66944" y="1700784"/>
            <a:ext cx="1700784" cy="274320"/>
          </a:xfrm>
          <a:prstGeom prst="rect">
            <a:avLst/>
          </a:prstGeom>
          <a:noFill/>
        </p:spPr>
        <p:txBody>
          <a:bodyPr wrap="square" anchor="t" lIns="0" rIns="0" tIns="0" bIns="0">
            <a:spAutoFit/>
          </a:bodyPr>
          <a:lstStyle/>
          <a:p>
            <a:pPr algn="l"/>
            <a:r>
              <a:rPr sz="1000" b="1">
                <a:solidFill>
                  <a:srgbClr val="C9A227"/>
                </a:solidFill>
              </a:rPr>
              <a:t>DEMONSTRATION</a:t>
            </a:r>
          </a:p>
        </p:txBody>
      </p:sp>
      <p:sp>
        <p:nvSpPr>
          <p:cNvPr id="17" name="TextBox 16"/>
          <p:cNvSpPr txBox="1"/>
          <p:nvPr/>
        </p:nvSpPr>
        <p:spPr>
          <a:xfrm>
            <a:off x="5266944" y="2011680"/>
            <a:ext cx="1700784" cy="822960"/>
          </a:xfrm>
          <a:prstGeom prst="rect">
            <a:avLst/>
          </a:prstGeom>
          <a:noFill/>
        </p:spPr>
        <p:txBody>
          <a:bodyPr wrap="square" anchor="t" lIns="0" rIns="0" tIns="0" bIns="0">
            <a:spAutoFit/>
          </a:bodyPr>
          <a:lstStyle/>
          <a:p>
            <a:pPr algn="l"/>
            <a:r>
              <a:rPr sz="950" b="0">
                <a:solidFill>
                  <a:srgbClr val="C9D6EE"/>
                </a:solidFill>
              </a:rPr>
              <a:t>One line saying what the panel is about to see</a:t>
            </a:r>
          </a:p>
        </p:txBody>
      </p:sp>
      <p:sp>
        <p:nvSpPr>
          <p:cNvPr id="18" name="TextBox 17"/>
          <p:cNvSpPr txBox="1"/>
          <p:nvPr/>
        </p:nvSpPr>
        <p:spPr>
          <a:xfrm>
            <a:off x="7187183" y="2048256"/>
            <a:ext cx="137160" cy="310896"/>
          </a:xfrm>
          <a:prstGeom prst="rect">
            <a:avLst/>
          </a:prstGeom>
          <a:noFill/>
        </p:spPr>
        <p:txBody>
          <a:bodyPr wrap="square" anchor="ctr" lIns="0" rIns="0" tIns="0" bIns="0">
            <a:spAutoFit/>
          </a:bodyPr>
          <a:lstStyle/>
          <a:p>
            <a:pPr algn="ctr"/>
            <a:r>
              <a:rPr sz="1300" b="1">
                <a:solidFill>
                  <a:srgbClr val="C9A227"/>
                </a:solidFill>
              </a:rPr>
              <a:t>→</a:t>
            </a:r>
          </a:p>
        </p:txBody>
      </p:sp>
      <p:sp>
        <p:nvSpPr>
          <p:cNvPr id="19" name="Rectangle 18"/>
          <p:cNvSpPr/>
          <p:nvPr/>
        </p:nvSpPr>
        <p:spPr>
          <a:xfrm>
            <a:off x="7324344" y="1536192"/>
            <a:ext cx="2103120"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24344" y="1536192"/>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25512" y="1700784"/>
            <a:ext cx="1700784" cy="274320"/>
          </a:xfrm>
          <a:prstGeom prst="rect">
            <a:avLst/>
          </a:prstGeom>
          <a:noFill/>
        </p:spPr>
        <p:txBody>
          <a:bodyPr wrap="square" anchor="t" lIns="0" rIns="0" tIns="0" bIns="0">
            <a:spAutoFit/>
          </a:bodyPr>
          <a:lstStyle/>
          <a:p>
            <a:pPr algn="l"/>
            <a:r>
              <a:rPr sz="1000" b="1">
                <a:solidFill>
                  <a:srgbClr val="3A5C9E"/>
                </a:solidFill>
              </a:rPr>
              <a:t>IMPACT</a:t>
            </a:r>
          </a:p>
        </p:txBody>
      </p:sp>
      <p:sp>
        <p:nvSpPr>
          <p:cNvPr id="22" name="TextBox 21"/>
          <p:cNvSpPr txBox="1"/>
          <p:nvPr/>
        </p:nvSpPr>
        <p:spPr>
          <a:xfrm>
            <a:off x="7525512" y="2011680"/>
            <a:ext cx="1700784" cy="822960"/>
          </a:xfrm>
          <a:prstGeom prst="rect">
            <a:avLst/>
          </a:prstGeom>
          <a:noFill/>
        </p:spPr>
        <p:txBody>
          <a:bodyPr wrap="square" anchor="t" lIns="0" rIns="0" tIns="0" bIns="0">
            <a:spAutoFit/>
          </a:bodyPr>
          <a:lstStyle/>
          <a:p>
            <a:pPr algn="l"/>
            <a:r>
              <a:rPr sz="950" b="0">
                <a:solidFill>
                  <a:srgbClr val="1B2A41"/>
                </a:solidFill>
              </a:rPr>
              <a:t>The finding, its limits, what a firm would do differently</a:t>
            </a:r>
          </a:p>
        </p:txBody>
      </p:sp>
      <p:sp>
        <p:nvSpPr>
          <p:cNvPr id="23" name="TextBox 22"/>
          <p:cNvSpPr txBox="1"/>
          <p:nvPr/>
        </p:nvSpPr>
        <p:spPr>
          <a:xfrm>
            <a:off x="9445751" y="2048256"/>
            <a:ext cx="137160" cy="310896"/>
          </a:xfrm>
          <a:prstGeom prst="rect">
            <a:avLst/>
          </a:prstGeom>
          <a:noFill/>
        </p:spPr>
        <p:txBody>
          <a:bodyPr wrap="square" anchor="ctr" lIns="0" rIns="0" tIns="0" bIns="0">
            <a:spAutoFit/>
          </a:bodyPr>
          <a:lstStyle/>
          <a:p>
            <a:pPr algn="ctr"/>
            <a:r>
              <a:rPr sz="1300" b="1">
                <a:solidFill>
                  <a:srgbClr val="C9A227"/>
                </a:solidFill>
              </a:rPr>
              <a:t>→</a:t>
            </a:r>
          </a:p>
        </p:txBody>
      </p:sp>
      <p:sp>
        <p:nvSpPr>
          <p:cNvPr id="24" name="Rectangle 23"/>
          <p:cNvSpPr/>
          <p:nvPr/>
        </p:nvSpPr>
        <p:spPr>
          <a:xfrm>
            <a:off x="9582912" y="1536192"/>
            <a:ext cx="2103120"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82912" y="1536192"/>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0" y="1700784"/>
            <a:ext cx="1700784" cy="274320"/>
          </a:xfrm>
          <a:prstGeom prst="rect">
            <a:avLst/>
          </a:prstGeom>
          <a:noFill/>
        </p:spPr>
        <p:txBody>
          <a:bodyPr wrap="square" anchor="t" lIns="0" rIns="0" tIns="0" bIns="0">
            <a:spAutoFit/>
          </a:bodyPr>
          <a:lstStyle/>
          <a:p>
            <a:pPr algn="l"/>
            <a:r>
              <a:rPr sz="1000" b="1">
                <a:solidFill>
                  <a:srgbClr val="3A5C9E"/>
                </a:solidFill>
              </a:rPr>
              <a:t>TEAM</a:t>
            </a:r>
          </a:p>
        </p:txBody>
      </p:sp>
      <p:sp>
        <p:nvSpPr>
          <p:cNvPr id="27" name="TextBox 26"/>
          <p:cNvSpPr txBox="1"/>
          <p:nvPr/>
        </p:nvSpPr>
        <p:spPr>
          <a:xfrm>
            <a:off x="9784080" y="2011680"/>
            <a:ext cx="1700784" cy="822960"/>
          </a:xfrm>
          <a:prstGeom prst="rect">
            <a:avLst/>
          </a:prstGeom>
          <a:noFill/>
        </p:spPr>
        <p:txBody>
          <a:bodyPr wrap="square" anchor="t" lIns="0" rIns="0" tIns="0" bIns="0">
            <a:spAutoFit/>
          </a:bodyPr>
          <a:lstStyle/>
          <a:p>
            <a:pPr algn="l"/>
            <a:r>
              <a:rPr sz="950" b="0">
                <a:solidFill>
                  <a:srgbClr val="1B2A41"/>
                </a:solidFill>
              </a:rPr>
              <a:t>Who built which layer. One slide, even for a team of one</a:t>
            </a:r>
          </a:p>
        </p:txBody>
      </p:sp>
      <p:sp>
        <p:nvSpPr>
          <p:cNvPr id="28" name="TextBox 27"/>
          <p:cNvSpPr txBox="1"/>
          <p:nvPr/>
        </p:nvSpPr>
        <p:spPr>
          <a:xfrm>
            <a:off x="548640" y="3054096"/>
            <a:ext cx="5486400" cy="45720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The repository is public. A private repository is not evidence.</a:t>
            </a:r>
          </a:p>
        </p:txBody>
      </p:sp>
      <p:sp>
        <p:nvSpPr>
          <p:cNvPr id="29" name="TextBox 28"/>
          <p:cNvSpPr txBox="1"/>
          <p:nvPr/>
        </p:nvSpPr>
        <p:spPr>
          <a:xfrm>
            <a:off x="6153912" y="3054096"/>
            <a:ext cx="5486400" cy="45720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The site is a static export. Plain HTML in a docs folder is simplest.</a:t>
            </a:r>
          </a:p>
        </p:txBody>
      </p:sp>
      <p:sp>
        <p:nvSpPr>
          <p:cNvPr id="30" name="TextBox 29"/>
          <p:cNvSpPr txBox="1"/>
          <p:nvPr/>
        </p:nvSpPr>
        <p:spPr>
          <a:xfrm>
            <a:off x="548640" y="3529584"/>
            <a:ext cx="5486400" cy="45720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Pages is switched on, with the source set to docs or to Actions.</a:t>
            </a:r>
          </a:p>
        </p:txBody>
      </p:sp>
      <p:sp>
        <p:nvSpPr>
          <p:cNvPr id="31" name="TextBox 30"/>
          <p:cNvSpPr txBox="1"/>
          <p:nvPr/>
        </p:nvSpPr>
        <p:spPr>
          <a:xfrm>
            <a:off x="6153912" y="3529584"/>
            <a:ext cx="5486400" cy="45720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No secrets. Search the history for key, token and password first.</a:t>
            </a:r>
          </a:p>
        </p:txBody>
      </p:sp>
      <p:sp>
        <p:nvSpPr>
          <p:cNvPr id="32" name="TextBox 31"/>
          <p:cNvSpPr txBox="1"/>
          <p:nvPr/>
        </p:nvSpPr>
        <p:spPr>
          <a:xfrm>
            <a:off x="548640" y="4005072"/>
            <a:ext cx="5486400" cy="45720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The data is committed with its sources.csv.</a:t>
            </a:r>
          </a:p>
        </p:txBody>
      </p:sp>
      <p:sp>
        <p:nvSpPr>
          <p:cNvPr id="33" name="TextBox 32"/>
          <p:cNvSpPr txBox="1"/>
          <p:nvPr/>
        </p:nvSpPr>
        <p:spPr>
          <a:xfrm>
            <a:off x="6153912" y="4005072"/>
            <a:ext cx="5486400" cy="45720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The page shows the age of its data.</a:t>
            </a:r>
          </a:p>
        </p:txBody>
      </p:sp>
      <p:sp>
        <p:nvSpPr>
          <p:cNvPr id="34" name="TextBox 33"/>
          <p:cNvSpPr txBox="1"/>
          <p:nvPr/>
        </p:nvSpPr>
        <p:spPr>
          <a:xfrm>
            <a:off x="548640" y="4480560"/>
            <a:ext cx="5486400" cy="45720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The README carries the live link, the question and the test command.</a:t>
            </a:r>
          </a:p>
        </p:txBody>
      </p:sp>
      <p:sp>
        <p:nvSpPr>
          <p:cNvPr id="35" name="TextBox 34"/>
          <p:cNvSpPr txBox="1"/>
          <p:nvPr/>
        </p:nvSpPr>
        <p:spPr>
          <a:xfrm>
            <a:off x="6153912" y="4480560"/>
            <a:ext cx="5486400" cy="45720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A LICENSE and the educational-use disclaimer are present.</a:t>
            </a:r>
          </a:p>
        </p:txBody>
      </p:sp>
      <p:sp>
        <p:nvSpPr>
          <p:cNvPr id="36" name="TextBox 35"/>
          <p:cNvSpPr txBox="1"/>
          <p:nvPr/>
        </p:nvSpPr>
        <p:spPr>
          <a:xfrm>
            <a:off x="548640" y="4956048"/>
            <a:ext cx="5486400" cy="45720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The site was opened in a private window on a different device.</a:t>
            </a:r>
          </a:p>
        </p:txBody>
      </p:sp>
      <p:sp>
        <p:nvSpPr>
          <p:cNvPr id="37" name="TextBox 36"/>
          <p:cNvSpPr txBox="1"/>
          <p:nvPr/>
        </p:nvSpPr>
        <p:spPr>
          <a:xfrm>
            <a:off x="6153912" y="4956048"/>
            <a:ext cx="5486400" cy="45720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The commit history spans the project period, not one week.</a:t>
            </a:r>
          </a:p>
        </p:txBody>
      </p:sp>
      <p:sp>
        <p:nvSpPr>
          <p:cNvPr id="38" name="Rectangle 37"/>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A page that works only on your laptop is not deployed:</a:t>
            </a:r>
            <a:r>
              <a:rPr sz="1200" b="0">
                <a:solidFill>
                  <a:srgbClr val="FFFFFF"/>
                </a:solidFill>
              </a:rPr>
              <a:t>open it in a private window on somebody else's device before you call it live.</a:t>
            </a:r>
          </a:p>
        </p:txBody>
      </p:sp>
      <p:sp>
        <p:nvSpPr>
          <p:cNvPr id="41" name="TextBox 40"/>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42" name="TextBox 41"/>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10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Eleven steps, in the order my students take them</a:t>
            </a:r>
          </a:p>
        </p:txBody>
      </p:sp>
      <p:sp>
        <p:nvSpPr>
          <p:cNvPr id="5" name="Rectangle 4"/>
          <p:cNvSpPr/>
          <p:nvPr/>
        </p:nvSpPr>
        <p:spPr>
          <a:xfrm>
            <a:off x="548640" y="1554480"/>
            <a:ext cx="361188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828800"/>
            <a:ext cx="3099816" cy="274320"/>
          </a:xfrm>
          <a:prstGeom prst="rect">
            <a:avLst/>
          </a:prstGeom>
          <a:noFill/>
        </p:spPr>
        <p:txBody>
          <a:bodyPr wrap="square" anchor="t" lIns="0" rIns="0" tIns="0" bIns="0">
            <a:spAutoFit/>
          </a:bodyPr>
          <a:lstStyle/>
          <a:p>
            <a:pPr algn="l"/>
            <a:r>
              <a:rPr sz="950" b="1">
                <a:solidFill>
                  <a:srgbClr val="3A5C9E"/>
                </a:solidFill>
              </a:rPr>
              <a:t>STEPS 1 TO 4 · SET IT UP</a:t>
            </a:r>
          </a:p>
        </p:txBody>
      </p:sp>
      <p:sp>
        <p:nvSpPr>
          <p:cNvPr id="7" name="TextBox 6"/>
          <p:cNvSpPr txBox="1"/>
          <p:nvPr/>
        </p:nvSpPr>
        <p:spPr>
          <a:xfrm>
            <a:off x="804672" y="2157984"/>
            <a:ext cx="3099816" cy="411480"/>
          </a:xfrm>
          <a:prstGeom prst="rect">
            <a:avLst/>
          </a:prstGeom>
          <a:noFill/>
        </p:spPr>
        <p:txBody>
          <a:bodyPr wrap="square" anchor="t" lIns="0" rIns="0" tIns="0" bIns="0">
            <a:spAutoFit/>
          </a:bodyPr>
          <a:lstStyle/>
          <a:p>
            <a:pPr algn="l"/>
            <a:r>
              <a:rPr sz="1700" b="1">
                <a:solidFill>
                  <a:srgbClr val="0F2145"/>
                </a:solidFill>
                <a:latin typeface="Georgia"/>
              </a:rPr>
              <a:t>Question and provenance</a:t>
            </a:r>
          </a:p>
        </p:txBody>
      </p:sp>
      <p:sp>
        <p:nvSpPr>
          <p:cNvPr id="8" name="TextBox 7"/>
          <p:cNvSpPr txBox="1"/>
          <p:nvPr/>
        </p:nvSpPr>
        <p:spPr>
          <a:xfrm>
            <a:off x="804672" y="2651760"/>
            <a:ext cx="3099816" cy="43891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1 Write the question, one sentence, answerable either way</a:t>
            </a:r>
          </a:p>
        </p:txBody>
      </p:sp>
      <p:sp>
        <p:nvSpPr>
          <p:cNvPr id="9" name="TextBox 8"/>
          <p:cNvSpPr txBox="1"/>
          <p:nvPr/>
        </p:nvSpPr>
        <p:spPr>
          <a:xfrm>
            <a:off x="804672" y="3108960"/>
            <a:ext cx="3099816" cy="43891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2 Inventory your nine artifacts against the five layers</a:t>
            </a:r>
          </a:p>
        </p:txBody>
      </p:sp>
      <p:sp>
        <p:nvSpPr>
          <p:cNvPr id="10" name="TextBox 9"/>
          <p:cNvSpPr txBox="1"/>
          <p:nvPr/>
        </p:nvSpPr>
        <p:spPr>
          <a:xfrm>
            <a:off x="804672" y="3566160"/>
            <a:ext cx="3099816" cy="43891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3 Lay out the folder exactly as printed</a:t>
            </a:r>
          </a:p>
        </p:txBody>
      </p:sp>
      <p:sp>
        <p:nvSpPr>
          <p:cNvPr id="11" name="TextBox 10"/>
          <p:cNvSpPr txBox="1"/>
          <p:nvPr/>
        </p:nvSpPr>
        <p:spPr>
          <a:xfrm>
            <a:off x="804672" y="4023360"/>
            <a:ext cx="3099816" cy="43891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4 Write sources.csv, one row per input</a:t>
            </a:r>
          </a:p>
        </p:txBody>
      </p:sp>
      <p:sp>
        <p:nvSpPr>
          <p:cNvPr id="12" name="Rectangle 11"/>
          <p:cNvSpPr/>
          <p:nvPr/>
        </p:nvSpPr>
        <p:spPr>
          <a:xfrm>
            <a:off x="548640" y="1554480"/>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554480"/>
            <a:ext cx="361188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1828800"/>
            <a:ext cx="3099816" cy="274320"/>
          </a:xfrm>
          <a:prstGeom prst="rect">
            <a:avLst/>
          </a:prstGeom>
          <a:noFill/>
        </p:spPr>
        <p:txBody>
          <a:bodyPr wrap="square" anchor="t" lIns="0" rIns="0" tIns="0" bIns="0">
            <a:spAutoFit/>
          </a:bodyPr>
          <a:lstStyle/>
          <a:p>
            <a:pPr algn="l"/>
            <a:r>
              <a:rPr sz="950" b="1">
                <a:solidFill>
                  <a:srgbClr val="3A5C9E"/>
                </a:solidFill>
              </a:rPr>
              <a:t>STEPS 5 TO 8 · BUILD IT</a:t>
            </a:r>
          </a:p>
        </p:txBody>
      </p:sp>
      <p:sp>
        <p:nvSpPr>
          <p:cNvPr id="15" name="TextBox 14"/>
          <p:cNvSpPr txBox="1"/>
          <p:nvPr/>
        </p:nvSpPr>
        <p:spPr>
          <a:xfrm>
            <a:off x="4572000" y="2157984"/>
            <a:ext cx="3099816" cy="411480"/>
          </a:xfrm>
          <a:prstGeom prst="rect">
            <a:avLst/>
          </a:prstGeom>
          <a:noFill/>
        </p:spPr>
        <p:txBody>
          <a:bodyPr wrap="square" anchor="t" lIns="0" rIns="0" tIns="0" bIns="0">
            <a:spAutoFit/>
          </a:bodyPr>
          <a:lstStyle/>
          <a:p>
            <a:pPr algn="l"/>
            <a:r>
              <a:rPr sz="1700" b="1">
                <a:solidFill>
                  <a:srgbClr val="0F2145"/>
                </a:solidFill>
                <a:latin typeface="Georgia"/>
              </a:rPr>
              <a:t>Engine first, page last</a:t>
            </a:r>
          </a:p>
        </p:txBody>
      </p:sp>
      <p:sp>
        <p:nvSpPr>
          <p:cNvPr id="16" name="TextBox 15"/>
          <p:cNvSpPr txBox="1"/>
          <p:nvPr/>
        </p:nvSpPr>
        <p:spPr>
          <a:xfrm>
            <a:off x="4572000" y="2651760"/>
            <a:ext cx="3099816" cy="43891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5 Write the engine test against a hand-worked example</a:t>
            </a:r>
          </a:p>
        </p:txBody>
      </p:sp>
      <p:sp>
        <p:nvSpPr>
          <p:cNvPr id="17" name="TextBox 16"/>
          <p:cNvSpPr txBox="1"/>
          <p:nvPr/>
        </p:nvSpPr>
        <p:spPr>
          <a:xfrm>
            <a:off x="4572000" y="3108960"/>
            <a:ext cx="3099816" cy="43891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6 Wire the commentary so it reads only the engine's output</a:t>
            </a:r>
          </a:p>
        </p:txBody>
      </p:sp>
      <p:sp>
        <p:nvSpPr>
          <p:cNvPr id="18" name="TextBox 17"/>
          <p:cNvSpPr txBox="1"/>
          <p:nvPr/>
        </p:nvSpPr>
        <p:spPr>
          <a:xfrm>
            <a:off x="4572000" y="3566160"/>
            <a:ext cx="3099816" cy="43891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7 Build the app and the generated report</a:t>
            </a:r>
          </a:p>
        </p:txBody>
      </p:sp>
      <p:sp>
        <p:nvSpPr>
          <p:cNvPr id="19" name="TextBox 18"/>
          <p:cNvSpPr txBox="1"/>
          <p:nvPr/>
        </p:nvSpPr>
        <p:spPr>
          <a:xfrm>
            <a:off x="4572000" y="4023360"/>
            <a:ext cx="3099816" cy="43891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8 Build the static site and switch Pages on</a:t>
            </a:r>
          </a:p>
        </p:txBody>
      </p:sp>
      <p:sp>
        <p:nvSpPr>
          <p:cNvPr id="20" name="Rectangle 19"/>
          <p:cNvSpPr/>
          <p:nvPr/>
        </p:nvSpPr>
        <p:spPr>
          <a:xfrm>
            <a:off x="4315968" y="1554480"/>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83296" y="1554480"/>
            <a:ext cx="3557016" cy="22860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9327" y="1828800"/>
            <a:ext cx="3044952" cy="274320"/>
          </a:xfrm>
          <a:prstGeom prst="rect">
            <a:avLst/>
          </a:prstGeom>
          <a:noFill/>
        </p:spPr>
        <p:txBody>
          <a:bodyPr wrap="square" anchor="t" lIns="0" rIns="0" tIns="0" bIns="0">
            <a:spAutoFit/>
          </a:bodyPr>
          <a:lstStyle/>
          <a:p>
            <a:pPr algn="l"/>
            <a:r>
              <a:rPr sz="950" b="1">
                <a:solidFill>
                  <a:srgbClr val="C9A227"/>
                </a:solidFill>
              </a:rPr>
              <a:t>STEPS 9 TO 11 · DEFEND IT</a:t>
            </a:r>
          </a:p>
        </p:txBody>
      </p:sp>
      <p:sp>
        <p:nvSpPr>
          <p:cNvPr id="23" name="TextBox 22"/>
          <p:cNvSpPr txBox="1"/>
          <p:nvPr/>
        </p:nvSpPr>
        <p:spPr>
          <a:xfrm>
            <a:off x="8339327" y="2157984"/>
            <a:ext cx="3044952" cy="411480"/>
          </a:xfrm>
          <a:prstGeom prst="rect">
            <a:avLst/>
          </a:prstGeom>
          <a:noFill/>
        </p:spPr>
        <p:txBody>
          <a:bodyPr wrap="square" anchor="t" lIns="0" rIns="0" tIns="0" bIns="0">
            <a:spAutoFit/>
          </a:bodyPr>
          <a:lstStyle/>
          <a:p>
            <a:pPr algn="l"/>
            <a:r>
              <a:rPr sz="1700" b="1">
                <a:solidFill>
                  <a:srgbClr val="FFFFFF"/>
                </a:solidFill>
                <a:latin typeface="Georgia"/>
              </a:rPr>
              <a:t>Where the marks are</a:t>
            </a:r>
          </a:p>
        </p:txBody>
      </p:sp>
      <p:sp>
        <p:nvSpPr>
          <p:cNvPr id="24" name="TextBox 23"/>
          <p:cNvSpPr txBox="1"/>
          <p:nvPr/>
        </p:nvSpPr>
        <p:spPr>
          <a:xfrm>
            <a:off x="8339327" y="2651760"/>
            <a:ext cx="3044952" cy="438912"/>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9 Draft the five slides from your own README, then correct every bracket</a:t>
            </a:r>
          </a:p>
        </p:txBody>
      </p:sp>
      <p:sp>
        <p:nvSpPr>
          <p:cNvPr id="25" name="TextBox 24"/>
          <p:cNvSpPr txBox="1"/>
          <p:nvPr/>
        </p:nvSpPr>
        <p:spPr>
          <a:xfrm>
            <a:off x="8339327" y="3108960"/>
            <a:ext cx="3044952" cy="438912"/>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10 Run the mock panel: ten questions, mapped to rubric lines</a:t>
            </a:r>
          </a:p>
        </p:txBody>
      </p:sp>
      <p:sp>
        <p:nvSpPr>
          <p:cNvPr id="26" name="TextBox 25"/>
          <p:cNvSpPr txBox="1"/>
          <p:nvPr/>
        </p:nvSpPr>
        <p:spPr>
          <a:xfrm>
            <a:off x="8339327" y="3566160"/>
            <a:ext cx="3044952" cy="438912"/>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11 Rehearse the three-minute demonstration, failure included</a:t>
            </a:r>
          </a:p>
        </p:txBody>
      </p:sp>
      <p:sp>
        <p:nvSpPr>
          <p:cNvPr id="27" name="Rectangle 26"/>
          <p:cNvSpPr/>
          <p:nvPr/>
        </p:nvSpPr>
        <p:spPr>
          <a:xfrm>
            <a:off x="548640" y="4059936"/>
            <a:ext cx="11091672" cy="82296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4059936"/>
            <a:ext cx="64008" cy="8229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4059936"/>
            <a:ext cx="10515600" cy="822960"/>
          </a:xfrm>
          <a:prstGeom prst="rect">
            <a:avLst/>
          </a:prstGeom>
          <a:noFill/>
        </p:spPr>
        <p:txBody>
          <a:bodyPr wrap="square" anchor="ctr" lIns="0" rIns="0" tIns="0" bIns="0">
            <a:spAutoFit/>
          </a:bodyPr>
          <a:lstStyle/>
          <a:p>
            <a:pPr algn="l"/>
            <a:r>
              <a:rPr sz="850" b="1">
                <a:solidFill>
                  <a:srgbClr val="C9A227"/>
                </a:solidFill>
              </a:rPr>
              <a:t>THE PROMPT THAT DRAFTS THE PITCH</a:t>
            </a:r>
          </a:p>
          <a:p>
            <a:pPr algn="l">
              <a:spcBef>
                <a:spcPts val="200"/>
              </a:spcBef>
            </a:pPr>
            <a:r>
              <a:rPr sz="1250" b="1">
                <a:solidFill>
                  <a:srgbClr val="FFFFFF"/>
                </a:solidFill>
                <a:latin typeface="Georgia"/>
              </a:rPr>
              <a:t>“Draft five slides from this README: Problem, Solution Architecture, Live Demonstration, Business Impact, Team. Use only facts stated in the README. Where the README does not state a fact you need, write [fill in] rather than inventing it.”</a:t>
            </a:r>
          </a:p>
        </p:txBody>
      </p:sp>
      <p:sp>
        <p:nvSpPr>
          <p:cNvPr id="30" name="Rectangle 29"/>
          <p:cNvSpPr/>
          <p:nvPr/>
        </p:nvSpPr>
        <p:spPr>
          <a:xfrm>
            <a:off x="548640" y="5029200"/>
            <a:ext cx="11091672" cy="60350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029200"/>
            <a:ext cx="64008"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5157216"/>
            <a:ext cx="10515600" cy="384048"/>
          </a:xfrm>
          <a:prstGeom prst="rect">
            <a:avLst/>
          </a:prstGeom>
          <a:noFill/>
        </p:spPr>
        <p:txBody>
          <a:bodyPr wrap="square" anchor="t" lIns="0" rIns="0" tIns="0" bIns="0">
            <a:spAutoFit/>
          </a:bodyPr>
          <a:lstStyle/>
          <a:p>
            <a:pPr algn="l"/>
            <a:r>
              <a:rPr sz="950" b="1">
                <a:solidFill>
                  <a:srgbClr val="3A5C9E"/>
                </a:solidFill>
              </a:rPr>
              <a:t>THE BRACKETED GAPS ARE THE POINT</a:t>
            </a:r>
          </a:p>
          <a:p>
            <a:pPr algn="l">
              <a:spcBef>
                <a:spcPts val="400"/>
              </a:spcBef>
            </a:pPr>
            <a:r>
              <a:rPr sz="1100" b="0">
                <a:solidFill>
                  <a:srgbClr val="1B2A41"/>
                </a:solidFill>
              </a:rPr>
              <a:t>A draft that fills them in for you has invented something, and you would have to find it before the panel does.</a:t>
            </a:r>
          </a:p>
        </p:txBody>
      </p:sp>
      <p:sp>
        <p:nvSpPr>
          <p:cNvPr id="33" name="TextBox 32"/>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34" name="TextBox 33"/>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10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MOCK PANEL</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The first question is always about provenance</a:t>
            </a:r>
          </a:p>
        </p:txBody>
      </p:sp>
      <p:sp>
        <p:nvSpPr>
          <p:cNvPr id="5" name="Rectangle 4"/>
          <p:cNvSpPr/>
          <p:nvPr/>
        </p:nvSpPr>
        <p:spPr>
          <a:xfrm>
            <a:off x="548640" y="1426464"/>
            <a:ext cx="11091672" cy="658368"/>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26464"/>
            <a:ext cx="64008" cy="65836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26464"/>
            <a:ext cx="10515600" cy="658368"/>
          </a:xfrm>
          <a:prstGeom prst="rect">
            <a:avLst/>
          </a:prstGeom>
          <a:noFill/>
        </p:spPr>
        <p:txBody>
          <a:bodyPr wrap="square" anchor="ctr" lIns="0" rIns="0" tIns="0" bIns="0">
            <a:spAutoFit/>
          </a:bodyPr>
          <a:lstStyle/>
          <a:p>
            <a:pPr algn="l"/>
            <a:r>
              <a:rPr sz="850" b="1">
                <a:solidFill>
                  <a:srgbClr val="C9A227"/>
                </a:solidFill>
              </a:rPr>
              <a:t>QUESTION ONE, ON PROVENANCE</a:t>
            </a:r>
          </a:p>
          <a:p>
            <a:pPr algn="l">
              <a:spcBef>
                <a:spcPts val="200"/>
              </a:spcBef>
            </a:pPr>
            <a:r>
              <a:rPr sz="1350" b="1">
                <a:solidFill>
                  <a:srgbClr val="FFFFFF"/>
                </a:solidFill>
                <a:latin typeface="Georgia"/>
              </a:rPr>
              <a:t>“Where did the holdings data come from, and how do I know you did not edit it?”</a:t>
            </a:r>
          </a:p>
        </p:txBody>
      </p:sp>
      <p:sp>
        <p:nvSpPr>
          <p:cNvPr id="8" name="Rectangle 7"/>
          <p:cNvSpPr/>
          <p:nvPr/>
        </p:nvSpPr>
        <p:spPr>
          <a:xfrm>
            <a:off x="548640" y="2249424"/>
            <a:ext cx="11091672" cy="1463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49424"/>
            <a:ext cx="54864" cy="146304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432304"/>
            <a:ext cx="10515600" cy="1133856"/>
          </a:xfrm>
          <a:prstGeom prst="rect">
            <a:avLst/>
          </a:prstGeom>
          <a:noFill/>
        </p:spPr>
        <p:txBody>
          <a:bodyPr wrap="square" anchor="t" lIns="0" rIns="0" tIns="0" bIns="0">
            <a:spAutoFit/>
          </a:bodyPr>
          <a:lstStyle/>
          <a:p>
            <a:pPr algn="l"/>
            <a:r>
              <a:rPr sz="950" b="1">
                <a:solidFill>
                  <a:srgbClr val="3A5C9E"/>
                </a:solidFill>
              </a:rPr>
              <a:t>THE MODEL ANSWER</a:t>
            </a:r>
          </a:p>
          <a:p>
            <a:pPr algn="l">
              <a:spcBef>
                <a:spcPts val="500"/>
              </a:spcBef>
            </a:pPr>
            <a:r>
              <a:rPr sz="1150" b="0">
                <a:solidFill>
                  <a:srgbClr val="1B2A41"/>
                </a:solidFill>
              </a:rPr>
              <a:t>The holdings come from the fund's Form N-PORT filing on SEC EDGAR, and the row in sources.csv gives the URL, the publisher, the date I pulled it and the script that reads it. The raw file sits in the data folder unchanged, and the extractor reads it fresh on every run. I can open the filing on EDGAR now and show that the first five holdings match.</a:t>
            </a:r>
          </a:p>
        </p:txBody>
      </p:sp>
      <p:sp>
        <p:nvSpPr>
          <p:cNvPr id="11" name="Rectangle 10"/>
          <p:cNvSpPr/>
          <p:nvPr/>
        </p:nvSpPr>
        <p:spPr>
          <a:xfrm>
            <a:off x="548640" y="3913632"/>
            <a:ext cx="3611880" cy="17007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4187952"/>
            <a:ext cx="3099816" cy="274320"/>
          </a:xfrm>
          <a:prstGeom prst="rect">
            <a:avLst/>
          </a:prstGeom>
          <a:noFill/>
        </p:spPr>
        <p:txBody>
          <a:bodyPr wrap="square" anchor="t" lIns="0" rIns="0" tIns="0" bIns="0">
            <a:spAutoFit/>
          </a:bodyPr>
          <a:lstStyle/>
          <a:p>
            <a:pPr algn="l"/>
            <a:r>
              <a:rPr sz="950" b="1">
                <a:solidFill>
                  <a:srgbClr val="3A5C9E"/>
                </a:solidFill>
              </a:rPr>
              <a:t>WHAT THEY ARE TESTING</a:t>
            </a:r>
          </a:p>
        </p:txBody>
      </p:sp>
      <p:sp>
        <p:nvSpPr>
          <p:cNvPr id="13" name="TextBox 12"/>
          <p:cNvSpPr txBox="1"/>
          <p:nvPr/>
        </p:nvSpPr>
        <p:spPr>
          <a:xfrm>
            <a:off x="804672" y="4517136"/>
            <a:ext cx="3099816" cy="411480"/>
          </a:xfrm>
          <a:prstGeom prst="rect">
            <a:avLst/>
          </a:prstGeom>
          <a:noFill/>
        </p:spPr>
        <p:txBody>
          <a:bodyPr wrap="square" anchor="t" lIns="0" rIns="0" tIns="0" bIns="0">
            <a:spAutoFit/>
          </a:bodyPr>
          <a:lstStyle/>
          <a:p>
            <a:pPr algn="l"/>
            <a:r>
              <a:rPr sz="1700" b="1">
                <a:solidFill>
                  <a:srgbClr val="0F2145"/>
                </a:solidFill>
                <a:latin typeface="Georgia"/>
              </a:rPr>
              <a:t>Ownership, five marks</a:t>
            </a:r>
          </a:p>
        </p:txBody>
      </p:sp>
      <p:sp>
        <p:nvSpPr>
          <p:cNvPr id="14" name="TextBox 13"/>
          <p:cNvSpPr txBox="1"/>
          <p:nvPr/>
        </p:nvSpPr>
        <p:spPr>
          <a:xfrm>
            <a:off x="804672" y="4919472"/>
            <a:ext cx="3099816" cy="402336"/>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That the input is public and traceable</a:t>
            </a:r>
          </a:p>
        </p:txBody>
      </p:sp>
      <p:sp>
        <p:nvSpPr>
          <p:cNvPr id="15" name="TextBox 14"/>
          <p:cNvSpPr txBox="1"/>
          <p:nvPr/>
        </p:nvSpPr>
        <p:spPr>
          <a:xfrm>
            <a:off x="804672" y="5340096"/>
            <a:ext cx="3099816" cy="402336"/>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That you did not touch it after you pulled it</a:t>
            </a:r>
          </a:p>
        </p:txBody>
      </p:sp>
      <p:sp>
        <p:nvSpPr>
          <p:cNvPr id="16" name="TextBox 15"/>
          <p:cNvSpPr txBox="1"/>
          <p:nvPr/>
        </p:nvSpPr>
        <p:spPr>
          <a:xfrm>
            <a:off x="804672" y="5760720"/>
            <a:ext cx="3099816" cy="402336"/>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That you can prove both of those in the room</a:t>
            </a:r>
          </a:p>
        </p:txBody>
      </p:sp>
      <p:sp>
        <p:nvSpPr>
          <p:cNvPr id="17" name="Rectangle 16"/>
          <p:cNvSpPr/>
          <p:nvPr/>
        </p:nvSpPr>
        <p:spPr>
          <a:xfrm>
            <a:off x="548640" y="3913632"/>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15968" y="3913632"/>
            <a:ext cx="3611880" cy="17007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4187952"/>
            <a:ext cx="3099816" cy="274320"/>
          </a:xfrm>
          <a:prstGeom prst="rect">
            <a:avLst/>
          </a:prstGeom>
          <a:noFill/>
        </p:spPr>
        <p:txBody>
          <a:bodyPr wrap="square" anchor="t" lIns="0" rIns="0" tIns="0" bIns="0">
            <a:spAutoFit/>
          </a:bodyPr>
          <a:lstStyle/>
          <a:p>
            <a:pPr algn="l"/>
            <a:r>
              <a:rPr sz="950" b="1">
                <a:solidFill>
                  <a:srgbClr val="3A5C9E"/>
                </a:solidFill>
              </a:rPr>
              <a:t>THE ANSWER THAT FAILS</a:t>
            </a:r>
          </a:p>
        </p:txBody>
      </p:sp>
      <p:sp>
        <p:nvSpPr>
          <p:cNvPr id="20" name="TextBox 19"/>
          <p:cNvSpPr txBox="1"/>
          <p:nvPr/>
        </p:nvSpPr>
        <p:spPr>
          <a:xfrm>
            <a:off x="4572000" y="4517136"/>
            <a:ext cx="3099816" cy="411480"/>
          </a:xfrm>
          <a:prstGeom prst="rect">
            <a:avLst/>
          </a:prstGeom>
          <a:noFill/>
        </p:spPr>
        <p:txBody>
          <a:bodyPr wrap="square" anchor="t" lIns="0" rIns="0" tIns="0" bIns="0">
            <a:spAutoFit/>
          </a:bodyPr>
          <a:lstStyle/>
          <a:p>
            <a:pPr algn="l"/>
            <a:r>
              <a:rPr sz="1700" b="1">
                <a:solidFill>
                  <a:srgbClr val="0F2145"/>
                </a:solidFill>
                <a:latin typeface="Georgia"/>
              </a:rPr>
              <a:t>Vague and unverifiable</a:t>
            </a:r>
          </a:p>
        </p:txBody>
      </p:sp>
      <p:sp>
        <p:nvSpPr>
          <p:cNvPr id="21" name="TextBox 20"/>
          <p:cNvSpPr txBox="1"/>
          <p:nvPr/>
        </p:nvSpPr>
        <p:spPr>
          <a:xfrm>
            <a:off x="4572000" y="4919472"/>
            <a:ext cx="3099816" cy="402336"/>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“I downloaded it from the internet a while ago”</a:t>
            </a:r>
          </a:p>
        </p:txBody>
      </p:sp>
      <p:sp>
        <p:nvSpPr>
          <p:cNvPr id="22" name="TextBox 21"/>
          <p:cNvSpPr txBox="1"/>
          <p:nvPr/>
        </p:nvSpPr>
        <p:spPr>
          <a:xfrm>
            <a:off x="4572000" y="5340096"/>
            <a:ext cx="3099816" cy="402336"/>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A cleaned spreadsheet with no raw file behind it</a:t>
            </a:r>
          </a:p>
        </p:txBody>
      </p:sp>
      <p:sp>
        <p:nvSpPr>
          <p:cNvPr id="23" name="TextBox 22"/>
          <p:cNvSpPr txBox="1"/>
          <p:nvPr/>
        </p:nvSpPr>
        <p:spPr>
          <a:xfrm>
            <a:off x="4572000" y="5760720"/>
            <a:ext cx="3099816" cy="402336"/>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A number in the report that has no row in sources.csv</a:t>
            </a:r>
          </a:p>
        </p:txBody>
      </p:sp>
      <p:sp>
        <p:nvSpPr>
          <p:cNvPr id="24" name="Rectangle 23"/>
          <p:cNvSpPr/>
          <p:nvPr/>
        </p:nvSpPr>
        <p:spPr>
          <a:xfrm>
            <a:off x="4315968" y="3913632"/>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83296" y="3913632"/>
            <a:ext cx="3557016" cy="170078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9327" y="4187952"/>
            <a:ext cx="3044952" cy="274320"/>
          </a:xfrm>
          <a:prstGeom prst="rect">
            <a:avLst/>
          </a:prstGeom>
          <a:noFill/>
        </p:spPr>
        <p:txBody>
          <a:bodyPr wrap="square" anchor="t" lIns="0" rIns="0" tIns="0" bIns="0">
            <a:spAutoFit/>
          </a:bodyPr>
          <a:lstStyle/>
          <a:p>
            <a:pPr algn="l"/>
            <a:r>
              <a:rPr sz="950" b="1">
                <a:solidFill>
                  <a:srgbClr val="C9A227"/>
                </a:solidFill>
              </a:rPr>
              <a:t>PREPARE THIS ONE ANSWER</a:t>
            </a:r>
          </a:p>
        </p:txBody>
      </p:sp>
      <p:sp>
        <p:nvSpPr>
          <p:cNvPr id="27" name="TextBox 26"/>
          <p:cNvSpPr txBox="1"/>
          <p:nvPr/>
        </p:nvSpPr>
        <p:spPr>
          <a:xfrm>
            <a:off x="8339327" y="4517136"/>
            <a:ext cx="3044952" cy="411480"/>
          </a:xfrm>
          <a:prstGeom prst="rect">
            <a:avLst/>
          </a:prstGeom>
          <a:noFill/>
        </p:spPr>
        <p:txBody>
          <a:bodyPr wrap="square" anchor="t" lIns="0" rIns="0" tIns="0" bIns="0">
            <a:spAutoFit/>
          </a:bodyPr>
          <a:lstStyle/>
          <a:p>
            <a:pPr algn="l"/>
            <a:r>
              <a:rPr sz="1700" b="1">
                <a:solidFill>
                  <a:srgbClr val="FFFFFF"/>
                </a:solidFill>
                <a:latin typeface="Georgia"/>
              </a:rPr>
              <a:t>It sets the tone</a:t>
            </a:r>
          </a:p>
        </p:txBody>
      </p:sp>
      <p:sp>
        <p:nvSpPr>
          <p:cNvPr id="28" name="TextBox 27"/>
          <p:cNvSpPr txBox="1"/>
          <p:nvPr/>
        </p:nvSpPr>
        <p:spPr>
          <a:xfrm>
            <a:off x="8339327" y="4919472"/>
            <a:ext cx="3044952" cy="402336"/>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Have the filing open in a browser tab before you start</a:t>
            </a:r>
          </a:p>
        </p:txBody>
      </p:sp>
      <p:sp>
        <p:nvSpPr>
          <p:cNvPr id="29" name="TextBox 28"/>
          <p:cNvSpPr txBox="1"/>
          <p:nvPr/>
        </p:nvSpPr>
        <p:spPr>
          <a:xfrm>
            <a:off x="8339327" y="5340096"/>
            <a:ext cx="3044952" cy="402336"/>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Know which script reads which row</a:t>
            </a:r>
          </a:p>
        </p:txBody>
      </p:sp>
      <p:sp>
        <p:nvSpPr>
          <p:cNvPr id="30" name="TextBox 29"/>
          <p:cNvSpPr txBox="1"/>
          <p:nvPr/>
        </p:nvSpPr>
        <p:spPr>
          <a:xfrm>
            <a:off x="8339327" y="5760720"/>
            <a:ext cx="3044952" cy="402336"/>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If a number came from synthetic data, say so first, not when asked</a:t>
            </a:r>
          </a:p>
        </p:txBody>
      </p:sp>
      <p:sp>
        <p:nvSpPr>
          <p:cNvPr id="31" name="TextBox 30"/>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32" name="TextBox 31"/>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10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PRACTICE QUESTIONS</a:t>
            </a:r>
          </a:p>
        </p:txBody>
      </p:sp>
      <p:sp>
        <p:nvSpPr>
          <p:cNvPr id="4" name="Rectangle 3"/>
          <p:cNvSpPr/>
          <p:nvPr/>
        </p:nvSpPr>
        <p:spPr>
          <a:xfrm>
            <a:off x="548640" y="960120"/>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960120"/>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014984"/>
            <a:ext cx="640080" cy="365760"/>
          </a:xfrm>
          <a:prstGeom prst="rect">
            <a:avLst/>
          </a:prstGeom>
          <a:noFill/>
        </p:spPr>
        <p:txBody>
          <a:bodyPr wrap="square" anchor="t" lIns="0" rIns="0" tIns="0" bIns="0">
            <a:spAutoFit/>
          </a:bodyPr>
          <a:lstStyle/>
          <a:p>
            <a:pPr algn="l"/>
            <a:r>
              <a:rPr sz="1400" b="1">
                <a:solidFill>
                  <a:srgbClr val="3A5C9E"/>
                </a:solidFill>
                <a:latin typeface="Georgia"/>
              </a:rPr>
              <a:t>Q1</a:t>
            </a:r>
          </a:p>
        </p:txBody>
      </p:sp>
      <p:sp>
        <p:nvSpPr>
          <p:cNvPr id="7" name="TextBox 6"/>
          <p:cNvSpPr txBox="1"/>
          <p:nvPr/>
        </p:nvSpPr>
        <p:spPr>
          <a:xfrm>
            <a:off x="1554480" y="1005840"/>
            <a:ext cx="9875520" cy="566928"/>
          </a:xfrm>
          <a:prstGeom prst="rect">
            <a:avLst/>
          </a:prstGeom>
          <a:noFill/>
        </p:spPr>
        <p:txBody>
          <a:bodyPr wrap="square" anchor="t" lIns="0" rIns="0" tIns="0" bIns="0">
            <a:spAutoFit/>
          </a:bodyPr>
          <a:lstStyle/>
          <a:p>
            <a:pPr algn="l"/>
            <a:r>
              <a:rPr sz="1050" b="1">
                <a:solidFill>
                  <a:srgbClr val="1B2A41"/>
                </a:solidFill>
              </a:rPr>
              <a:t>Twenty of the fifty marks sit in two rows of the rubric. Name the two rows and say what they have in common.</a:t>
            </a:r>
          </a:p>
          <a:p>
            <a:pPr algn="l">
              <a:spcBef>
                <a:spcPts val="200"/>
              </a:spcBef>
            </a:pPr>
            <a:r>
              <a:rPr sz="900" b="1">
                <a:solidFill>
                  <a:srgbClr val="C9A227"/>
                </a:solidFill>
              </a:rPr>
              <a:t>TIP</a:t>
            </a:r>
            <a:r>
              <a:rPr sz="900" b="0">
                <a:solidFill>
                  <a:srgbClr val="5D6B7E"/>
                </a:solidFill>
              </a:rPr>
              <a:t>Technical execution and logic in the report, technical depth and financial logic in the viva. Both test whether you can explain your own calculation.</a:t>
            </a:r>
          </a:p>
        </p:txBody>
      </p:sp>
      <p:sp>
        <p:nvSpPr>
          <p:cNvPr id="8" name="Rectangle 7"/>
          <p:cNvSpPr/>
          <p:nvPr/>
        </p:nvSpPr>
        <p:spPr>
          <a:xfrm>
            <a:off x="548640" y="1655064"/>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655064"/>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709928"/>
            <a:ext cx="640080" cy="365760"/>
          </a:xfrm>
          <a:prstGeom prst="rect">
            <a:avLst/>
          </a:prstGeom>
          <a:noFill/>
        </p:spPr>
        <p:txBody>
          <a:bodyPr wrap="square" anchor="t" lIns="0" rIns="0" tIns="0" bIns="0">
            <a:spAutoFit/>
          </a:bodyPr>
          <a:lstStyle/>
          <a:p>
            <a:pPr algn="l"/>
            <a:r>
              <a:rPr sz="1400" b="1">
                <a:solidFill>
                  <a:srgbClr val="3A5C9E"/>
                </a:solidFill>
                <a:latin typeface="Georgia"/>
              </a:rPr>
              <a:t>Q2</a:t>
            </a:r>
          </a:p>
        </p:txBody>
      </p:sp>
      <p:sp>
        <p:nvSpPr>
          <p:cNvPr id="11" name="TextBox 10"/>
          <p:cNvSpPr txBox="1"/>
          <p:nvPr/>
        </p:nvSpPr>
        <p:spPr>
          <a:xfrm>
            <a:off x="1554480" y="1700784"/>
            <a:ext cx="9875520" cy="566928"/>
          </a:xfrm>
          <a:prstGeom prst="rect">
            <a:avLst/>
          </a:prstGeom>
          <a:noFill/>
        </p:spPr>
        <p:txBody>
          <a:bodyPr wrap="square" anchor="t" lIns="0" rIns="0" tIns="0" bIns="0">
            <a:spAutoFit/>
          </a:bodyPr>
          <a:lstStyle/>
          <a:p>
            <a:pPr algn="l"/>
            <a:r>
              <a:rPr sz="1050" b="1">
                <a:solidFill>
                  <a:srgbClr val="1B2A41"/>
                </a:solidFill>
              </a:rPr>
              <a:t>List the five layers, the folder each one owns, and the rubric line each one earns.</a:t>
            </a:r>
          </a:p>
          <a:p>
            <a:pPr algn="l">
              <a:spcBef>
                <a:spcPts val="200"/>
              </a:spcBef>
            </a:pPr>
            <a:r>
              <a:rPr sz="900" b="1">
                <a:solidFill>
                  <a:srgbClr val="C9A227"/>
                </a:solidFill>
              </a:rPr>
              <a:t>TIP</a:t>
            </a:r>
            <a:r>
              <a:rPr sz="900" b="0">
                <a:solidFill>
                  <a:srgbClr val="5D6B7E"/>
                </a:solidFill>
              </a:rPr>
              <a:t>Ingest owns data and sources.csv; extract owns extract.py and rag; engine owns engine and tests; commentary owns commentary.py; output owns app.py and report.py.</a:t>
            </a:r>
          </a:p>
        </p:txBody>
      </p:sp>
      <p:sp>
        <p:nvSpPr>
          <p:cNvPr id="12" name="Rectangle 11"/>
          <p:cNvSpPr/>
          <p:nvPr/>
        </p:nvSpPr>
        <p:spPr>
          <a:xfrm>
            <a:off x="548640" y="2350008"/>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350008"/>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404872"/>
            <a:ext cx="640080" cy="365760"/>
          </a:xfrm>
          <a:prstGeom prst="rect">
            <a:avLst/>
          </a:prstGeom>
          <a:noFill/>
        </p:spPr>
        <p:txBody>
          <a:bodyPr wrap="square" anchor="t" lIns="0" rIns="0" tIns="0" bIns="0">
            <a:spAutoFit/>
          </a:bodyPr>
          <a:lstStyle/>
          <a:p>
            <a:pPr algn="l"/>
            <a:r>
              <a:rPr sz="1400" b="1">
                <a:solidFill>
                  <a:srgbClr val="3A5C9E"/>
                </a:solidFill>
                <a:latin typeface="Georgia"/>
              </a:rPr>
              <a:t>Q3</a:t>
            </a:r>
          </a:p>
        </p:txBody>
      </p:sp>
      <p:sp>
        <p:nvSpPr>
          <p:cNvPr id="15" name="TextBox 14"/>
          <p:cNvSpPr txBox="1"/>
          <p:nvPr/>
        </p:nvSpPr>
        <p:spPr>
          <a:xfrm>
            <a:off x="1554480" y="2395728"/>
            <a:ext cx="9875520" cy="566928"/>
          </a:xfrm>
          <a:prstGeom prst="rect">
            <a:avLst/>
          </a:prstGeom>
          <a:noFill/>
        </p:spPr>
        <p:txBody>
          <a:bodyPr wrap="square" anchor="t" lIns="0" rIns="0" tIns="0" bIns="0">
            <a:spAutoFit/>
          </a:bodyPr>
          <a:lstStyle/>
          <a:p>
            <a:pPr algn="l"/>
            <a:r>
              <a:rPr sz="1050" b="1">
                <a:solidFill>
                  <a:srgbClr val="1B2A41"/>
                </a:solidFill>
              </a:rPr>
              <a:t>A student proposes an AI-powered platform for analysing bank stocks. Apply the three tests and rewrite it as a question.</a:t>
            </a:r>
          </a:p>
          <a:p>
            <a:pPr algn="l">
              <a:spcBef>
                <a:spcPts val="200"/>
              </a:spcBef>
            </a:pPr>
            <a:r>
              <a:rPr sz="900" b="1">
                <a:solidFill>
                  <a:srgbClr val="C9A227"/>
                </a:solidFill>
              </a:rPr>
              <a:t>TIP</a:t>
            </a:r>
            <a:r>
              <a:rPr sz="900" b="0">
                <a:solidFill>
                  <a:srgbClr val="5D6B7E"/>
                </a:solidFill>
              </a:rPr>
              <a:t>Data is published, but there is no calculation and no finding. Rewrite: which bank-specific metric best explained relative share price performance across the US G-SIBs?</a:t>
            </a:r>
          </a:p>
        </p:txBody>
      </p:sp>
      <p:sp>
        <p:nvSpPr>
          <p:cNvPr id="16" name="Rectangle 15"/>
          <p:cNvSpPr/>
          <p:nvPr/>
        </p:nvSpPr>
        <p:spPr>
          <a:xfrm>
            <a:off x="548640" y="3044952"/>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044952"/>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099816"/>
            <a:ext cx="640080" cy="365760"/>
          </a:xfrm>
          <a:prstGeom prst="rect">
            <a:avLst/>
          </a:prstGeom>
          <a:noFill/>
        </p:spPr>
        <p:txBody>
          <a:bodyPr wrap="square" anchor="t" lIns="0" rIns="0" tIns="0" bIns="0">
            <a:spAutoFit/>
          </a:bodyPr>
          <a:lstStyle/>
          <a:p>
            <a:pPr algn="l"/>
            <a:r>
              <a:rPr sz="1400" b="1">
                <a:solidFill>
                  <a:srgbClr val="3A5C9E"/>
                </a:solidFill>
                <a:latin typeface="Georgia"/>
              </a:rPr>
              <a:t>Q4</a:t>
            </a:r>
          </a:p>
        </p:txBody>
      </p:sp>
      <p:sp>
        <p:nvSpPr>
          <p:cNvPr id="19" name="TextBox 18"/>
          <p:cNvSpPr txBox="1"/>
          <p:nvPr/>
        </p:nvSpPr>
        <p:spPr>
          <a:xfrm>
            <a:off x="1554480" y="3090672"/>
            <a:ext cx="9875520" cy="566928"/>
          </a:xfrm>
          <a:prstGeom prst="rect">
            <a:avLst/>
          </a:prstGeom>
          <a:noFill/>
        </p:spPr>
        <p:txBody>
          <a:bodyPr wrap="square" anchor="t" lIns="0" rIns="0" tIns="0" bIns="0">
            <a:spAutoFit/>
          </a:bodyPr>
          <a:lstStyle/>
          <a:p>
            <a:pPr algn="l"/>
            <a:r>
              <a:rPr sz="1050" b="1">
                <a:solidFill>
                  <a:srgbClr val="1B2A41"/>
                </a:solidFill>
              </a:rPr>
              <a:t>What does sources.csv contain, which viva criterion does it serve, and what happens to a number with no row in it?</a:t>
            </a:r>
          </a:p>
          <a:p>
            <a:pPr algn="l">
              <a:spcBef>
                <a:spcPts val="200"/>
              </a:spcBef>
            </a:pPr>
            <a:r>
              <a:rPr sz="900" b="1">
                <a:solidFill>
                  <a:srgbClr val="C9A227"/>
                </a:solidFill>
              </a:rPr>
              <a:t>TIP</a:t>
            </a:r>
            <a:r>
              <a:rPr sz="900" b="0">
                <a:solidFill>
                  <a:srgbClr val="5D6B7E"/>
                </a:solidFill>
              </a:rPr>
              <a:t>URL, publisher, date pulled and the script that uses it. It serves verification of authenticity. A number with no row comes out of the report.</a:t>
            </a:r>
          </a:p>
        </p:txBody>
      </p:sp>
      <p:sp>
        <p:nvSpPr>
          <p:cNvPr id="20" name="Rectangle 19"/>
          <p:cNvSpPr/>
          <p:nvPr/>
        </p:nvSpPr>
        <p:spPr>
          <a:xfrm>
            <a:off x="548640" y="3739896"/>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739896"/>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794759"/>
            <a:ext cx="640080" cy="365760"/>
          </a:xfrm>
          <a:prstGeom prst="rect">
            <a:avLst/>
          </a:prstGeom>
          <a:noFill/>
        </p:spPr>
        <p:txBody>
          <a:bodyPr wrap="square" anchor="t" lIns="0" rIns="0" tIns="0" bIns="0">
            <a:spAutoFit/>
          </a:bodyPr>
          <a:lstStyle/>
          <a:p>
            <a:pPr algn="l"/>
            <a:r>
              <a:rPr sz="1400" b="1">
                <a:solidFill>
                  <a:srgbClr val="3A5C9E"/>
                </a:solidFill>
                <a:latin typeface="Georgia"/>
              </a:rPr>
              <a:t>Q5</a:t>
            </a:r>
          </a:p>
        </p:txBody>
      </p:sp>
      <p:sp>
        <p:nvSpPr>
          <p:cNvPr id="23" name="TextBox 22"/>
          <p:cNvSpPr txBox="1"/>
          <p:nvPr/>
        </p:nvSpPr>
        <p:spPr>
          <a:xfrm>
            <a:off x="1554480" y="3785615"/>
            <a:ext cx="9875520" cy="566928"/>
          </a:xfrm>
          <a:prstGeom prst="rect">
            <a:avLst/>
          </a:prstGeom>
          <a:noFill/>
        </p:spPr>
        <p:txBody>
          <a:bodyPr wrap="square" anchor="t" lIns="0" rIns="0" tIns="0" bIns="0">
            <a:spAutoFit/>
          </a:bodyPr>
          <a:lstStyle/>
          <a:p>
            <a:pPr algn="l"/>
            <a:r>
              <a:rPr sz="1050" b="1">
                <a:solidFill>
                  <a:srgbClr val="1B2A41"/>
                </a:solidFill>
              </a:rPr>
              <a:t>Explain rule seven on synthetic data, and give one project where it would apply.</a:t>
            </a:r>
          </a:p>
          <a:p>
            <a:pPr algn="l">
              <a:spcBef>
                <a:spcPts val="200"/>
              </a:spcBef>
            </a:pPr>
            <a:r>
              <a:rPr sz="900" b="1">
                <a:solidFill>
                  <a:srgbClr val="C9A227"/>
                </a:solidFill>
              </a:rPr>
              <a:t>TIP</a:t>
            </a:r>
            <a:r>
              <a:rPr sz="900" b="0">
                <a:solidFill>
                  <a:srgbClr val="5D6B7E"/>
                </a:solidFill>
              </a:rPr>
              <a:t>Where a ledger is not published, build synthetic data calibrated to published norms and say so. A cash forecast needs it, because no company publishes its receivables ledger.</a:t>
            </a:r>
          </a:p>
        </p:txBody>
      </p:sp>
      <p:sp>
        <p:nvSpPr>
          <p:cNvPr id="24" name="Rectangle 23"/>
          <p:cNvSpPr/>
          <p:nvPr/>
        </p:nvSpPr>
        <p:spPr>
          <a:xfrm>
            <a:off x="548640" y="4434840"/>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34840"/>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489703"/>
            <a:ext cx="640080" cy="365760"/>
          </a:xfrm>
          <a:prstGeom prst="rect">
            <a:avLst/>
          </a:prstGeom>
          <a:noFill/>
        </p:spPr>
        <p:txBody>
          <a:bodyPr wrap="square" anchor="t" lIns="0" rIns="0" tIns="0" bIns="0">
            <a:spAutoFit/>
          </a:bodyPr>
          <a:lstStyle/>
          <a:p>
            <a:pPr algn="l"/>
            <a:r>
              <a:rPr sz="1400" b="1">
                <a:solidFill>
                  <a:srgbClr val="3A5C9E"/>
                </a:solidFill>
                <a:latin typeface="Georgia"/>
              </a:rPr>
              <a:t>Q6</a:t>
            </a:r>
          </a:p>
        </p:txBody>
      </p:sp>
      <p:sp>
        <p:nvSpPr>
          <p:cNvPr id="27" name="TextBox 26"/>
          <p:cNvSpPr txBox="1"/>
          <p:nvPr/>
        </p:nvSpPr>
        <p:spPr>
          <a:xfrm>
            <a:off x="1554480" y="4480559"/>
            <a:ext cx="9875520" cy="566928"/>
          </a:xfrm>
          <a:prstGeom prst="rect">
            <a:avLst/>
          </a:prstGeom>
          <a:noFill/>
        </p:spPr>
        <p:txBody>
          <a:bodyPr wrap="square" anchor="t" lIns="0" rIns="0" tIns="0" bIns="0">
            <a:spAutoFit/>
          </a:bodyPr>
          <a:lstStyle/>
          <a:p>
            <a:pPr algn="l"/>
            <a:r>
              <a:rPr sz="1050" b="1">
                <a:solidFill>
                  <a:srgbClr val="1B2A41"/>
                </a:solidFill>
              </a:rPr>
              <a:t>Your rebuilt NAV differs from the published NAV by 0.3 cents. Give two legitimate causes and say why you must not force the tie.</a:t>
            </a:r>
          </a:p>
          <a:p>
            <a:pPr algn="l">
              <a:spcBef>
                <a:spcPts val="200"/>
              </a:spcBef>
            </a:pPr>
            <a:r>
              <a:rPr sz="900" b="1">
                <a:solidFill>
                  <a:srgbClr val="C9A227"/>
                </a:solidFill>
              </a:rPr>
              <a:t>TIP</a:t>
            </a:r>
            <a:r>
              <a:rPr sz="900" b="0">
                <a:solidFill>
                  <a:srgbClr val="5D6B7E"/>
                </a:solidFill>
              </a:rPr>
              <a:t>Board-set fair value on some holdings, and rounding in the filing. Forcing the tie turns a validation into a fit and fails the ownership criterion.</a:t>
            </a:r>
          </a:p>
        </p:txBody>
      </p:sp>
      <p:sp>
        <p:nvSpPr>
          <p:cNvPr id="28" name="Rectangle 27"/>
          <p:cNvSpPr/>
          <p:nvPr/>
        </p:nvSpPr>
        <p:spPr>
          <a:xfrm>
            <a:off x="548640" y="5129783"/>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129783"/>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184647"/>
            <a:ext cx="640080" cy="365760"/>
          </a:xfrm>
          <a:prstGeom prst="rect">
            <a:avLst/>
          </a:prstGeom>
          <a:noFill/>
        </p:spPr>
        <p:txBody>
          <a:bodyPr wrap="square" anchor="t" lIns="0" rIns="0" tIns="0" bIns="0">
            <a:spAutoFit/>
          </a:bodyPr>
          <a:lstStyle/>
          <a:p>
            <a:pPr algn="l"/>
            <a:r>
              <a:rPr sz="1400" b="1">
                <a:solidFill>
                  <a:srgbClr val="3A5C9E"/>
                </a:solidFill>
                <a:latin typeface="Georgia"/>
              </a:rPr>
              <a:t>Q7</a:t>
            </a:r>
          </a:p>
        </p:txBody>
      </p:sp>
      <p:sp>
        <p:nvSpPr>
          <p:cNvPr id="31" name="TextBox 30"/>
          <p:cNvSpPr txBox="1"/>
          <p:nvPr/>
        </p:nvSpPr>
        <p:spPr>
          <a:xfrm>
            <a:off x="1554480" y="5175503"/>
            <a:ext cx="9875520" cy="566928"/>
          </a:xfrm>
          <a:prstGeom prst="rect">
            <a:avLst/>
          </a:prstGeom>
          <a:noFill/>
        </p:spPr>
        <p:txBody>
          <a:bodyPr wrap="square" anchor="t" lIns="0" rIns="0" tIns="0" bIns="0">
            <a:spAutoFit/>
          </a:bodyPr>
          <a:lstStyle/>
          <a:p>
            <a:pPr algn="l"/>
            <a:r>
              <a:rPr sz="1050" b="1">
                <a:solidFill>
                  <a:srgbClr val="1B2A41"/>
                </a:solidFill>
              </a:rPr>
              <a:t>Name the five pitch slides in order, and say which one must contain a sentence that could have come out the other way.</a:t>
            </a:r>
          </a:p>
          <a:p>
            <a:pPr algn="l">
              <a:spcBef>
                <a:spcPts val="200"/>
              </a:spcBef>
            </a:pPr>
            <a:r>
              <a:rPr sz="900" b="1">
                <a:solidFill>
                  <a:srgbClr val="C9A227"/>
                </a:solidFill>
              </a:rPr>
              <a:t>TIP</a:t>
            </a:r>
            <a:r>
              <a:rPr sz="900" b="0">
                <a:solidFill>
                  <a:srgbClr val="5D6B7E"/>
                </a:solidFill>
              </a:rPr>
              <a:t>Problem, Solution Architecture, Live Demonstration, Business Impact, Team. The Business Impact slide carries the finding.</a:t>
            </a:r>
          </a:p>
        </p:txBody>
      </p:sp>
      <p:sp>
        <p:nvSpPr>
          <p:cNvPr id="32" name="Rectangle 31"/>
          <p:cNvSpPr/>
          <p:nvPr/>
        </p:nvSpPr>
        <p:spPr>
          <a:xfrm>
            <a:off x="548640" y="5870448"/>
            <a:ext cx="11091672" cy="51206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870448"/>
            <a:ext cx="64008" cy="5120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870448"/>
            <a:ext cx="10515600" cy="512064"/>
          </a:xfrm>
          <a:prstGeom prst="rect">
            <a:avLst/>
          </a:prstGeom>
          <a:noFill/>
        </p:spPr>
        <p:txBody>
          <a:bodyPr wrap="square" anchor="ctr" lIns="0" rIns="0" tIns="0" bIns="0">
            <a:spAutoFit/>
          </a:bodyPr>
          <a:lstStyle/>
          <a:p>
            <a:pPr algn="l"/>
            <a:r>
              <a:rPr sz="1100" b="1">
                <a:solidFill>
                  <a:srgbClr val="C9A227"/>
                </a:solidFill>
              </a:rPr>
              <a:t>After Session 10:</a:t>
            </a:r>
            <a:r>
              <a:rPr sz="1100" b="0">
                <a:solidFill>
                  <a:srgbClr val="FFFFFF"/>
                </a:solidFill>
              </a:rPr>
              <a:t>the link is the deliverable. Send it to one person who has never seen the project and ask them what it answers.</a:t>
            </a:r>
          </a:p>
        </p:txBody>
      </p:sp>
      <p:sp>
        <p:nvSpPr>
          <p:cNvPr id="35" name="TextBox 34"/>
          <p:cNvSpPr txBox="1"/>
          <p:nvPr/>
        </p:nvSpPr>
        <p:spPr>
          <a:xfrm>
            <a:off x="548640" y="6473952"/>
            <a:ext cx="8229600" cy="228600"/>
          </a:xfrm>
          <a:prstGeom prst="rect">
            <a:avLst/>
          </a:prstGeom>
          <a:noFill/>
        </p:spPr>
        <p:txBody>
          <a:bodyPr wrap="square" anchor="t" lIns="0" rIns="0" tIns="0" bIns="0">
            <a:spAutoFit/>
          </a:bodyPr>
          <a:lstStyle/>
          <a:p>
            <a:pPr algn="l"/>
            <a:r>
              <a:rPr sz="800" b="0">
                <a:solidFill>
                  <a:srgbClr val="5D6B7E"/>
                </a:solidFill>
              </a:rPr>
              <a:t>The tip is the shape of the answer, not the whole answer. Two or three sentences each in the exam.</a:t>
            </a:r>
          </a:p>
        </p:txBody>
      </p:sp>
      <p:sp>
        <p:nvSpPr>
          <p:cNvPr id="36" name="TextBox 3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10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