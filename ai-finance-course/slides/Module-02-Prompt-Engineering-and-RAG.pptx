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17"/>
    <p:sldId id="262" r:id="rId8"/>
    <p:sldId id="263" r:id="rId9"/>
    <p:sldId id="264" r:id="rId10"/>
    <p:sldId id="265" r:id="rId11"/>
    <p:sldId id="268" r:id="rId18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719"/>
  </p:normalViewPr>
  <p:slideViewPr>
    <p:cSldViewPr snapToGrid="0" snapToObjects="1">
      <p:cViewPr varScale="1">
        <p:scale>
          <a:sx n="119" d="100"/>
          <a:sy n="119" d="100"/>
        </p:scale>
        <p:origin x="216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3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7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1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354312" y="0"/>
            <a:ext cx="2834640" cy="6858000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354312" y="0"/>
            <a:ext cx="3657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C9A227"/>
                </a:solidFill>
              </a:rPr>
              <a:t>AI IN FINANCE · THE COMPLETE CRASH COURSE · MODULE 2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5953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FFFFFF"/>
                </a:solidFill>
                <a:latin typeface="Georgia"/>
              </a:rPr>
              <a:t>Module 2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C9D6EE"/>
                </a:solidFill>
                <a:latin typeface="Georgia"/>
              </a:rPr>
              <a:t>Prompt Engineering &amp; RAG for Financial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13632"/>
            <a:ext cx="40233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133087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</a:rPr>
              <a:t>Tejas Jadhav, CFA, FRM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200" b="0" i="0">
                <a:solidFill>
                  <a:srgbClr val="8FA1C4"/>
                </a:solidFill>
              </a:rPr>
              <a:t>AI in Finance: The Complete Crash Course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200" b="1" i="0">
                <a:solidFill>
                  <a:srgbClr val="C9A227"/>
                </a:solidFill>
              </a:rPr>
              <a:t>tejasgjadhav.github.io/AIFinanceCrashcourse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8503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C9A227"/>
                </a:solidFill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23444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3 hours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00" b="0" i="0">
                <a:solidFill>
                  <a:srgbClr val="8FA1C4"/>
                </a:solidFill>
              </a:rPr>
              <a:t>Hour 1 prompts · Hour 2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8FA1C4"/>
                </a:solidFill>
              </a:rPr>
              <a:t>RAG pipeline · Hour 3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278892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 dirty="0">
                <a:solidFill>
                  <a:srgbClr val="FFFFFF"/>
                </a:solidFill>
                <a:latin typeface="Georgia"/>
              </a:rPr>
              <a:t>Plain English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00" b="0" i="0" dirty="0">
                <a:solidFill>
                  <a:srgbClr val="8FA1C4"/>
                </a:solidFill>
              </a:rPr>
              <a:t>A prompt is written in English.</a:t>
            </a:r>
          </a:p>
          <a:p>
            <a:pPr algn="l">
              <a:lnSpc>
                <a:spcPct val="105000"/>
              </a:lnSpc>
            </a:pPr>
            <a:r>
              <a:rPr sz="1000" b="0" i="0" dirty="0">
                <a:solidFill>
                  <a:srgbClr val="8FA1C4"/>
                </a:solidFill>
              </a:rPr>
              <a:t>Hours 1 and 2 need no code.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434340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C9A227"/>
                </a:solidFill>
                <a:latin typeface="Georgia"/>
              </a:rPr>
              <a:t>1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900" b="0" i="0">
                <a:solidFill>
                  <a:srgbClr val="8FA1C4"/>
                </a:solidFill>
              </a:rPr>
              <a:t>Q&amp;A BOT ON AN IPO PROSPECTUS</a:t>
            </a:r>
          </a:p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8FA1C4"/>
                </a:solidFill>
              </a:rPr>
              <a:t>BUILT BEFORE YOU LEAVE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8FA1C4"/>
                </a:solidFill>
              </a:rPr>
              <a:t>AI IN FINANCE · THE COMPLETE CRASH COURSE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8FA1C4"/>
                </a:solidFill>
              </a:rPr>
              <a:t>MODULE 2  ·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06324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2145"/>
                </a:solidFill>
                <a:latin typeface="Georgia"/>
              </a:rPr>
              <a:t>What we do in these three hours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361188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611880" cy="731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728216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HOUR 1 · 60 MIN</a:t>
            </a:r>
          </a:p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The prompts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5146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▪</a:t>
            </a:r>
            <a:r>
              <a:rPr sz="1100" b="0" i="0">
                <a:solidFill>
                  <a:srgbClr val="1B2A41"/>
                </a:solidFill>
              </a:rPr>
              <a:t>Zero-shot, few-shot, chain-of-thought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099816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▪</a:t>
            </a:r>
            <a:r>
              <a:rPr sz="1100" b="0" i="0">
                <a:solidFill>
                  <a:srgbClr val="1B2A41"/>
                </a:solidFill>
              </a:rPr>
              <a:t>Role prompting — “You are a CFO…”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685032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▪</a:t>
            </a:r>
            <a:r>
              <a:rPr sz="1100" b="0" i="0">
                <a:solidFill>
                  <a:srgbClr val="1B2A41"/>
                </a:solidFill>
              </a:rPr>
              <a:t>Output formats: JSON, markdown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427024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▪</a:t>
            </a:r>
            <a:r>
              <a:rPr sz="1100" b="0" i="0">
                <a:solidFill>
                  <a:srgbClr val="1B2A41"/>
                </a:solidFill>
              </a:rPr>
              <a:t>Hallucination — the risk and the fixes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855464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▪</a:t>
            </a:r>
            <a:r>
              <a:rPr sz="1100" b="0" i="0">
                <a:solidFill>
                  <a:srgbClr val="1B2A41"/>
                </a:solidFill>
              </a:rPr>
              <a:t>Pair activity: one query, four prompts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572768"/>
            <a:ext cx="361188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15968" y="1572768"/>
            <a:ext cx="3611880" cy="731520"/>
          </a:xfrm>
          <a:prstGeom prst="rect">
            <a:avLst/>
          </a:prstGeom>
          <a:solidFill>
            <a:srgbClr val="8F7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5424" y="1728216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HOUR 2 · 60 MIN</a:t>
            </a:r>
          </a:p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The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5146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▪</a:t>
            </a:r>
            <a:r>
              <a:rPr sz="1100" b="0" i="0">
                <a:solidFill>
                  <a:srgbClr val="1B2A41"/>
                </a:solidFill>
              </a:rPr>
              <a:t>Why a model cannot read 200 pages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3099816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▪</a:t>
            </a:r>
            <a:r>
              <a:rPr sz="1100" b="0" i="0">
                <a:solidFill>
                  <a:srgbClr val="1B2A41"/>
                </a:solidFill>
              </a:rPr>
              <a:t>Chunking a financial document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3685032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▪</a:t>
            </a:r>
            <a:r>
              <a:rPr sz="1100" b="0" i="0">
                <a:solidFill>
                  <a:srgbClr val="1B2A41"/>
                </a:solidFill>
              </a:rPr>
              <a:t>Embeddings and vector databases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5424" y="427024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▪</a:t>
            </a:r>
            <a:r>
              <a:rPr sz="1100" b="0" i="0">
                <a:solidFill>
                  <a:srgbClr val="1B2A41"/>
                </a:solidFill>
              </a:rPr>
              <a:t>Retrieval, then re-ranking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4855464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▪</a:t>
            </a:r>
            <a:r>
              <a:rPr sz="1100" b="0" i="0">
                <a:solidFill>
                  <a:srgbClr val="1B2A41"/>
                </a:solidFill>
              </a:rPr>
              <a:t>Self-consistency and tree-of-thought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3296" y="1572768"/>
            <a:ext cx="361188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83296" y="1572768"/>
            <a:ext cx="3611880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02752" y="1728216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HOUR 3 · 60 MIN</a:t>
            </a:r>
          </a:p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The lab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5146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▪</a:t>
            </a:r>
            <a:r>
              <a:rPr sz="1100" b="0" i="0">
                <a:solidFill>
                  <a:srgbClr val="1B2A41"/>
                </a:solidFill>
              </a:rPr>
              <a:t>One NSE IPO prospectus as the 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099816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▪</a:t>
            </a:r>
            <a:r>
              <a:rPr sz="1100" b="0" i="0">
                <a:solidFill>
                  <a:srgbClr val="1B2A41"/>
                </a:solidFill>
              </a:rPr>
              <a:t>LlamaIndex + ChromaDB + Claude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685032"/>
            <a:ext cx="3200400" cy="17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 dirty="0">
                <a:solidFill>
                  <a:srgbClr val="C9A227"/>
                </a:solidFill>
              </a:rPr>
              <a:t>▪</a:t>
            </a:r>
            <a:r>
              <a:rPr sz="1100" b="0" i="0" dirty="0">
                <a:solidFill>
                  <a:srgbClr val="1B2A41"/>
                </a:solidFill>
              </a:rPr>
              <a:t>Build the Q&amp;A bot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427024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▪</a:t>
            </a:r>
            <a:r>
              <a:rPr sz="1100" b="0" i="0">
                <a:solidFill>
                  <a:srgbClr val="1B2A41"/>
                </a:solidFill>
              </a:rPr>
              <a:t>Ten investor questions, scored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4855464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▪</a:t>
            </a:r>
            <a:r>
              <a:rPr sz="1100" b="0" i="0">
                <a:solidFill>
                  <a:srgbClr val="1B2A41"/>
                </a:solidFill>
              </a:rPr>
              <a:t>Case: SEBI DRHP analysis using RAG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C9A227"/>
                </a:solidFill>
              </a:rPr>
              <a:t>Our goal for today:</a:t>
            </a:r>
            <a:r>
              <a:rPr sz="1200" b="0" i="0">
                <a:solidFill>
                  <a:srgbClr val="FFFFFF"/>
                </a:solidFill>
              </a:rPr>
              <a:t>a bot that answers investor questions from a 200-page IPO prospectus and shows the page each answer came from.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MODULE 2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06324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HOUR 1 · 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2145"/>
                </a:solidFill>
                <a:latin typeface="Georgia"/>
              </a:rPr>
              <a:t>Three ways to ask: zero-shot, few-shot, chain-of-thought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3611880" cy="384048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ZERO-SHOT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F2145"/>
                </a:solidFill>
                <a:latin typeface="Georgia"/>
              </a:rPr>
              <a:t>Just ask.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56032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</a:rPr>
              <a:t>You state the task and nothing else. The model answers from its training alone.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3794760"/>
            <a:ext cx="3136392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3913632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3A5C9E"/>
                </a:solidFill>
              </a:rPr>
              <a:t>EXAMPLE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00" b="0" i="0">
                <a:solidFill>
                  <a:srgbClr val="1B2A41"/>
                </a:solidFill>
              </a:rPr>
              <a:t>“Classify this cost as capex or opex: licence fee for the new core banking system.”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86460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5D6B7E"/>
                </a:solidFill>
              </a:rPr>
              <a:t>Use it for routine tasks the model has seen a thousand times.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572768"/>
            <a:ext cx="3611880" cy="3840480"/>
          </a:xfrm>
          <a:prstGeom prst="rect">
            <a:avLst/>
          </a:prstGeom>
          <a:solidFill>
            <a:srgbClr val="D5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FEW-SHOT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F2145"/>
                </a:solidFill>
                <a:latin typeface="Georgia"/>
              </a:rPr>
              <a:t>Show it first.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56032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</a:rPr>
              <a:t>You give two or three solved examples, then the real task. The model copies the pattern.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53712" y="3794760"/>
            <a:ext cx="3136392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18304" y="3913632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3A5C9E"/>
                </a:solidFill>
              </a:rPr>
              <a:t>EXAMPLE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00" b="0" i="0">
                <a:solidFill>
                  <a:srgbClr val="1B2A41"/>
                </a:solidFill>
              </a:rPr>
              <a:t>Show two costs already labelled capex or opex, then the third for the model to label the same way.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486460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5D6B7E"/>
                </a:solidFill>
              </a:rPr>
              <a:t>Use it when the format must match yours exactly.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1572768"/>
            <a:ext cx="3611880" cy="384048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C9A227"/>
                </a:solidFill>
              </a:rPr>
              <a:t>CHAIN-OF-THOUGHT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Georgia"/>
              </a:rPr>
              <a:t>Ask for the steps.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56032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9D6EE"/>
                </a:solidFill>
              </a:rPr>
              <a:t>You ask it to reason step by step before answering. The steps become visible, so errors can be caught.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3794760"/>
            <a:ext cx="3136392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85632" y="3913632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3A5C9E"/>
                </a:solidFill>
              </a:rPr>
              <a:t>EXAMPLE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00" b="0" i="0">
                <a:solidFill>
                  <a:srgbClr val="1B2A41"/>
                </a:solidFill>
              </a:rPr>
              <a:t>“Compute the current ratio step by step, then end with one line stating the ratio.”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86460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C9A227"/>
                </a:solidFill>
              </a:rPr>
              <a:t>Use it for arithmetic and multi-step logic.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C9A227"/>
                </a:solidFill>
              </a:rPr>
              <a:t>The order of use:</a:t>
            </a:r>
            <a:r>
              <a:rPr sz="1200" b="0" i="0">
                <a:solidFill>
                  <a:srgbClr val="FFFFFF"/>
                </a:solidFill>
              </a:rPr>
              <a:t>start zero-shot. Add examples when the format matters. Ask for the steps when there is arithmetic.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MODULE 2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06324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HOUR 1 · 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2145"/>
                </a:solidFill>
                <a:latin typeface="Georgia"/>
              </a:rPr>
              <a:t>Role prompting and output formatting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5468112" cy="384048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77393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ROLE PROMPTING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066543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F2145"/>
                </a:solidFill>
                <a:latin typeface="Georgia"/>
              </a:rPr>
              <a:t>“You are a CFO…”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578608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</a:rPr>
              <a:t>A role sets vocabulary, depth and audience in one line. The same question returns a different answer for a CFO, an auditor and a retail investor.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3675887"/>
            <a:ext cx="4956048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3803904"/>
            <a:ext cx="462686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3A5C9E"/>
                </a:solidFill>
              </a:rPr>
              <a:t>EXAMPLE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00" b="0" i="0">
                <a:solidFill>
                  <a:srgbClr val="1B2A41"/>
                </a:solidFill>
              </a:rPr>
              <a:t>“You are the CFO of a mid-size NBFC. Explain the Q1 margin drop to the board in five bullets, no jargon.”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718304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5D6B7E"/>
                </a:solidFill>
              </a:rPr>
              <a:t>A role is context, not magic. It adds no facts the model does not have.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572768"/>
            <a:ext cx="5468112" cy="3840480"/>
          </a:xfrm>
          <a:prstGeom prst="rect">
            <a:avLst/>
          </a:prstGeom>
          <a:solidFill>
            <a:srgbClr val="D5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177393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OUTPUT FORMATTING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066543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0F2145"/>
                </a:solidFill>
                <a:latin typeface="Georgia"/>
              </a:rPr>
              <a:t>Ask for the shape you will use.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578608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</a:rPr>
              <a:t>Prose is for reading. JSON and markdown tables are for code and spreadsheets. Fix the format and the same prompt runs every quarter.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28232" y="3675887"/>
            <a:ext cx="4956048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92824" y="3803904"/>
            <a:ext cx="462686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3A5C9E"/>
                </a:solidFill>
              </a:rPr>
              <a:t>EXAMPLE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00" b="0" i="0">
                <a:solidFill>
                  <a:srgbClr val="1B2A41"/>
                </a:solidFill>
              </a:rPr>
              <a:t>Return only: {"company": "", "revenue_cr": 0, "period": ""} — no other 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4718304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5D6B7E"/>
                </a:solidFill>
              </a:rPr>
              <a:t>A fixed format is what lets Python validate the answer.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C9A227"/>
                </a:solidFill>
              </a:rPr>
              <a:t>The skeleton:</a:t>
            </a:r>
            <a:r>
              <a:rPr sz="1200" b="0" i="0">
                <a:solidFill>
                  <a:srgbClr val="FFFFFF"/>
                </a:solidFill>
              </a:rPr>
              <a:t>state the role at the top, the task in the middle, the output format at the bottom. Every reusable prompt this semester follows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MODULE 2  ·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06324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HOUR 1 · HALLUCINATION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2145"/>
                </a:solidFill>
                <a:latin typeface="Georgia"/>
              </a:rPr>
              <a:t>Hallucination: the risk, then the fixes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4892040" cy="4005072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773936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C9A227"/>
                </a:solidFill>
              </a:rPr>
              <a:t>THE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066543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Georgia"/>
              </a:rPr>
              <a:t>It fills the gap with plausible words.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15184"/>
            <a:ext cx="4389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9D6EE"/>
                </a:solidFill>
              </a:rPr>
              <a:t>An LLM has no database of truth — Module 1 said it. It predicts the next word. When it lacks a fact, it can produce an EPS, a fine, a circular number that reads exactly like a real 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4224528"/>
            <a:ext cx="438912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4370832"/>
            <a:ext cx="40599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3A5C9E"/>
                </a:solidFill>
              </a:rPr>
              <a:t>EXAMPLE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00" b="0" i="0">
                <a:solidFill>
                  <a:srgbClr val="1B2A41"/>
                </a:solidFill>
              </a:rPr>
              <a:t>Asked for an EPS with no document attached, a model can return ₹42.18 in full confidence. The number does not exist.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60934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THE FOUR FIXES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1956816"/>
            <a:ext cx="58338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06440" y="1956816"/>
            <a:ext cx="64008" cy="658368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62472" y="1956816"/>
            <a:ext cx="53949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2145"/>
                </a:solidFill>
              </a:rPr>
              <a:t>Ground it.</a:t>
            </a:r>
            <a:r>
              <a:rPr sz="1050" b="0" i="0">
                <a:solidFill>
                  <a:srgbClr val="1B2A41"/>
                </a:solidFill>
              </a:rPr>
              <a:t>Attach the filing, or retrieve it with RAG. The model answers from the page, not from memory.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2688336"/>
            <a:ext cx="58338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06440" y="2688336"/>
            <a:ext cx="64008" cy="658368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62472" y="2688336"/>
            <a:ext cx="53949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2145"/>
                </a:solidFill>
              </a:rPr>
              <a:t>Allow “not found”.</a:t>
            </a:r>
            <a:r>
              <a:rPr sz="1050" b="0" i="0">
                <a:solidFill>
                  <a:srgbClr val="1B2A41"/>
                </a:solidFill>
              </a:rPr>
              <a:t>Tell it to say so when the source is silent. An allowed no beats a confident guess.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06440" y="3419856"/>
            <a:ext cx="58338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06440" y="3419856"/>
            <a:ext cx="64008" cy="658368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62472" y="3419856"/>
            <a:ext cx="53949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2145"/>
                </a:solidFill>
              </a:rPr>
              <a:t>Demand citations.</a:t>
            </a:r>
            <a:r>
              <a:rPr sz="1050" b="0" i="0">
                <a:solidFill>
                  <a:srgbClr val="1B2A41"/>
                </a:solidFill>
              </a:rPr>
              <a:t>Every number carries the page or clause it came from.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4151376"/>
            <a:ext cx="583387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06440" y="4151376"/>
            <a:ext cx="64008" cy="658368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62472" y="4151376"/>
            <a:ext cx="53949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2145"/>
                </a:solidFill>
              </a:rPr>
              <a:t>Verify the numbers.</a:t>
            </a:r>
            <a:r>
              <a:rPr sz="1050" b="0" i="0">
                <a:solidFill>
                  <a:srgbClr val="1B2A41"/>
                </a:solidFill>
              </a:rPr>
              <a:t>Recompute in Python or Excel anything that leaves your desk.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 dirty="0">
                <a:solidFill>
                  <a:srgbClr val="C9A227"/>
                </a:solidFill>
              </a:rPr>
              <a:t>The desk rule:</a:t>
            </a:r>
            <a:r>
              <a:rPr sz="1200" b="0" i="0" dirty="0">
                <a:solidFill>
                  <a:srgbClr val="FFFFFF"/>
                </a:solidFill>
              </a:rPr>
              <a:t>an unverified number never leaves your desk. Check it against the filing before anyone else sees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MODULE 2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06324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HOUR 1 · HALLUCINATION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2145"/>
                </a:solidFill>
                <a:latin typeface="Georgia"/>
              </a:rPr>
              <a:t>Hallucination: what it is, and its three forms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64008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1054303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WHAT IT IS</a:t>
            </a:r>
            <a:r>
              <a:rPr sz="1100" b="0" i="0">
                <a:solidFill>
                  <a:srgbClr val="1B2A41"/>
                </a:solidFill>
              </a:rPr>
              <a:t>A hallucination is a confident answer that is false. The model predicts the next plausible word. When it lacks a fact, it fills the gap and does not flag the guess.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87168"/>
            <a:ext cx="5532120" cy="30540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67004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C9A227"/>
                </a:solidFill>
              </a:rPr>
              <a:t>THE QUESTION IT GOT WRONG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962656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Georgia"/>
              </a:rPr>
              <a:t>One wrong answer cost $100 billion.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529584"/>
            <a:ext cx="502920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9D6EE"/>
                </a:solidFill>
              </a:rPr>
              <a:t>Google demoed its chatbot Bard in February 2023. The demo asked: “What new discoveries from the James Webb Space Telescope can I tell my nine-year-old about?”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0" i="0">
                <a:solidFill>
                  <a:srgbClr val="C9D6EE"/>
                </a:solidFill>
              </a:rPr>
              <a:t>Bard answered that the telescope took the very first picture of a planet outside our solar system. The first such picture was actually taken in 2004.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050" b="1" i="0">
                <a:solidFill>
                  <a:srgbClr val="FFFFFF"/>
                </a:solidFill>
              </a:rPr>
              <a:t>Alphabet’s shares fell about nine percent that day, roughly $100 billion of market value.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523744"/>
            <a:ext cx="5285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THE THREE FORMS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871216"/>
            <a:ext cx="528523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2871216"/>
            <a:ext cx="64008" cy="841248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2871216"/>
            <a:ext cx="4828032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2145"/>
                </a:solidFill>
              </a:rPr>
              <a:t>1 · Fact hallucination.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00" b="0" i="0">
                <a:solidFill>
                  <a:srgbClr val="1B2A41"/>
                </a:solidFill>
              </a:rPr>
              <a:t>It states a wrong fact with full confidence. Example: an EPS quoted to two decimals for a company that never published one.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3803904"/>
            <a:ext cx="528523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80" y="3803904"/>
            <a:ext cx="64008" cy="841248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3803904"/>
            <a:ext cx="4828032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2145"/>
                </a:solidFill>
              </a:rPr>
              <a:t>2 · Source hallucination.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00" b="0" i="0">
                <a:solidFill>
                  <a:srgbClr val="1B2A41"/>
                </a:solidFill>
              </a:rPr>
              <a:t>It invents the evidence. Example: a New York brief cited six court cases ChatGPT made up, and the court fined the lawyers $5,000 (Mata v. Avianca, 2023).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4736592"/>
            <a:ext cx="528523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5080" y="4736592"/>
            <a:ext cx="64008" cy="841248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4736592"/>
            <a:ext cx="4828032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2145"/>
                </a:solidFill>
              </a:rPr>
              <a:t>3 · Context hallucination.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00" b="0" i="0">
                <a:solidFill>
                  <a:srgbClr val="1B2A41"/>
                </a:solidFill>
              </a:rPr>
              <a:t>It contradicts the document it was given. Example: Air Canada’s bot promised a refund its own policy pages never offered, and a tribunal made the airline pay (2024).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C9A227"/>
                </a:solidFill>
              </a:rPr>
              <a:t>How RAG grounds it:</a:t>
            </a:r>
            <a:r>
              <a:rPr sz="1200" b="0" i="0">
                <a:solidFill>
                  <a:srgbClr val="FFFFFF"/>
                </a:solidFill>
              </a:rPr>
              <a:t>the bot answers only from the pages it retrieved, and every answer carries its page, so a wrong one is caught in one look.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MODULE 2  ·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06324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C9A227"/>
                </a:solidFill>
              </a:rPr>
              <a:t>HOUR 2 · RAG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0F2145"/>
                </a:solidFill>
                <a:latin typeface="Georgia"/>
              </a:rPr>
              <a:t>What is RAG? Retrieval-Augmented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64008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1054303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3A5C9E"/>
                </a:solidFill>
              </a:rPr>
              <a:t>THE FULL FORM</a:t>
            </a:r>
            <a:r>
              <a:rPr sz="1100" b="0">
                <a:solidFill>
                  <a:srgbClr val="1B2A41"/>
                </a:solidFill>
              </a:rPr>
              <a:t>RAG stands for Retrieval-Augmented Generation. It connects the model to documents it never saw in training, so it answers from your pages instead of its memory.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87168"/>
            <a:ext cx="3611880" cy="210312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615184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C9A227"/>
                </a:solidFill>
                <a:latin typeface="Georgia"/>
              </a:rP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34670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F2145"/>
                </a:solidFill>
                <a:latin typeface="Georgia"/>
              </a:rPr>
              <a:t>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803904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B2A41"/>
                </a:solidFill>
              </a:rPr>
              <a:t>The bot searches your document first and pulls out the passages that match the question.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2487168"/>
            <a:ext cx="3611880" cy="2103120"/>
          </a:xfrm>
          <a:prstGeom prst="rect">
            <a:avLst/>
          </a:prstGeom>
          <a:solidFill>
            <a:srgbClr val="D5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615184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C9A227"/>
                </a:solidFill>
                <a:latin typeface="Georgia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34670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F2145"/>
                </a:solidFill>
                <a:latin typeface="Georgia"/>
              </a:rPr>
              <a:t>Augmented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803904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B2A41"/>
                </a:solidFill>
              </a:rPr>
              <a:t>Those passages are pasted into the prompt, next to the question, as context the model must use.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2487168"/>
            <a:ext cx="3611880" cy="21031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615184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C9A227"/>
                </a:solidFill>
                <a:latin typeface="Georgia"/>
              </a:rPr>
              <a:t>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34670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Georgia"/>
              </a:rPr>
              <a:t>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803904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C9D6EE"/>
                </a:solidFill>
              </a:rPr>
              <a:t>The model writes the answer from those passages and cites the page each fact came from.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00600"/>
            <a:ext cx="11091672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800600"/>
            <a:ext cx="64008" cy="7772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800600"/>
            <a:ext cx="1054303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3A5C9E"/>
                </a:solidFill>
              </a:rPr>
              <a:t>THE CLASSROOM ANALOGY</a:t>
            </a:r>
            <a:r>
              <a:rPr sz="1100" b="0">
                <a:solidFill>
                  <a:srgbClr val="1B2A41"/>
                </a:solidFill>
              </a:rPr>
              <a:t>A plain chatbot sits a closed-book exam and answers from memory. A RAG bot sits an open-book exam: it finds the page first, answers from it, and writes the page number in the margin.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C9A227"/>
                </a:solidFill>
              </a:rPr>
              <a:t>Say it as one sentence:</a:t>
            </a:r>
            <a:r>
              <a:rPr sz="1200" b="0">
                <a:solidFill>
                  <a:srgbClr val="FFFFFF"/>
                </a:solidFill>
              </a:rPr>
              <a:t>retrieve the pages, augment the prompt, generate the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5D6B7E"/>
                </a:solidFill>
              </a:rPr>
              <a:t>MODULE 2  ·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06324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HOUR 2 · THE RAG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2145"/>
                </a:solidFill>
                <a:latin typeface="Georgia"/>
              </a:rPr>
              <a:t>RAG: the bot reads your document before it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64008" cy="822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10543032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THE PROBLEM</a:t>
            </a:r>
            <a:r>
              <a:rPr sz="1100" b="0" i="0">
                <a:solidFill>
                  <a:srgbClr val="1B2A41"/>
                </a:solidFill>
              </a:rPr>
              <a:t>The model never read your prospectus — its training ended before the filing existed, and 200 pages do not fit a prompt comfortably. So we fetch the right pages first.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15184"/>
            <a:ext cx="17602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615184"/>
            <a:ext cx="1760220" cy="457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2798064"/>
            <a:ext cx="14676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1 ·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310128"/>
            <a:ext cx="146761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2A41"/>
                </a:solidFill>
              </a:rPr>
              <a:t>We start from one 200-page IPO prospectus (DRHP).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14930" y="2615184"/>
            <a:ext cx="17602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14930" y="2615184"/>
            <a:ext cx="1760220" cy="457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61234" y="2798064"/>
            <a:ext cx="14676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2 · CHUNK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1234" y="3310128"/>
            <a:ext cx="146761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2A41"/>
                </a:solidFill>
              </a:rPr>
              <a:t>Split it into passages a few hundred tokens long.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1220" y="2615184"/>
            <a:ext cx="17602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81220" y="2615184"/>
            <a:ext cx="1760220" cy="457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27524" y="2798064"/>
            <a:ext cx="14676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3 · EMBED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7524" y="3310128"/>
            <a:ext cx="146761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2A41"/>
                </a:solidFill>
              </a:rPr>
              <a:t>Each chunk becomes numbers that capture meaning — Sentence Transformers.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7511" y="2615184"/>
            <a:ext cx="17602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47511" y="2615184"/>
            <a:ext cx="1760220" cy="457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93815" y="2798064"/>
            <a:ext cx="14676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4 ·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3815" y="3310128"/>
            <a:ext cx="146761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2A41"/>
                </a:solidFill>
              </a:rPr>
              <a:t>Chunks and embeddings go into a vector database — ChromaDB, Pinecone.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13801" y="2615184"/>
            <a:ext cx="17602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13801" y="2615184"/>
            <a:ext cx="1760220" cy="457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60105" y="2798064"/>
            <a:ext cx="14676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5 · RETRIEVE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0105" y="3310128"/>
            <a:ext cx="146761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2A41"/>
                </a:solidFill>
              </a:rPr>
              <a:t>Your question is embedded too; the store returns the closest chunks.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80092" y="2615184"/>
            <a:ext cx="17602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880092" y="2615184"/>
            <a:ext cx="1760220" cy="457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26396" y="2798064"/>
            <a:ext cx="14676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6 · ANSWER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6396" y="3310128"/>
            <a:ext cx="146761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B2A41"/>
                </a:solidFill>
              </a:rPr>
              <a:t>The model writes from those chunks and cites the pages.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C9A227"/>
                </a:solidFill>
              </a:rPr>
              <a:t>Retrieval-Augmented Generation:</a:t>
            </a:r>
            <a:r>
              <a:rPr sz="1200" b="0" i="0">
                <a:solidFill>
                  <a:srgbClr val="FFFFFF"/>
                </a:solidFill>
              </a:rPr>
              <a:t>retrieve the right pages first, then generate the answer from them. The R happens before the 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MODULE 2  ·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06324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HOUR 2 ·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2145"/>
                </a:solidFill>
                <a:latin typeface="Georgia"/>
              </a:rPr>
              <a:t>Four choices that decide whether the bot is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2670048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64008" cy="3977639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1755648"/>
            <a:ext cx="22311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CHUNKING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39696"/>
            <a:ext cx="22311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F2145"/>
                </a:solidFill>
                <a:latin typeface="Georgia"/>
              </a:rPr>
              <a:t>Cut by meaning, not by size.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017520"/>
            <a:ext cx="2231136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1"/>
                </a:solidFill>
              </a:rPr>
              <a:t>Split at section boundaries and keep every table whole. Overlap the edges so no sentence is cut in half.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4136" y="1572768"/>
            <a:ext cx="2670048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74136" y="1572768"/>
            <a:ext cx="64008" cy="3977639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1755648"/>
            <a:ext cx="22311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EMBEDDINGS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139696"/>
            <a:ext cx="22311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F2145"/>
                </a:solidFill>
                <a:latin typeface="Georgia"/>
              </a:rPr>
              <a:t>Meaning becomes numbers.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017520"/>
            <a:ext cx="2231136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1"/>
                </a:solidFill>
              </a:rPr>
              <a:t>Close meanings land close together, so “revenue” finds “turnover” and “top line”. Sentence Transformers is the standard tool.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1" y="1572768"/>
            <a:ext cx="2670048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9631" y="1572768"/>
            <a:ext cx="64008" cy="3977639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37375" y="1755648"/>
            <a:ext cx="22311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RETRIEVE &amp; RE-RANK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5" y="2139696"/>
            <a:ext cx="22311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F2145"/>
                </a:solidFill>
                <a:latin typeface="Georgia"/>
              </a:rPr>
              <a:t>Shortlist, then interview.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5" y="3017520"/>
            <a:ext cx="2231136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1"/>
                </a:solidFill>
              </a:rPr>
              <a:t>The first search is quick and pulls about 20 chunks that look close. A slower second look keeps the best 5. The model reads only those 5.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25128" y="1572768"/>
            <a:ext cx="2670048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25128" y="1572768"/>
            <a:ext cx="64008" cy="3977639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62872" y="1755648"/>
            <a:ext cx="22311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ASK MORE THAN ONCE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2139696"/>
            <a:ext cx="22311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F2145"/>
                </a:solidFill>
                <a:latin typeface="Georgia"/>
              </a:rPr>
              <a:t>Ask again, then vote.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3017520"/>
            <a:ext cx="2231136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1"/>
                </a:solidFill>
              </a:rPr>
              <a:t>Self-consistency asks the same question three times and takes the most common answer. Tree-of-thought tries a few solution paths and keeps the best. Both cost tokens, so save them for hard questions.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C9A227"/>
                </a:solidFill>
              </a:rPr>
              <a:t>When the bot is wrong:</a:t>
            </a:r>
            <a:r>
              <a:rPr sz="1200" b="0" i="0">
                <a:solidFill>
                  <a:srgbClr val="FFFFFF"/>
                </a:solidFill>
              </a:rPr>
              <a:t>look first at which chunks it was given. Most bad answers are retrieval failures, not model failures.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MODULE 2  ·  09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37376" y="4526280"/>
            <a:ext cx="2231136" cy="86868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626864"/>
            <a:ext cx="195681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950">
                <a:solidFill>
                  <a:srgbClr val="1B2A41"/>
                </a:solidFill>
              </a:rPr>
              <a:t>Screen 100 CVs fast, shortlist 20, interview 5. Re-ranking is the interview.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62872" y="4526280"/>
            <a:ext cx="2231136" cy="86868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09176" y="4626864"/>
            <a:ext cx="195681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950">
                <a:solidFill>
                  <a:srgbClr val="1B2A41"/>
                </a:solidFill>
              </a:rPr>
              <a:t>Three analysts compute one ratio. Two get 1.8, one gets 2.4. You go with 1.8.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06324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HOUR 3 ·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2145"/>
                </a:solidFill>
                <a:latin typeface="Georgia"/>
              </a:rPr>
              <a:t>The lab: a Q&amp;A bot on a real IPO prospectus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</a:rPr>
              <a:t>We build one bot on one prospectus and put ten questions to it. Everything runs in VS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73936"/>
            <a:ext cx="576072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THE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8600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C9A227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304288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1"/>
                </a:solidFill>
              </a:rPr>
              <a:t>Download one NSE IPO prospectus (DRHP) from sebi.gov.in, about 200 pages.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852928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C9A227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871216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1"/>
                </a:solidFill>
              </a:rPr>
              <a:t>LlamaIndex splits and embeds it; ChromaDB stores the chunks.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419856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C9A227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38144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B2A41"/>
                </a:solidFill>
              </a:rPr>
              <a:t>Claude answers each question from the retrieved chunks and cites the pages.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51960"/>
            <a:ext cx="57607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4251960"/>
            <a:ext cx="64008" cy="12801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407408"/>
            <a:ext cx="5257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8F7113"/>
                </a:solidFill>
              </a:rPr>
              <a:t>TRY IT FREE AT HOME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A41"/>
                </a:solidFill>
              </a:rPr>
              <a:t>No paid account is needed. Upload the same PDF to any free AI chat, ask the same ten questions, and compare its answers with the class bot’s cited pages.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773936"/>
            <a:ext cx="5148072" cy="23317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48272" y="193852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C9A227"/>
                </a:solidFill>
              </a:rPr>
              <a:t>THE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231136"/>
            <a:ext cx="466344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C9A227"/>
                </a:solidFill>
              </a:rPr>
              <a:t>▪</a:t>
            </a:r>
            <a:r>
              <a:rPr sz="1050" b="0" i="0">
                <a:solidFill>
                  <a:srgbClr val="FFFFFF"/>
                </a:solidFill>
              </a:rPr>
              <a:t>Where does the fresh-issue money go?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1" i="0">
                <a:solidFill>
                  <a:srgbClr val="C9A227"/>
                </a:solidFill>
              </a:rPr>
              <a:t>▪</a:t>
            </a:r>
            <a:r>
              <a:rPr sz="1050" b="0" i="0">
                <a:solidFill>
                  <a:srgbClr val="FFFFFF"/>
                </a:solidFill>
              </a:rPr>
              <a:t>What is the promoter holding after the offer?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1" i="0">
                <a:solidFill>
                  <a:srgbClr val="C9A227"/>
                </a:solidFill>
              </a:rPr>
              <a:t>▪</a:t>
            </a:r>
            <a:r>
              <a:rPr sz="1050" b="0" i="0">
                <a:solidFill>
                  <a:srgbClr val="FFFFFF"/>
                </a:solidFill>
              </a:rPr>
              <a:t>Which three risk factors come first?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0" i="0">
                <a:solidFill>
                  <a:srgbClr val="C9D6EE"/>
                </a:solidFill>
              </a:rPr>
              <a:t>You write the other seven.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3584448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C9D6EE"/>
                </a:solidFill>
              </a:rPr>
              <a:t>Each answer is scored right, wrong or not found, and the cited page is checked in the PDF.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4251960"/>
            <a:ext cx="5148072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92240" y="4251960"/>
            <a:ext cx="64008" cy="128016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0" y="4407408"/>
            <a:ext cx="4617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3A5C9E"/>
                </a:solidFill>
              </a:rPr>
              <a:t>INDUSTRY CASE · SEBI DRHP ANALYSIS USING RAG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1B2A41"/>
                </a:solidFill>
              </a:rPr>
              <a:t>Every DRHP is public on sebi.gov.in the day it is filed. The same pipeline gives an analyst a first pass in minutes, and the cited pages make it checkable.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C9A227"/>
                </a:solidFill>
              </a:rPr>
              <a:t>What you have at the end:</a:t>
            </a:r>
            <a:r>
              <a:rPr sz="1200" b="0" i="0">
                <a:solidFill>
                  <a:srgbClr val="FFFFFF"/>
                </a:solidFill>
              </a:rPr>
              <a:t>a bot that answered ten investor questions from a document it had never seen, and a score sheet saying how often it was right.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MODULE 2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06324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PRACTICE QUESTIONS · PART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2145"/>
                </a:solidFill>
                <a:latin typeface="Georgia"/>
              </a:rPr>
              <a:t>Six questions on today’s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5506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3A5C9E"/>
                </a:solidFill>
                <a:latin typeface="Georgia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36776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When do you move from zero-shot to few-shot, and what do the examples buy you?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00" b="1" i="0">
                <a:solidFill>
                  <a:srgbClr val="C9A227"/>
                </a:solidFill>
                <a:latin typeface="Calibri"/>
              </a:rPr>
              <a:t>TIP</a:t>
            </a:r>
            <a:r>
              <a:rPr sz="900" b="0" i="0">
                <a:solidFill>
                  <a:srgbClr val="5D6B7E"/>
                </a:solidFill>
                <a:latin typeface="Calibri"/>
              </a:rPr>
              <a:t>Move when the output format or the judgement must match yours. The examples teach the pattern.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459736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3A5C9E"/>
                </a:solidFill>
                <a:latin typeface="Georgia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41448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Why does “You are a CFO…” change the answer? Name the three things a role sets.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00" b="1" i="0">
                <a:solidFill>
                  <a:srgbClr val="C9A227"/>
                </a:solidFill>
                <a:latin typeface="Calibri"/>
              </a:rPr>
              <a:t>TIP</a:t>
            </a:r>
            <a:r>
              <a:rPr sz="900" b="0" i="0">
                <a:solidFill>
                  <a:srgbClr val="5D6B7E"/>
                </a:solidFill>
                <a:latin typeface="Calibri"/>
              </a:rPr>
              <a:t>Vocabulary, depth and audience. It adds no new facts.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82112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182112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26440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3A5C9E"/>
                </a:solidFill>
                <a:latin typeface="Georgia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46120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Why ask for JSON instead of prose when the output feeds a spreadsheet?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00" b="1" i="0">
                <a:solidFill>
                  <a:srgbClr val="C9A227"/>
                </a:solidFill>
                <a:latin typeface="Calibri"/>
              </a:rPr>
              <a:t>TIP</a:t>
            </a:r>
            <a:r>
              <a:rPr sz="900" b="0" i="0">
                <a:solidFill>
                  <a:srgbClr val="5D6B7E"/>
                </a:solidFill>
                <a:latin typeface="Calibri"/>
              </a:rPr>
              <a:t>A fixed format can be parsed and validated by code. Prose cannot.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86784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986784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06908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3A5C9E"/>
                </a:solidFill>
                <a:latin typeface="Georgia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50792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What is hallucination, and what are its three types?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00" b="1" i="0">
                <a:solidFill>
                  <a:srgbClr val="C9A227"/>
                </a:solidFill>
                <a:latin typeface="Calibri"/>
              </a:rPr>
              <a:t>TIP</a:t>
            </a:r>
            <a:r>
              <a:rPr sz="900" b="0" i="0">
                <a:solidFill>
                  <a:srgbClr val="5D6B7E"/>
                </a:solidFill>
                <a:latin typeface="Calibri"/>
              </a:rPr>
              <a:t>A confident answer that is false. Fact: a wrong number stated with confidence. Source: invented evidence. Context: it contradicts the document it was given.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91456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791456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87375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3A5C9E"/>
                </a:solidFill>
                <a:latin typeface="Georgia"/>
              </a:rPr>
              <a:t>Q5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55464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Why build RAG instead of pasting all 200 pages into the chat?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00" b="1" i="0">
                <a:solidFill>
                  <a:srgbClr val="C9A227"/>
                </a:solidFill>
                <a:latin typeface="Calibri"/>
              </a:rPr>
              <a:t>TIP</a:t>
            </a:r>
            <a:r>
              <a:rPr sz="900" b="0" i="0">
                <a:solidFill>
                  <a:srgbClr val="5D6B7E"/>
                </a:solidFill>
                <a:latin typeface="Calibri"/>
              </a:rPr>
              <a:t>Cost, context limits and focus. Retrieval sends only the few passages that matter.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5596128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67842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3A5C9E"/>
                </a:solidFill>
                <a:latin typeface="Georgia"/>
              </a:rPr>
              <a:t>Q6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660136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A search for “revenue” must also find “turnover”. Which stage makes that work?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00" b="1" i="0">
                <a:solidFill>
                  <a:srgbClr val="C9A227"/>
                </a:solidFill>
                <a:latin typeface="Calibri"/>
              </a:rPr>
              <a:t>TIP</a:t>
            </a:r>
            <a:r>
              <a:rPr sz="900" b="0" i="0">
                <a:solidFill>
                  <a:srgbClr val="5D6B7E"/>
                </a:solidFill>
                <a:latin typeface="Calibri"/>
              </a:rPr>
              <a:t>Embeddings. They map meaning to numbers, so synonyms land close together.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D6B7E"/>
                </a:solidFill>
              </a:rPr>
              <a:t>The tip is the shape of the answer, not the whole answer. Two or three sentences each in the exam.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MODULE 2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06324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PRACTICE QUESTIONS · PART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914400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996696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3A5C9E"/>
                </a:solidFill>
                <a:latin typeface="Georgia"/>
              </a:rPr>
              <a:t>Q7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978408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What is the CRAFT prompt technique? Name the three things a role sets.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00" b="1" i="0">
                <a:solidFill>
                  <a:srgbClr val="C9A227"/>
                </a:solidFill>
                <a:latin typeface="Calibri"/>
              </a:rPr>
              <a:t>TIP</a:t>
            </a:r>
            <a:r>
              <a:rPr sz="900" b="0" i="0">
                <a:solidFill>
                  <a:srgbClr val="5D6B7E"/>
                </a:solidFill>
                <a:latin typeface="Calibri"/>
              </a:rPr>
              <a:t>Context, Role, Action, Format, Tone. A role sets vocabulary, depth and audience, and it adds no new facts.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19072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19072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80136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3A5C9E"/>
                </a:solidFill>
                <a:latin typeface="Georgia"/>
              </a:rPr>
              <a:t>Q8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783080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How will you reduce hallucination? (This was asked in an Accenture strategy interview.)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00" b="1" i="0">
                <a:solidFill>
                  <a:srgbClr val="C9A227"/>
                </a:solidFill>
                <a:latin typeface="Calibri"/>
              </a:rPr>
              <a:t>TIP</a:t>
            </a:r>
            <a:r>
              <a:rPr sz="900" b="0" i="0">
                <a:solidFill>
                  <a:srgbClr val="5D6B7E"/>
                </a:solidFill>
                <a:latin typeface="Calibri"/>
              </a:rPr>
              <a:t>Give it the document (RAG), demand a page citation for every number, allow “I don't know”, fix the output format, and check every number with code.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23744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523744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60604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3A5C9E"/>
                </a:solidFill>
                <a:latin typeface="Georgia"/>
              </a:rPr>
              <a:t>Q9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587752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You are a research analyst valuing Zomato for a long-term horizon. Write the best prompt in CRAFT format.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00" b="1" i="0">
                <a:solidFill>
                  <a:srgbClr val="C9A227"/>
                </a:solidFill>
                <a:latin typeface="Calibri"/>
              </a:rPr>
              <a:t>TIP</a:t>
            </a:r>
            <a:r>
              <a:rPr sz="900" b="0" i="0">
                <a:solidFill>
                  <a:srgbClr val="5D6B7E"/>
                </a:solidFill>
                <a:latin typeface="Calibri"/>
              </a:rPr>
              <a:t>Context: Zomato, latest annual results, long-term view. Role: equity research analyst. Action: value it by DCF and peer multiples, list the risks. Format: one-page memo with a table. Tone: plain, board-ready.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28416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328416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41071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3A5C9E"/>
                </a:solidFill>
                <a:latin typeface="Georgia"/>
              </a:rPr>
              <a:t>Q10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392424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A41"/>
                </a:solidFill>
                <a:latin typeface="Calibri"/>
              </a:rPr>
              <a:t>How will you build a RAG pipeline for the 550-page Shiprocket DRHP, which would cost over a million tokens to paste? List the steps.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900" b="1" i="0">
                <a:solidFill>
                  <a:srgbClr val="C9A227"/>
                </a:solidFill>
                <a:latin typeface="Calibri"/>
              </a:rPr>
              <a:t>TIP</a:t>
            </a:r>
            <a:r>
              <a:rPr sz="900" b="0" i="0">
                <a:solidFill>
                  <a:srgbClr val="5D6B7E"/>
                </a:solidFill>
                <a:latin typeface="Calibri"/>
              </a:rPr>
              <a:t>Load the PDF, chunk it by section, embed each chunk, store the vectors in a database, retrieve the top chunks for each question, and generate the answer with page citations.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D6B7E"/>
                </a:solidFill>
              </a:rPr>
              <a:t>The tip is the shape of the answer, not the whole answer. Two or three sentences each in the exam.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MODULE 2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06324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9A227"/>
                </a:solidFill>
              </a:rPr>
              <a:t>PRACTICE QUESTIONS · PART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2145"/>
                </a:solidFill>
                <a:latin typeface="Georgia"/>
              </a:rPr>
              <a:t>Three cases from the desk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110916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64008" cy="12344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3A5C9E"/>
                </a:solidFill>
                <a:latin typeface="Georgia"/>
              </a:rPr>
              <a:t>Q11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719072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B2A41"/>
                </a:solidFill>
                <a:latin typeface="Calibri"/>
              </a:rPr>
              <a:t>The CFO wants last quarter’s segment results as a board-ready table, from the same prompt every quarter. Write the prompt’s three parts.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1" i="0">
                <a:solidFill>
                  <a:srgbClr val="C9A227"/>
                </a:solidFill>
                <a:latin typeface="Calibri"/>
              </a:rPr>
              <a:t>TIP</a:t>
            </a:r>
            <a:r>
              <a:rPr sz="1050" b="0" i="0">
                <a:solidFill>
                  <a:srgbClr val="5D6B7E"/>
                </a:solidFill>
                <a:latin typeface="Calibri"/>
              </a:rPr>
              <a:t>State the role at the top, the task in the middle, and the exact table format at the bottom, with a “not found” rule for missing lines.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44368"/>
            <a:ext cx="110916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944368"/>
            <a:ext cx="64008" cy="12344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090672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3A5C9E"/>
                </a:solidFill>
                <a:latin typeface="Georgia"/>
              </a:rPr>
              <a:t>Q12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090672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B2A41"/>
                </a:solidFill>
                <a:latin typeface="Calibri"/>
              </a:rPr>
              <a:t>Your prospectus bot answers a risk-factor question with text from the marketing section. Which stage failed, and what do you change?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1" i="0">
                <a:solidFill>
                  <a:srgbClr val="C9A227"/>
                </a:solidFill>
                <a:latin typeface="Calibri"/>
              </a:rPr>
              <a:t>TIP</a:t>
            </a:r>
            <a:r>
              <a:rPr sz="1050" b="0" i="0">
                <a:solidFill>
                  <a:srgbClr val="5D6B7E"/>
                </a:solidFill>
                <a:latin typeface="Calibri"/>
              </a:rPr>
              <a:t>Retrieval, or the chunking before it. Chunk by section, keep headings with their text, and re-rank so the risk-factor chunks win.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15968"/>
            <a:ext cx="1109167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4315968"/>
            <a:ext cx="64008" cy="12344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462272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3A5C9E"/>
                </a:solidFill>
                <a:latin typeface="Georgia"/>
              </a:rPr>
              <a:t>Q13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462272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B2A41"/>
                </a:solidFill>
                <a:latin typeface="Calibri"/>
              </a:rPr>
              <a:t>The bot returns a promoter stake the PDF never states. Which two controls stop that number reaching the investor?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50" b="1" i="0">
                <a:solidFill>
                  <a:srgbClr val="C9A227"/>
                </a:solidFill>
                <a:latin typeface="Calibri"/>
              </a:rPr>
              <a:t>TIP</a:t>
            </a:r>
            <a:r>
              <a:rPr sz="1050" b="0" i="0">
                <a:solidFill>
                  <a:srgbClr val="5D6B7E"/>
                </a:solidFill>
                <a:latin typeface="Calibri"/>
              </a:rPr>
              <a:t>Require a page citation for every number, and instruct “not found” when the source is silent. A human checks the cited page before it goes out.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2145"/>
                </a:solidFill>
              </a:rPr>
              <a:t>Before Session 3:</a:t>
            </a:r>
            <a:r>
              <a:rPr sz="1100" b="0" i="0">
                <a:solidFill>
                  <a:srgbClr val="1B2A41"/>
                </a:solidFill>
              </a:rPr>
              <a:t>pick any live DRHP on sebi.gov.in, read its risk-factors section, and write the ten questions you would put to a bot about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 i="0">
                <a:solidFill>
                  <a:srgbClr val="5D6B7E"/>
                </a:solidFill>
              </a:rPr>
              <a:t>MODULE 2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2331</Words>
  <Application>Microsoft Macintosh PowerPoint</Application>
  <PresentationFormat>Widescreen</PresentationFormat>
  <Paragraphs>211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Tejas Jadhav</cp:lastModifiedBy>
  <cp:revision>2</cp:revision>
  <dcterms:created xsi:type="dcterms:W3CDTF">2013-01-27T09:14:16Z</dcterms:created>
  <dcterms:modified xsi:type="dcterms:W3CDTF">2026-08-21T19:01:07Z</dcterms:modified>
  <cp:category/>
</cp:coreProperties>
</file>