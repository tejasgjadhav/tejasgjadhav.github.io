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2" r:id="rId8"/>
    <p:sldId id="260" r:id="rId9"/>
    <p:sldId id="268" r:id="rId10"/>
    <p:sldId id="261" r:id="rId11"/>
    <p:sldId id="263" r:id="rId12"/>
    <p:sldId id="264" r:id="rId13"/>
    <p:sldId id="269" r:id="rId19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0"/>
  </p:normalViewPr>
  <p:slideViewPr>
    <p:cSldViewPr snapToGrid="0" snapToObjects="1">
      <p:cViewPr>
        <p:scale>
          <a:sx n="106" d="100"/>
          <a:sy n="106" d="100"/>
        </p:scale>
        <p:origin x="6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AI IN FINANCE · THE COMPLETE CRASH COURSE · MODULE 3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3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Model Context Protocol &amp; Agent 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Tejas Jadhav, CFA, FRM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AI in Finance: The Complete Crash Course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tejasgjadhav.github.io/AIFinanceCrashcourse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3 hours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Hour 1 MCP · Hour 2 agent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teams · Hour 3 memo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7889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No heavy code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Hours 1 and 2 are pictures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and plain English.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3434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3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AGENTS WRITE ONE INVESTMENT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MEMO 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AI IN FINANCE · THE COMPLETE CRASH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3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dirty="0">
                <a:solidFill>
                  <a:srgbClr val="0F2145"/>
                </a:solidFill>
                <a:latin typeface="Georgia"/>
              </a:rPr>
              <a:t>What we do in these three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connector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What MCP is, in one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Tools as a menu the model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Long documents and short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Design task: a credit analyst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Four roles: researcher, analyst, writer, reviewer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Three wirings: line, parallel,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CrewAI and LangGraph, in one line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Where agent crews fit on a finance desk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Three agents, one investment memo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One real NSE-listed company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Our goal for today:</a:t>
            </a:r>
            <a:r>
              <a:rPr sz="1200" b="0">
                <a:solidFill>
                  <a:srgbClr val="FFFFFF"/>
                </a:solidFill>
              </a:rPr>
              <a:t>three agents that turn one company's public numbers into a one-page investment memo, hand-off by hand-off.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MODEL CONTEXT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dirty="0">
                <a:solidFill>
                  <a:srgbClr val="0F2145"/>
                </a:solidFill>
                <a:latin typeface="Georgia"/>
              </a:rPr>
              <a:t>What is MCP? One plug for every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B2A41"/>
                </a:solidFill>
                <a:latin typeface="Georgia"/>
              </a:rPr>
              <a:t>Every pair needs a wire.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57432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B2A41"/>
                </a:solidFill>
              </a:rPr>
              <a:t>Before MCP, each AI app needed custom code for each tool. Five apps and six tools means thirty separate connections.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87705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97763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 dirty="0">
                <a:solidFill>
                  <a:srgbClr val="1B2A41"/>
                </a:solidFill>
              </a:rPr>
              <a:t>Your screener, your spreadsheet, your mail and your data feed: each one wired to each assistant, again and again.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0118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Most AI pilots in banks stall on this wiring, not on the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B2A41"/>
                </a:solidFill>
                <a:latin typeface="Georgia"/>
              </a:rPr>
              <a:t>One common plug.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6032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B2A41"/>
                </a:solidFill>
              </a:rPr>
              <a:t>MCP is an open standard that Anthropic released in 2024. You wrap a tool once as an MCP server. Any AI app that speaks MCP can then use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87705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397763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USB-C did the same job for chargers: one port, every device.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0118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Claude, ChatGPT and most agent tools now speak MCP.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HOW A CALL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Ask, fetch, answer.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6032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C9D6EE"/>
                </a:solidFill>
              </a:rPr>
              <a:t>The app shows the model the tool menu. The model picks a tool and sends the inputs. The tool returns live data and the model answers from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87705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397763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 dirty="0">
                <a:solidFill>
                  <a:srgbClr val="1B2A41"/>
                </a:solidFill>
              </a:rPr>
              <a:t>“Where is the NIFTY now?” The model calls the market-data tool and answers with the fetched number, not from its training memory.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0118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The model never guesses what a tool holds. It asks.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Why it matters:</a:t>
            </a:r>
            <a:r>
              <a:rPr sz="1200" b="0">
                <a:solidFill>
                  <a:srgbClr val="FFFFFF"/>
                </a:solidFill>
              </a:rPr>
              <a:t>you connect a tool once, and every MCP app on the desk can use it from that day 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Description automatically generated">
            <a:extLst>
              <a:ext uri="{FF2B5EF4-FFF2-40B4-BE49-F238E27FC236}">
                <a16:creationId xmlns:a16="http://schemas.microsoft.com/office/drawing/2014/main" id="{DA9F4F7C-6EE6-1C88-CC6E-85C7AA632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086" y="391887"/>
            <a:ext cx="10675829" cy="629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01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521A0D4-8102-1BC5-A299-ACAF53304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177799"/>
            <a:ext cx="10029371" cy="66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1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TOOLS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 tool is a menu entry. Context is a small desk.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576072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TOOL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66543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A tool definition tells the model three things.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505456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name: get_share_price.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6265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980944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What it does: returns the last traded price for a ticker.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38144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56432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What inputs it needs: the ticker symbol.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977639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model reads the menu like a diner and orders what it needs.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407408"/>
            <a:ext cx="5257800" cy="91440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4517136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IN CLASS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Design the tool menu for a credit analyst agent. Start with a statement reader, a ratio calculator and a bureau check.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572768"/>
            <a:ext cx="51480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175564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CONTEXT AND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066543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A model holds a limited amount of text at once. That space is the context window, and one annual report with its call transcripts overflows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87121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Fetch only the pages the question needs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255264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Summarise old turns, carry the summary forward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63931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Keep a running fact sheet, not the whole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411480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This habit is called a rolling context.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8272" y="4407408"/>
            <a:ext cx="4617720" cy="91440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12864" y="4517136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 credit agent reading a 400-page annual report fetches the debt schedule, not the chairman's letter.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design rule:</a:t>
            </a:r>
            <a:r>
              <a:rPr sz="1200" b="0">
                <a:solidFill>
                  <a:srgbClr val="FFFFFF"/>
                </a:solidFill>
              </a:rPr>
              <a:t>an agent is a normal model given a menu of tools and a way to fetch just what it needs.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HOUR 2</a:t>
            </a:r>
            <a:r>
              <a:rPr lang="en-US" sz="1100" b="1" dirty="0">
                <a:solidFill>
                  <a:srgbClr val="C9A227"/>
                </a:solidFill>
              </a:rPr>
              <a:t>Some tools</a:t>
            </a:r>
            <a:endParaRPr sz="1100" b="1" dirty="0">
              <a:solidFill>
                <a:srgbClr val="C9A2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dirty="0" err="1">
                <a:solidFill>
                  <a:srgbClr val="0F2145"/>
                </a:solidFill>
                <a:latin typeface="Georgia"/>
              </a:rPr>
              <a:t>CrewAI</a:t>
            </a:r>
            <a:r>
              <a:rPr sz="2900" b="1" dirty="0">
                <a:solidFill>
                  <a:srgbClr val="0F2145"/>
                </a:solidFill>
                <a:latin typeface="Georgia"/>
              </a:rPr>
              <a:t>and</a:t>
            </a:r>
            <a:r>
              <a:rPr sz="2900" b="1" dirty="0" err="1">
                <a:solidFill>
                  <a:srgbClr val="0F2145"/>
                </a:solidFill>
                <a:latin typeface="Georgia"/>
              </a:rPr>
              <a:t>LangGraph</a:t>
            </a:r>
            <a:endParaRPr sz="2900" b="1" dirty="0">
              <a:solidFill>
                <a:srgbClr val="0F2145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5760720" cy="24688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5248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CREWAI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48256"/>
            <a:ext cx="5248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Describe the team in English.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52486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B2A41"/>
                </a:solidFill>
              </a:rPr>
              <a:t>You write each agent's role and goal as plain text. The library runs the crew for you, in order. It is the easiest first tool for a student.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3218688"/>
            <a:ext cx="524865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3291840"/>
            <a:ext cx="4919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role: equity research analyst · goal: compute the ratios and state a view in five plain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572768"/>
            <a:ext cx="5148072" cy="24688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8272" y="1755648"/>
            <a:ext cx="4636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048256"/>
            <a:ext cx="4636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Draw the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2487168"/>
            <a:ext cx="46360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You define the boxes and arrows in code, and loops and branches are allowed. The reviewer-rejects-and-resends loop lives 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48272" y="3218688"/>
            <a:ext cx="463600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12864" y="3291840"/>
            <a:ext cx="4306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If the reviewer scores the memo below 7, the graph loops back to the writer with the comments.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15968"/>
            <a:ext cx="64008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471416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8F7113"/>
                </a:solidFill>
              </a:rPr>
              <a:t>THE PART PEOPLE MISS</a:t>
            </a:r>
          </a:p>
          <a:p>
            <a:pPr algn="l">
              <a:spcBef>
                <a:spcPts val="300"/>
              </a:spcBef>
            </a:pPr>
            <a:r>
              <a:rPr sz="1050" b="0" dirty="0">
                <a:solidFill>
                  <a:srgbClr val="1B2A41"/>
                </a:solidFill>
              </a:rPr>
              <a:t>The model — Claude, GPT or Gemini — is the worker inside every box, and the framework is only the org chart. A weak prompt stays weak in any framework, so write each agent's brief as carefully as a junior's.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In our lab:</a:t>
            </a:r>
            <a:r>
              <a:rPr sz="1200" b="0">
                <a:solidFill>
                  <a:srgbClr val="FFFFFF"/>
                </a:solidFill>
              </a:rPr>
              <a:t>we use the simplest wiring — three agents in a line, each with one job.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07</a:t>
            </a:r>
          </a:p>
        </p:txBody>
      </p:sp>
      <p:pic>
        <p:nvPicPr>
          <p:cNvPr id="26" name="Picture 25" descr="A screenshot of a diagram&#10;&#10;Description automatically generated">
            <a:extLst>
              <a:ext uri="{FF2B5EF4-FFF2-40B4-BE49-F238E27FC236}">
                <a16:creationId xmlns:a16="http://schemas.microsoft.com/office/drawing/2014/main" id="{8341F08F-3308-2052-B6F3-8A623321B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" y="1168652"/>
            <a:ext cx="11091672" cy="56483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HOUR 2 · AGENT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One agent is a worker. A crew is a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RESEARCHER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Gathers the facts.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Pulls the prices, results and news for one company. Hands a clean fact sheet forward.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Reads the numbers.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Computes growth, margins and leverage from the facts. Writes down what the numbers mean.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WRITER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Drafts the memo.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Turns the facts and the analysis into one page a manager can read in two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2832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2288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Checks and rejects.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Compares every claim in the memo to the source facts. Sends weak work 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The same shape exists on every research desk:</a:t>
            </a:r>
            <a:r>
              <a:rPr sz="1100" b="0">
                <a:solidFill>
                  <a:srgbClr val="1B2A41"/>
                </a:solidFill>
              </a:rPr>
              <a:t>a junior gathers, a senior reads, one person drafts, and the head signs. The crew copies the org chart, not the person.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One line to remember:</a:t>
            </a:r>
            <a:r>
              <a:rPr sz="1200" b="0">
                <a:solidFill>
                  <a:srgbClr val="FFFFFF"/>
                </a:solidFill>
              </a:rPr>
              <a:t>give each agent one job and one hand-off, exactly as you would brief a junior on the desk.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resentation&#10;&#10;Description automatically generated">
            <a:extLst>
              <a:ext uri="{FF2B5EF4-FFF2-40B4-BE49-F238E27FC236}">
                <a16:creationId xmlns:a16="http://schemas.microsoft.com/office/drawing/2014/main" id="{878AFD4F-3FC9-F237-6F07-BF049AFA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THREE WAYS TO WIRE A 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In a line, all at once, or under a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SEQUENTIAL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One after another.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6118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Each agent starts when the one before it finishes. The output of one is the input of the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57200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when every step needs the last step's output. Today's lab runs this way.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All at once.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6118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Independent agents run at the same time. A final step merges what they found.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57200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for independent tasks, like screening three companies at once.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HIERARCHICAL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A manager delegates.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118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A planner splits the job and hands out tasks. A critic checks the work and can send it 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57200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when the plan itself can change mid-job.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834640"/>
            <a:ext cx="566928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283464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83464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64792" y="2834640"/>
            <a:ext cx="566928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64792" y="283464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9152" y="283464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60904" y="2834640"/>
            <a:ext cx="566928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60904" y="283464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WRITE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578608"/>
            <a:ext cx="50292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257860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CO 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75504" y="2578608"/>
            <a:ext cx="50292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75504" y="257860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CO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9008" y="2578608"/>
            <a:ext cx="50292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79008" y="257860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CO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57860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2578608"/>
            <a:ext cx="566928" cy="3108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2578608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2145"/>
                </a:solidFill>
              </a:rPr>
              <a:t>MERGE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0175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D6B7E"/>
                </a:solidFill>
              </a:rPr>
              <a:t>Three screens run together, then merge.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2487168"/>
            <a:ext cx="658368" cy="3108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64040" y="2487168"/>
            <a:ext cx="658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2145"/>
                </a:solidFill>
              </a:rPr>
              <a:t>PLANNER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2907792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2907792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200400"/>
            <a:ext cx="603504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0" y="3200400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AGENT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9720" y="3200400"/>
            <a:ext cx="603504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89720" y="3200400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AGENT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3200400"/>
            <a:ext cx="566928" cy="310896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78440" y="320040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Worth remembering:</a:t>
            </a:r>
            <a:r>
              <a:rPr sz="1200" b="0">
                <a:solidFill>
                  <a:srgbClr val="FFFFFF"/>
                </a:solidFill>
              </a:rPr>
              <a:t>planner, executor and critic is the pattern behind most agent products that work today.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IN-CLASS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lab: three agents write an investment memo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One real NSE-listed company goes in. A one-page memo comes out, written hand-off by hand-off.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3936"/>
            <a:ext cx="576072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860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304288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Research Agent collects the company's public facts: price, revenue, profit, debt.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5292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71216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Analysis Agent computes growth, margins and leverage, then writes its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38144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Writing Agent turns both into a one-page memo with a clear 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5760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64008" cy="1280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407408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TRY IT FREE AT HOME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B2A41"/>
                </a:solidFill>
              </a:rPr>
              <a:t>No API key is needed. The course site carries the same pipeline as a small Python project, plus the three agent prompts to run in any free AI chat. tejasgjadhav.github.io/AIFinanceCrashcourse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773936"/>
            <a:ext cx="5148072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193852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CLASS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28600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Instructor demo: the three-agent crew runs in Claude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68833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The class picks the NSE company on the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09067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We read each hand-off, not just the final memo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5661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hand-offs are the lesson. The memo is just the receipt.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251960"/>
            <a:ext cx="5148072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92240" y="4251960"/>
            <a:ext cx="64008" cy="1280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407408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PEER REVIEW · THE SCORE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B2A41"/>
                </a:solidFill>
              </a:rPr>
              <a:t>Swap memos with the next group and score three things: every number carries a source, the view follows from the numbers, and you would send it upstairs.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What you have at the end:</a:t>
            </a:r>
            <a:r>
              <a:rPr sz="1200" b="0">
                <a:solidFill>
                  <a:srgbClr val="FFFFFF"/>
                </a:solidFill>
              </a:rPr>
              <a:t>a memo written by three agents, and your scorecard telling you whether to trust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Six questions before the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36776"/>
            <a:ext cx="9875520" cy="341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What is MCP? What problem does it solve? Give an example, the USB-C parallel, and say how it helps in finance.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50" b="0" dirty="0">
                <a:solidFill>
                  <a:srgbClr val="5D6B7E"/>
                </a:solidFill>
              </a:rPr>
              <a:t>Every app-and-tool pair needed its own wiring. MCP is one standard plug: wrap a tool once and every MCP app can use it. In finance, one market-data or screener server then serves every assistant on the desk.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5973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41448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An agent must answer from a 400-page annual report that overflows the context window. What does it do?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50" b="0">
                <a:solidFill>
                  <a:srgbClr val="5D6B7E"/>
                </a:solidFill>
              </a:rPr>
              <a:t>It fetches only the pages the question needs and carries a rolling summary of what came before.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82112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182112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46120"/>
            <a:ext cx="9875520" cy="341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Name the four crew</a:t>
            </a:r>
            <a:r>
              <a:rPr lang="en-US" sz="1100" b="1" dirty="0">
                <a:solidFill>
                  <a:srgbClr val="1B2A41"/>
                </a:solidFill>
              </a:rPr>
              <a:t>IN Multi agent investment flow</a:t>
            </a:r>
            <a:r>
              <a:rPr sz="1100" b="1" dirty="0">
                <a:solidFill>
                  <a:srgbClr val="1B2A41"/>
                </a:solidFill>
              </a:rPr>
              <a:t>roles and what each hands to the next.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50" b="0" dirty="0">
                <a:solidFill>
                  <a:srgbClr val="5D6B7E"/>
                </a:solidFill>
              </a:rPr>
              <a:t>The researcher hands facts, the analyst hands ratios and a view, the writer hands the memo, the reviewer hands weak work 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86784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986784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50792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When do you wire agents in parallel instead of in a line?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50" b="0">
                <a:solidFill>
                  <a:srgbClr val="5D6B7E"/>
                </a:solidFill>
              </a:rPr>
              <a:t>When the tasks are independent — three companies screened at once, merged at the 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91456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791456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87375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55464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A reviewer must be able to reject the memo and send it back. Which framework style fits, and why?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50" b="0" dirty="0">
                <a:solidFill>
                  <a:srgbClr val="5D6B7E"/>
                </a:solidFill>
              </a:rPr>
              <a:t>The graph style,</a:t>
            </a:r>
            <a:r>
              <a:rPr sz="950" b="0" dirty="0" err="1">
                <a:solidFill>
                  <a:srgbClr val="5D6B7E"/>
                </a:solidFill>
              </a:rPr>
              <a:t>LangGraph</a:t>
            </a:r>
            <a:r>
              <a:rPr sz="950" b="0" dirty="0">
                <a:solidFill>
                  <a:srgbClr val="5D6B7E"/>
                </a:solidFill>
              </a:rPr>
              <a:t>. Loops and branches need a graph; a simple line has no way 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596128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67842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60136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Why does the memo pipeline end with a reviewer instead of going straight to the manager?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50" b="0">
                <a:solidFill>
                  <a:srgbClr val="5D6B7E"/>
                </a:solidFill>
              </a:rPr>
              <a:t>The writing reads confident even when a number is wrong. Someone must check the memo against the source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9669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978408"/>
            <a:ext cx="9875520" cy="341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We connected TradingView to Claude. Was that RAG or MCP? (Hint: think of the Zomato demo.)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50" b="0" dirty="0">
                <a:solidFill>
                  <a:srgbClr val="5D6B7E"/>
                </a:solidFill>
              </a:rPr>
              <a:t>MCP. TradingView, like Zomato, was wrapped as an MCP server and Claude called its tools live. RAG retrieves passages from documents. MCP connects tools.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850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SESSION 3 OF 10 ·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Questions?</a:t>
            </a:r>
          </a:p>
          <a:p>
            <a:pPr algn="l">
              <a:spcBef>
                <a:spcPts val="1000"/>
              </a:spcBef>
            </a:pPr>
            <a:r>
              <a:rPr sz="1900" b="0">
                <a:solidFill>
                  <a:srgbClr val="C9D6EE"/>
                </a:solidFill>
                <a:latin typeface="Georgia"/>
              </a:rPr>
              <a:t>Ask about anything from today: MCP, the crew roles, the three wirings, or the lab.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49039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968496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Tejas Jadhav, CFA, FRM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Faculty · Agentic AI &amp; Advanced Analytics in Finance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tejasgjadhav.github.io/AIFinanceCrashcourse · slides and the free lab are on the 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11091672" cy="73152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5257800"/>
            <a:ext cx="64008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Before Session 4:</a:t>
            </a:r>
            <a:r>
              <a:rPr sz="1200" b="0">
                <a:solidFill>
                  <a:srgbClr val="FFFFFF"/>
                </a:solidFill>
              </a:rPr>
              <a:t>write down one finance task you would split across three agents, and give each agent one job.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AI IN FINANCE · THE COMPLETE CRASH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3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1971</Words>
  <Application>Microsoft Macintosh PowerPoint</Application>
  <PresentationFormat>Widescreen</PresentationFormat>
  <Paragraphs>208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4</cp:revision>
  <dcterms:created xsi:type="dcterms:W3CDTF">2013-01-27T09:14:16Z</dcterms:created>
  <dcterms:modified xsi:type="dcterms:W3CDTF">2026-09-01T00:28:43Z</dcterms:modified>
  <cp:category/>
</cp:coreProperties>
</file>