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1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32688"/>
            <a:ext cx="8229600" cy="274320"/>
          </a:xfrm>
          <a:prstGeom prst="rect">
            <a:avLst/>
          </a:prstGeom>
          <a:noFill/>
        </p:spPr>
        <p:txBody>
          <a:bodyPr wrap="square" anchor="t" lIns="0" rIns="0" tIns="0" bIns="0">
            <a:spAutoFit/>
          </a:bodyPr>
          <a:lstStyle/>
          <a:p>
            <a:pPr algn="l"/>
            <a:r>
              <a:rPr sz="1200" b="1">
                <a:solidFill>
                  <a:srgbClr val="C9A227"/>
                </a:solidFill>
              </a:rPr>
              <a:t>AI IN FINANCE · THE COMPLETE CRASH COURSE · MODULE 8 OF 10</a:t>
            </a:r>
          </a:p>
        </p:txBody>
      </p:sp>
      <p:sp>
        <p:nvSpPr>
          <p:cNvPr id="6" name="TextBox 5"/>
          <p:cNvSpPr txBox="1"/>
          <p:nvPr/>
        </p:nvSpPr>
        <p:spPr>
          <a:xfrm>
            <a:off x="548640" y="1371600"/>
            <a:ext cx="8595360" cy="2194560"/>
          </a:xfrm>
          <a:prstGeom prst="rect">
            <a:avLst/>
          </a:prstGeom>
          <a:noFill/>
        </p:spPr>
        <p:txBody>
          <a:bodyPr wrap="square" anchor="t" lIns="0" rIns="0" tIns="0" bIns="0">
            <a:spAutoFit/>
          </a:bodyPr>
          <a:lstStyle/>
          <a:p>
            <a:pPr algn="l"/>
            <a:r>
              <a:rPr sz="5800" b="1">
                <a:solidFill>
                  <a:srgbClr val="FFFFFF"/>
                </a:solidFill>
                <a:latin typeface="Georgia"/>
              </a:rPr>
              <a:t>Module 8</a:t>
            </a:r>
          </a:p>
          <a:p>
            <a:pPr algn="l">
              <a:spcBef>
                <a:spcPts val="1000"/>
              </a:spcBef>
            </a:pPr>
            <a:r>
              <a:rPr sz="2100" b="0">
                <a:solidFill>
                  <a:srgbClr val="C9D6EE"/>
                </a:solidFill>
                <a:latin typeface="Georgia"/>
              </a:rPr>
              <a:t>Fund Administration: NAV and Transfer Agency</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133087"/>
            <a:ext cx="8229600" cy="1097280"/>
          </a:xfrm>
          <a:prstGeom prst="rect">
            <a:avLst/>
          </a:prstGeom>
          <a:noFill/>
        </p:spPr>
        <p:txBody>
          <a:bodyPr wrap="square" anchor="t" lIns="0" rIns="0" tIns="0" bIns="0">
            <a:spAutoFit/>
          </a:bodyPr>
          <a:lstStyle/>
          <a:p>
            <a:pPr algn="l"/>
            <a:r>
              <a:rPr sz="1700" b="1">
                <a:solidFill>
                  <a:srgbClr val="FFFFFF"/>
                </a:solidFill>
              </a:rPr>
              <a:t>Tejas Jadhav, CFA, FRM</a:t>
            </a:r>
          </a:p>
          <a:p>
            <a:pPr algn="l">
              <a:spcBef>
                <a:spcPts val="400"/>
              </a:spcBef>
            </a:pPr>
            <a:r>
              <a:rPr sz="1200" b="0">
                <a:solidFill>
                  <a:srgbClr val="8FA1C4"/>
                </a:solidFill>
              </a:rPr>
              <a:t>AI in Finance: The Complete Crash Course</a:t>
            </a:r>
          </a:p>
          <a:p>
            <a:pPr algn="l">
              <a:spcBef>
                <a:spcPts val="300"/>
              </a:spcBef>
            </a:pPr>
            <a:r>
              <a:rPr sz="1200" b="1">
                <a:solidFill>
                  <a:srgbClr val="C9A227"/>
                </a:solidFill>
              </a:rPr>
              <a:t>tejasgjadhav.github.io/AIFinanceCrashcourse</a:t>
            </a:r>
          </a:p>
        </p:txBody>
      </p:sp>
      <p:sp>
        <p:nvSpPr>
          <p:cNvPr id="9" name="TextBox 8"/>
          <p:cNvSpPr txBox="1"/>
          <p:nvPr/>
        </p:nvSpPr>
        <p:spPr>
          <a:xfrm>
            <a:off x="9646920" y="850392"/>
            <a:ext cx="2194560" cy="274320"/>
          </a:xfrm>
          <a:prstGeom prst="rect">
            <a:avLst/>
          </a:prstGeom>
          <a:noFill/>
        </p:spPr>
        <p:txBody>
          <a:bodyPr wrap="square" anchor="t" lIns="0" rIns="0" tIns="0" bIns="0">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anchor="t" lIns="0" rIns="0" tIns="0" bIns="0">
            <a:spAutoFit/>
          </a:bodyPr>
          <a:lstStyle/>
          <a:p>
            <a:pPr algn="l"/>
            <a:r>
              <a:rPr sz="1500" b="1">
                <a:solidFill>
                  <a:srgbClr val="FFFFFF"/>
                </a:solidFill>
                <a:latin typeface="Georgia"/>
              </a:rPr>
              <a:t>One number</a:t>
            </a:r>
          </a:p>
          <a:p>
            <a:pPr algn="l">
              <a:spcBef>
                <a:spcPts val="400"/>
              </a:spcBef>
            </a:pPr>
            <a:r>
              <a:rPr sz="1000" b="0">
                <a:solidFill>
                  <a:srgbClr val="8FA1C4"/>
                </a:solidFill>
              </a:rPr>
              <a:t>The price at which investors</a:t>
            </a:r>
          </a:p>
          <a:p>
            <a:pPr algn="l">
              <a:spcBef>
                <a:spcPts val="200"/>
              </a:spcBef>
            </a:pPr>
            <a:r>
              <a:rPr sz="1000" b="0">
                <a:solidFill>
                  <a:srgbClr val="8FA1C4"/>
                </a:solidFill>
              </a:rPr>
              <a:t>buy in and cash out.</a:t>
            </a:r>
          </a:p>
          <a:p>
            <a:pPr algn="l">
              <a:spcBef>
                <a:spcPts val="200"/>
              </a:spcBef>
            </a:pPr>
            <a:r>
              <a:rPr sz="1000" b="0">
                <a:solidFill>
                  <a:srgbClr val="8FA1C4"/>
                </a:solidFill>
              </a:rPr>
              <a:t>Wrong by a cent, wrong all day.</a:t>
            </a:r>
          </a:p>
        </p:txBody>
      </p:sp>
      <p:sp>
        <p:nvSpPr>
          <p:cNvPr id="11" name="TextBox 10"/>
          <p:cNvSpPr txBox="1"/>
          <p:nvPr/>
        </p:nvSpPr>
        <p:spPr>
          <a:xfrm>
            <a:off x="9646920" y="2788920"/>
            <a:ext cx="2286000" cy="1097280"/>
          </a:xfrm>
          <a:prstGeom prst="rect">
            <a:avLst/>
          </a:prstGeom>
          <a:noFill/>
        </p:spPr>
        <p:txBody>
          <a:bodyPr wrap="square" anchor="t" lIns="0" rIns="0" tIns="0" bIns="0">
            <a:spAutoFit/>
          </a:bodyPr>
          <a:lstStyle/>
          <a:p>
            <a:pPr algn="l"/>
            <a:r>
              <a:rPr sz="1500" b="1">
                <a:solidFill>
                  <a:srgbClr val="FFFFFF"/>
                </a:solidFill>
                <a:latin typeface="Georgia"/>
              </a:rPr>
              <a:t>One hard rule</a:t>
            </a:r>
          </a:p>
          <a:p>
            <a:pPr algn="l">
              <a:spcBef>
                <a:spcPts val="400"/>
              </a:spcBef>
            </a:pPr>
            <a:r>
              <a:rPr sz="1000" b="0">
                <a:solidFill>
                  <a:srgbClr val="8FA1C4"/>
                </a:solidFill>
              </a:rPr>
              <a:t>The code computes the NAV.</a:t>
            </a:r>
          </a:p>
          <a:p>
            <a:pPr algn="l">
              <a:spcBef>
                <a:spcPts val="200"/>
              </a:spcBef>
            </a:pPr>
            <a:r>
              <a:rPr sz="1000" b="0">
                <a:solidFill>
                  <a:srgbClr val="8FA1C4"/>
                </a:solidFill>
              </a:rPr>
              <a:t>The model never does.</a:t>
            </a:r>
          </a:p>
        </p:txBody>
      </p:sp>
      <p:sp>
        <p:nvSpPr>
          <p:cNvPr id="12" name="TextBox 11"/>
          <p:cNvSpPr txBox="1"/>
          <p:nvPr/>
        </p:nvSpPr>
        <p:spPr>
          <a:xfrm>
            <a:off x="9646920" y="4434840"/>
            <a:ext cx="2286000" cy="1463040"/>
          </a:xfrm>
          <a:prstGeom prst="rect">
            <a:avLst/>
          </a:prstGeom>
          <a:noFill/>
        </p:spPr>
        <p:txBody>
          <a:bodyPr wrap="square" anchor="t" lIns="0" rIns="0" tIns="0" bIns="0">
            <a:spAutoFit/>
          </a:bodyPr>
          <a:lstStyle/>
          <a:p>
            <a:pPr algn="l"/>
            <a:r>
              <a:rPr sz="4400" b="1">
                <a:solidFill>
                  <a:srgbClr val="C9A227"/>
                </a:solidFill>
                <a:latin typeface="Georgia"/>
              </a:rPr>
              <a:t>1</a:t>
            </a:r>
          </a:p>
          <a:p>
            <a:pPr algn="l">
              <a:spcBef>
                <a:spcPts val="400"/>
              </a:spcBef>
            </a:pPr>
            <a:r>
              <a:rPr sz="900" b="0">
                <a:solidFill>
                  <a:srgbClr val="8FA1C4"/>
                </a:solidFill>
              </a:rPr>
              <a:t>NAV ENGINE WITH AN EXCEPTION</a:t>
            </a:r>
          </a:p>
          <a:p>
            <a:pPr algn="l">
              <a:spcBef>
                <a:spcPts val="200"/>
              </a:spcBef>
            </a:pPr>
            <a:r>
              <a:rPr sz="900" b="0">
                <a:solidFill>
                  <a:srgbClr val="8FA1C4"/>
                </a:solidFill>
              </a:rPr>
              <a:t>LIST, BEFORE YOU LEAVE</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8FA1C4"/>
                </a:solidFill>
              </a:rPr>
              <a:t>AI IN FINANCE · THE COMPLETE CRASH COURSE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8FA1C4"/>
                </a:solidFill>
              </a:rPr>
              <a:t>MODULE 8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3108960" cy="274320"/>
          </a:xfrm>
          <a:prstGeom prst="rect">
            <a:avLst/>
          </a:prstGeom>
          <a:noFill/>
        </p:spPr>
        <p:txBody>
          <a:bodyPr wrap="square" anchor="t" lIns="0" rIns="0" tIns="0" bIns="0">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How the number is made</a:t>
            </a:r>
          </a:p>
        </p:txBody>
      </p:sp>
      <p:sp>
        <p:nvSpPr>
          <p:cNvPr id="9" name="TextBox 8"/>
          <p:cNvSpPr txBox="1"/>
          <p:nvPr/>
        </p:nvSpPr>
        <p:spPr>
          <a:xfrm>
            <a:off x="804672"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Four roles around a fund, and why Madoff held three of them</a:t>
            </a:r>
          </a:p>
        </p:txBody>
      </p:sp>
      <p:sp>
        <p:nvSpPr>
          <p:cNvPr id="10" name="TextBox 9"/>
          <p:cNvSpPr txBox="1"/>
          <p:nvPr/>
        </p:nvSpPr>
        <p:spPr>
          <a:xfrm>
            <a:off x="804672"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NAV in one line, and Rules 2a-4, 2a-5 and 22c-1</a:t>
            </a:r>
          </a:p>
        </p:txBody>
      </p:sp>
      <p:sp>
        <p:nvSpPr>
          <p:cNvPr id="11" name="TextBox 10"/>
          <p:cNvSpPr txBox="1"/>
          <p:nvPr/>
        </p:nvSpPr>
        <p:spPr>
          <a:xfrm>
            <a:off x="804672"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six blocks of the production day, in order</a:t>
            </a:r>
          </a:p>
        </p:txBody>
      </p:sp>
      <p:sp>
        <p:nvSpPr>
          <p:cNvPr id="12" name="TextBox 11"/>
          <p:cNvSpPr txBox="1"/>
          <p:nvPr/>
        </p:nvSpPr>
        <p:spPr>
          <a:xfrm>
            <a:off x="804672"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Five exception checks, and which fault hides best</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47088"/>
            <a:ext cx="3108960" cy="274320"/>
          </a:xfrm>
          <a:prstGeom prst="rect">
            <a:avLst/>
          </a:prstGeom>
          <a:noFill/>
        </p:spPr>
        <p:txBody>
          <a:bodyPr wrap="square" anchor="t" lIns="0" rIns="0" tIns="0" bIns="0">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The architecture</a:t>
            </a:r>
          </a:p>
        </p:txBody>
      </p:sp>
      <p:sp>
        <p:nvSpPr>
          <p:cNvPr id="17" name="TextBox 16"/>
          <p:cNvSpPr txBox="1"/>
          <p:nvPr/>
        </p:nvSpPr>
        <p:spPr>
          <a:xfrm>
            <a:off x="4572000"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Seven boxes from holdings file to distribution</a:t>
            </a:r>
          </a:p>
        </p:txBody>
      </p:sp>
      <p:sp>
        <p:nvSpPr>
          <p:cNvPr id="18" name="TextBox 17"/>
          <p:cNvSpPr txBox="1"/>
          <p:nvPr/>
        </p:nvSpPr>
        <p:spPr>
          <a:xfrm>
            <a:off x="4572000"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wall between the review and the commentary</a:t>
            </a:r>
          </a:p>
        </p:txBody>
      </p:sp>
      <p:sp>
        <p:nvSpPr>
          <p:cNvPr id="19" name="TextBox 18"/>
          <p:cNvSpPr txBox="1"/>
          <p:nvPr/>
        </p:nvSpPr>
        <p:spPr>
          <a:xfrm>
            <a:off x="4572000"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Where the model may read, and where it may never write</a:t>
            </a:r>
          </a:p>
        </p:txBody>
      </p:sp>
      <p:sp>
        <p:nvSpPr>
          <p:cNvPr id="20" name="TextBox 19"/>
          <p:cNvSpPr txBox="1"/>
          <p:nvPr/>
        </p:nvSpPr>
        <p:spPr>
          <a:xfrm>
            <a:off x="4572000"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Eight build steps, in the order you do them</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47088"/>
            <a:ext cx="3108960" cy="274320"/>
          </a:xfrm>
          <a:prstGeom prst="rect">
            <a:avLst/>
          </a:prstGeom>
          <a:noFill/>
        </p:spPr>
        <p:txBody>
          <a:bodyPr wrap="square" anchor="t" lIns="0" rIns="0" tIns="0" bIns="0">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Build it</a:t>
            </a:r>
          </a:p>
        </p:txBody>
      </p:sp>
      <p:sp>
        <p:nvSpPr>
          <p:cNvPr id="25" name="TextBox 24"/>
          <p:cNvSpPr txBox="1"/>
          <p:nvPr/>
        </p:nvSpPr>
        <p:spPr>
          <a:xfrm>
            <a:off x="8339327" y="2743200"/>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 NAV engine on a five-holding US equity fund</a:t>
            </a:r>
          </a:p>
        </p:txBody>
      </p:sp>
      <p:sp>
        <p:nvSpPr>
          <p:cNvPr id="26" name="TextBox 25"/>
          <p:cNvSpPr txBox="1"/>
          <p:nvPr/>
        </p:nvSpPr>
        <p:spPr>
          <a:xfrm>
            <a:off x="8339327" y="3218688"/>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Run it clean, then inject a missing price and a stale date</a:t>
            </a:r>
          </a:p>
        </p:txBody>
      </p:sp>
      <p:sp>
        <p:nvSpPr>
          <p:cNvPr id="27" name="TextBox 26"/>
          <p:cNvSpPr txBox="1"/>
          <p:nvPr/>
        </p:nvSpPr>
        <p:spPr>
          <a:xfrm>
            <a:off x="8339327" y="3694176"/>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Ask a model for the commentary and check every number</a:t>
            </a:r>
          </a:p>
        </p:txBody>
      </p:sp>
      <p:sp>
        <p:nvSpPr>
          <p:cNvPr id="28" name="TextBox 27"/>
          <p:cNvSpPr txBox="1"/>
          <p:nvPr/>
        </p:nvSpPr>
        <p:spPr>
          <a:xfrm>
            <a:off x="8339327" y="4169664"/>
            <a:ext cx="3108960" cy="457200"/>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Triage a twenty-line exception list into three buckets</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603504"/>
          </a:xfrm>
          <a:prstGeom prst="rect">
            <a:avLst/>
          </a:prstGeom>
          <a:noFill/>
        </p:spPr>
        <p:txBody>
          <a:bodyPr wrap="square" anchor="ctr" lIns="0" rIns="0" tIns="0" bIns="0">
            <a:spAutoFit/>
          </a:bodyPr>
          <a:lstStyle/>
          <a:p>
            <a:pPr algn="l"/>
            <a:r>
              <a:rPr sz="1100" b="1">
                <a:solidFill>
                  <a:srgbClr val="3A5C9E"/>
                </a:solidFill>
              </a:rPr>
              <a:t>THE ENGINE IS NOT THE DELIVERABLE.</a:t>
            </a:r>
            <a:r>
              <a:rPr sz="1100" b="0">
                <a:solidFill>
                  <a:srgbClr val="1B2A41"/>
                </a:solidFill>
              </a:rPr>
              <a:t>The exception list is. A NAV engine will always produce a number, and the checks are what stop the wrong one leaving.</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whole module in one line:</a:t>
            </a:r>
            <a:r>
              <a:rPr sz="1200" b="0">
                <a:solidFill>
                  <a:srgbClr val="FFFFFF"/>
                </a:solidFill>
              </a:rPr>
              <a:t>somebody independent produces the number, and a machine proves it was checked before anyone traded on it.</a:t>
            </a:r>
          </a:p>
        </p:txBody>
      </p:sp>
      <p:sp>
        <p:nvSpPr>
          <p:cNvPr id="35" name="TextBox 3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NUMBER</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One subtraction and one division</a:t>
            </a:r>
          </a:p>
        </p:txBody>
      </p:sp>
      <p:sp>
        <p:nvSpPr>
          <p:cNvPr id="5" name="Rectangle 4"/>
          <p:cNvSpPr/>
          <p:nvPr/>
        </p:nvSpPr>
        <p:spPr>
          <a:xfrm>
            <a:off x="548640" y="1444752"/>
            <a:ext cx="11091672" cy="7863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44752"/>
            <a:ext cx="64008" cy="7863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44752"/>
            <a:ext cx="10515600" cy="786384"/>
          </a:xfrm>
          <a:prstGeom prst="rect">
            <a:avLst/>
          </a:prstGeom>
          <a:noFill/>
        </p:spPr>
        <p:txBody>
          <a:bodyPr wrap="square" anchor="ctr" lIns="0" rIns="0" tIns="0" bIns="0">
            <a:spAutoFit/>
          </a:bodyPr>
          <a:lstStyle/>
          <a:p>
            <a:pPr algn="l"/>
            <a:r>
              <a:rPr sz="1700" b="1">
                <a:solidFill>
                  <a:srgbClr val="C9A227"/>
                </a:solidFill>
                <a:latin typeface="Georgia"/>
              </a:rPr>
              <a:t>NAV PER SHARE  =  (TOTAL ASSETS  −  TOTAL LIABILITIES)  ÷  SHARES OUTSTANDING</a:t>
            </a:r>
          </a:p>
        </p:txBody>
      </p:sp>
      <p:sp>
        <p:nvSpPr>
          <p:cNvPr id="8" name="Rectangle 7"/>
          <p:cNvSpPr/>
          <p:nvPr/>
        </p:nvSpPr>
        <p:spPr>
          <a:xfrm>
            <a:off x="548640" y="2395728"/>
            <a:ext cx="3611880"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70048"/>
            <a:ext cx="3099816" cy="274320"/>
          </a:xfrm>
          <a:prstGeom prst="rect">
            <a:avLst/>
          </a:prstGeom>
          <a:noFill/>
        </p:spPr>
        <p:txBody>
          <a:bodyPr wrap="square" anchor="t" lIns="0" rIns="0" tIns="0" bIns="0">
            <a:spAutoFit/>
          </a:bodyPr>
          <a:lstStyle/>
          <a:p>
            <a:pPr algn="l"/>
            <a:r>
              <a:rPr sz="950" b="1">
                <a:solidFill>
                  <a:srgbClr val="3A5C9E"/>
                </a:solidFill>
              </a:rPr>
              <a:t>TOTAL ASSETS</a:t>
            </a:r>
          </a:p>
        </p:txBody>
      </p:sp>
      <p:sp>
        <p:nvSpPr>
          <p:cNvPr id="10" name="TextBox 9"/>
          <p:cNvSpPr txBox="1"/>
          <p:nvPr/>
        </p:nvSpPr>
        <p:spPr>
          <a:xfrm>
            <a:off x="804672" y="2999232"/>
            <a:ext cx="3099816" cy="411480"/>
          </a:xfrm>
          <a:prstGeom prst="rect">
            <a:avLst/>
          </a:prstGeom>
          <a:noFill/>
        </p:spPr>
        <p:txBody>
          <a:bodyPr wrap="square" anchor="t" lIns="0" rIns="0" tIns="0" bIns="0">
            <a:spAutoFit/>
          </a:bodyPr>
          <a:lstStyle/>
          <a:p>
            <a:pPr algn="l"/>
            <a:r>
              <a:rPr sz="1700" b="1">
                <a:solidFill>
                  <a:srgbClr val="0F2145"/>
                </a:solidFill>
                <a:latin typeface="Georgia"/>
              </a:rPr>
              <a:t>What the fund owns tonight</a:t>
            </a:r>
          </a:p>
        </p:txBody>
      </p:sp>
      <p:sp>
        <p:nvSpPr>
          <p:cNvPr id="11" name="TextBox 10"/>
          <p:cNvSpPr txBox="1"/>
          <p:nvPr/>
        </p:nvSpPr>
        <p:spPr>
          <a:xfrm>
            <a:off x="804672" y="3493008"/>
            <a:ext cx="3099816"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Securities at their current value</a:t>
            </a:r>
          </a:p>
        </p:txBody>
      </p:sp>
      <p:sp>
        <p:nvSpPr>
          <p:cNvPr id="12" name="TextBox 11"/>
          <p:cNvSpPr txBox="1"/>
          <p:nvPr/>
        </p:nvSpPr>
        <p:spPr>
          <a:xfrm>
            <a:off x="804672" y="4005072"/>
            <a:ext cx="3099816"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Cash at the custodian</a:t>
            </a:r>
          </a:p>
        </p:txBody>
      </p:sp>
      <p:sp>
        <p:nvSpPr>
          <p:cNvPr id="13" name="TextBox 12"/>
          <p:cNvSpPr txBox="1"/>
          <p:nvPr/>
        </p:nvSpPr>
        <p:spPr>
          <a:xfrm>
            <a:off x="804672" y="4517136"/>
            <a:ext cx="3099816"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Anything the fund is owed, such as a dividend declared but not yet paid</a:t>
            </a:r>
          </a:p>
        </p:txBody>
      </p:sp>
      <p:sp>
        <p:nvSpPr>
          <p:cNvPr id="14" name="Rectangle 13"/>
          <p:cNvSpPr/>
          <p:nvPr/>
        </p:nvSpPr>
        <p:spPr>
          <a:xfrm>
            <a:off x="548640" y="239572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395728"/>
            <a:ext cx="3611880"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670048"/>
            <a:ext cx="3099816" cy="274320"/>
          </a:xfrm>
          <a:prstGeom prst="rect">
            <a:avLst/>
          </a:prstGeom>
          <a:noFill/>
        </p:spPr>
        <p:txBody>
          <a:bodyPr wrap="square" anchor="t" lIns="0" rIns="0" tIns="0" bIns="0">
            <a:spAutoFit/>
          </a:bodyPr>
          <a:lstStyle/>
          <a:p>
            <a:pPr algn="l"/>
            <a:r>
              <a:rPr sz="950" b="1">
                <a:solidFill>
                  <a:srgbClr val="3A5C9E"/>
                </a:solidFill>
              </a:rPr>
              <a:t>TOTAL LIABILITIES</a:t>
            </a:r>
          </a:p>
        </p:txBody>
      </p:sp>
      <p:sp>
        <p:nvSpPr>
          <p:cNvPr id="17" name="TextBox 16"/>
          <p:cNvSpPr txBox="1"/>
          <p:nvPr/>
        </p:nvSpPr>
        <p:spPr>
          <a:xfrm>
            <a:off x="4572000" y="2999232"/>
            <a:ext cx="3099816" cy="411480"/>
          </a:xfrm>
          <a:prstGeom prst="rect">
            <a:avLst/>
          </a:prstGeom>
          <a:noFill/>
        </p:spPr>
        <p:txBody>
          <a:bodyPr wrap="square" anchor="t" lIns="0" rIns="0" tIns="0" bIns="0">
            <a:spAutoFit/>
          </a:bodyPr>
          <a:lstStyle/>
          <a:p>
            <a:pPr algn="l"/>
            <a:r>
              <a:rPr sz="1700" b="1">
                <a:solidFill>
                  <a:srgbClr val="0F2145"/>
                </a:solidFill>
                <a:latin typeface="Georgia"/>
              </a:rPr>
              <a:t>The three people forget</a:t>
            </a:r>
          </a:p>
        </p:txBody>
      </p:sp>
      <p:sp>
        <p:nvSpPr>
          <p:cNvPr id="18" name="TextBox 17"/>
          <p:cNvSpPr txBox="1"/>
          <p:nvPr/>
        </p:nvSpPr>
        <p:spPr>
          <a:xfrm>
            <a:off x="4572000" y="3493008"/>
            <a:ext cx="3099816"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The management fee accrued for the day</a:t>
            </a:r>
          </a:p>
        </p:txBody>
      </p:sp>
      <p:sp>
        <p:nvSpPr>
          <p:cNvPr id="19" name="TextBox 18"/>
          <p:cNvSpPr txBox="1"/>
          <p:nvPr/>
        </p:nvSpPr>
        <p:spPr>
          <a:xfrm>
            <a:off x="4572000" y="4005072"/>
            <a:ext cx="3099816"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Other accrued expenses, audit fees among them</a:t>
            </a:r>
          </a:p>
        </p:txBody>
      </p:sp>
      <p:sp>
        <p:nvSpPr>
          <p:cNvPr id="20" name="TextBox 19"/>
          <p:cNvSpPr txBox="1"/>
          <p:nvPr/>
        </p:nvSpPr>
        <p:spPr>
          <a:xfrm>
            <a:off x="4572000" y="4517136"/>
            <a:ext cx="3099816"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1B2A41"/>
                </a:solidFill>
              </a:rPr>
              <a:t>Redemptions payable to investors who sold but have not been paid</a:t>
            </a:r>
          </a:p>
        </p:txBody>
      </p:sp>
      <p:sp>
        <p:nvSpPr>
          <p:cNvPr id="21" name="Rectangle 20"/>
          <p:cNvSpPr/>
          <p:nvPr/>
        </p:nvSpPr>
        <p:spPr>
          <a:xfrm>
            <a:off x="4315968" y="239572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2395728"/>
            <a:ext cx="3557016" cy="201168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2670048"/>
            <a:ext cx="3044952" cy="274320"/>
          </a:xfrm>
          <a:prstGeom prst="rect">
            <a:avLst/>
          </a:prstGeom>
          <a:noFill/>
        </p:spPr>
        <p:txBody>
          <a:bodyPr wrap="square" anchor="t" lIns="0" rIns="0" tIns="0" bIns="0">
            <a:spAutoFit/>
          </a:bodyPr>
          <a:lstStyle/>
          <a:p>
            <a:pPr algn="l"/>
            <a:r>
              <a:rPr sz="950" b="1">
                <a:solidFill>
                  <a:srgbClr val="C9A227"/>
                </a:solidFill>
              </a:rPr>
              <a:t>SHARES OUTSTANDING</a:t>
            </a:r>
          </a:p>
        </p:txBody>
      </p:sp>
      <p:sp>
        <p:nvSpPr>
          <p:cNvPr id="24" name="TextBox 23"/>
          <p:cNvSpPr txBox="1"/>
          <p:nvPr/>
        </p:nvSpPr>
        <p:spPr>
          <a:xfrm>
            <a:off x="8339327" y="2999232"/>
            <a:ext cx="3044952" cy="411480"/>
          </a:xfrm>
          <a:prstGeom prst="rect">
            <a:avLst/>
          </a:prstGeom>
          <a:noFill/>
        </p:spPr>
        <p:txBody>
          <a:bodyPr wrap="square" anchor="t" lIns="0" rIns="0" tIns="0" bIns="0">
            <a:spAutoFit/>
          </a:bodyPr>
          <a:lstStyle/>
          <a:p>
            <a:pPr algn="l"/>
            <a:r>
              <a:rPr sz="1700" b="1">
                <a:solidFill>
                  <a:srgbClr val="FFFFFF"/>
                </a:solidFill>
                <a:latin typeface="Georgia"/>
              </a:rPr>
              <a:t>From the register, not the ledger</a:t>
            </a:r>
          </a:p>
        </p:txBody>
      </p:sp>
      <p:sp>
        <p:nvSpPr>
          <p:cNvPr id="25" name="TextBox 24"/>
          <p:cNvSpPr txBox="1"/>
          <p:nvPr/>
        </p:nvSpPr>
        <p:spPr>
          <a:xfrm>
            <a:off x="8339327" y="3493008"/>
            <a:ext cx="3044952"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The transfer agent's count of shares in issue at the close</a:t>
            </a:r>
          </a:p>
        </p:txBody>
      </p:sp>
      <p:sp>
        <p:nvSpPr>
          <p:cNvPr id="26" name="TextBox 25"/>
          <p:cNvSpPr txBox="1"/>
          <p:nvPr/>
        </p:nvSpPr>
        <p:spPr>
          <a:xfrm>
            <a:off x="8339327" y="4005072"/>
            <a:ext cx="3044952"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It changes every day that anyone subscribes or redeems</a:t>
            </a:r>
          </a:p>
        </p:txBody>
      </p:sp>
      <p:sp>
        <p:nvSpPr>
          <p:cNvPr id="27" name="TextBox 26"/>
          <p:cNvSpPr txBox="1"/>
          <p:nvPr/>
        </p:nvSpPr>
        <p:spPr>
          <a:xfrm>
            <a:off x="8339327" y="4517136"/>
            <a:ext cx="3044952" cy="493776"/>
          </a:xfrm>
          <a:prstGeom prst="rect">
            <a:avLst/>
          </a:prstGeom>
          <a:noFill/>
        </p:spPr>
        <p:txBody>
          <a:bodyPr wrap="square" anchor="t" lIns="0" rIns="0" tIns="0" bIns="0">
            <a:spAutoFit/>
          </a:bodyPr>
          <a:lstStyle/>
          <a:p>
            <a:pPr algn="l"/>
            <a:r>
              <a:rPr sz="1000" b="1">
                <a:solidFill>
                  <a:srgbClr val="C9A227"/>
                </a:solidFill>
              </a:rPr>
              <a:t>▪</a:t>
            </a:r>
            <a:r>
              <a:rPr sz="1000" b="0">
                <a:solidFill>
                  <a:srgbClr val="C9D6EE"/>
                </a:solidFill>
              </a:rPr>
              <a:t>A stale share count produces a clean-looking NAV that is wrong</a:t>
            </a:r>
          </a:p>
        </p:txBody>
      </p:sp>
      <p:sp>
        <p:nvSpPr>
          <p:cNvPr id="28" name="Rectangle 27"/>
          <p:cNvSpPr/>
          <p:nvPr/>
        </p:nvSpPr>
        <p:spPr>
          <a:xfrm>
            <a:off x="548640" y="4535424"/>
            <a:ext cx="11091672" cy="10607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535424"/>
            <a:ext cx="64008" cy="10607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663440"/>
            <a:ext cx="10515600" cy="841247"/>
          </a:xfrm>
          <a:prstGeom prst="rect">
            <a:avLst/>
          </a:prstGeom>
          <a:noFill/>
        </p:spPr>
        <p:txBody>
          <a:bodyPr wrap="square" anchor="t" lIns="0" rIns="0" tIns="0" bIns="0">
            <a:spAutoFit/>
          </a:bodyPr>
          <a:lstStyle/>
          <a:p>
            <a:pPr algn="l"/>
            <a:r>
              <a:rPr sz="950" b="1">
                <a:solidFill>
                  <a:srgbClr val="3A5C9E"/>
                </a:solidFill>
              </a:rPr>
              <a:t>THREE RULES UNDER THE INVESTMENT COMPANY ACT OF 1940</a:t>
            </a:r>
          </a:p>
          <a:p>
            <a:pPr algn="l">
              <a:spcBef>
                <a:spcPts val="400"/>
              </a:spcBef>
            </a:pPr>
            <a:r>
              <a:rPr sz="1100" b="0">
                <a:solidFill>
                  <a:srgbClr val="1B2A41"/>
                </a:solidFill>
              </a:rPr>
              <a:t>Rule 2a-4 says securities are valued at market value where quotations are readily available, and at fair value in good faith where they are not. Rule 2a-5 lets the board designate a valuation designee, usually the adviser, for fair value determinations under board oversight. Rule 22c-1 is forward pricing: an investor gets the next NAV computed after the order arrives, not the last one published. That last rule is why the daily NAV has to be right and on time. Every order in the queue is waiting for it.</a:t>
            </a:r>
          </a:p>
        </p:txBody>
      </p:sp>
      <p:sp>
        <p:nvSpPr>
          <p:cNvPr id="31" name="Rectangle 30"/>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Madoff lesson in one line:</a:t>
            </a:r>
            <a:r>
              <a:rPr sz="1200" b="0">
                <a:solidFill>
                  <a:srgbClr val="FFFFFF"/>
                </a:solidFill>
              </a:rPr>
              <a:t>his firm managed the money, held the assets and computed the value. Nobody independent ever produced the number.</a:t>
            </a:r>
          </a:p>
        </p:txBody>
      </p:sp>
      <p:sp>
        <p:nvSpPr>
          <p:cNvPr id="34" name="TextBox 33"/>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5" name="TextBox 34"/>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PRODUCTION DAY</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Six blocks, and each one can break the next</a:t>
            </a:r>
          </a:p>
        </p:txBody>
      </p:sp>
      <p:sp>
        <p:nvSpPr>
          <p:cNvPr id="5" name="Rectangle 4"/>
          <p:cNvSpPr/>
          <p:nvPr/>
        </p:nvSpPr>
        <p:spPr>
          <a:xfrm>
            <a:off x="548640" y="1554480"/>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9928"/>
            <a:ext cx="2468880" cy="292608"/>
          </a:xfrm>
          <a:prstGeom prst="rect">
            <a:avLst/>
          </a:prstGeom>
          <a:noFill/>
        </p:spPr>
        <p:txBody>
          <a:bodyPr wrap="square" anchor="t" lIns="0" rIns="0" tIns="0" bIns="0">
            <a:spAutoFit/>
          </a:bodyPr>
          <a:lstStyle/>
          <a:p>
            <a:pPr algn="l"/>
            <a:r>
              <a:rPr sz="1050" b="1">
                <a:solidFill>
                  <a:srgbClr val="3A5C9E"/>
                </a:solidFill>
              </a:rPr>
              <a:t>1  TRADE CAPTURE</a:t>
            </a:r>
          </a:p>
        </p:txBody>
      </p:sp>
      <p:sp>
        <p:nvSpPr>
          <p:cNvPr id="8" name="TextBox 7"/>
          <p:cNvSpPr txBox="1"/>
          <p:nvPr/>
        </p:nvSpPr>
        <p:spPr>
          <a:xfrm>
            <a:off x="3383280" y="1691639"/>
            <a:ext cx="8001000" cy="457200"/>
          </a:xfrm>
          <a:prstGeom prst="rect">
            <a:avLst/>
          </a:prstGeom>
          <a:noFill/>
        </p:spPr>
        <p:txBody>
          <a:bodyPr wrap="square" anchor="t" lIns="0" rIns="0" tIns="0" bIns="0">
            <a:spAutoFit/>
          </a:bodyPr>
          <a:lstStyle/>
          <a:p>
            <a:pPr algn="l"/>
            <a:r>
              <a:rPr sz="1000" b="0">
                <a:solidFill>
                  <a:srgbClr val="1B2A41"/>
                </a:solidFill>
              </a:rPr>
              <a:t>Every buy and sell is booked, and the manager's file is matched to the custodian's confirmation. An unmatched trade is the first exception of the day.</a:t>
            </a:r>
          </a:p>
        </p:txBody>
      </p:sp>
      <p:sp>
        <p:nvSpPr>
          <p:cNvPr id="9" name="Rectangle 8"/>
          <p:cNvSpPr/>
          <p:nvPr/>
        </p:nvSpPr>
        <p:spPr>
          <a:xfrm>
            <a:off x="548640" y="2212848"/>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12848"/>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368296"/>
            <a:ext cx="2468880" cy="292608"/>
          </a:xfrm>
          <a:prstGeom prst="rect">
            <a:avLst/>
          </a:prstGeom>
          <a:noFill/>
        </p:spPr>
        <p:txBody>
          <a:bodyPr wrap="square" anchor="t" lIns="0" rIns="0" tIns="0" bIns="0">
            <a:spAutoFit/>
          </a:bodyPr>
          <a:lstStyle/>
          <a:p>
            <a:pPr algn="l"/>
            <a:r>
              <a:rPr sz="1050" b="1">
                <a:solidFill>
                  <a:srgbClr val="3A5C9E"/>
                </a:solidFill>
              </a:rPr>
              <a:t>2  CORPORATE ACTIONS</a:t>
            </a:r>
          </a:p>
        </p:txBody>
      </p:sp>
      <p:sp>
        <p:nvSpPr>
          <p:cNvPr id="12" name="TextBox 11"/>
          <p:cNvSpPr txBox="1"/>
          <p:nvPr/>
        </p:nvSpPr>
        <p:spPr>
          <a:xfrm>
            <a:off x="3383280" y="2350008"/>
            <a:ext cx="8001000" cy="457200"/>
          </a:xfrm>
          <a:prstGeom prst="rect">
            <a:avLst/>
          </a:prstGeom>
          <a:noFill/>
        </p:spPr>
        <p:txBody>
          <a:bodyPr wrap="square" anchor="t" lIns="0" rIns="0" tIns="0" bIns="0">
            <a:spAutoFit/>
          </a:bodyPr>
          <a:lstStyle/>
          <a:p>
            <a:pPr algn="l"/>
            <a:r>
              <a:rPr sz="1000" b="0">
                <a:solidFill>
                  <a:srgbClr val="1B2A41"/>
                </a:solidFill>
              </a:rPr>
              <a:t>Dividends, splits and cash mergers change the book before a single price is applied. The dates decide everything: the receivable is booked on the ex-date.</a:t>
            </a:r>
          </a:p>
        </p:txBody>
      </p:sp>
      <p:sp>
        <p:nvSpPr>
          <p:cNvPr id="13" name="Rectangle 12"/>
          <p:cNvSpPr/>
          <p:nvPr/>
        </p:nvSpPr>
        <p:spPr>
          <a:xfrm>
            <a:off x="548640" y="2871215"/>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871215"/>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026663"/>
            <a:ext cx="2468880" cy="292608"/>
          </a:xfrm>
          <a:prstGeom prst="rect">
            <a:avLst/>
          </a:prstGeom>
          <a:noFill/>
        </p:spPr>
        <p:txBody>
          <a:bodyPr wrap="square" anchor="t" lIns="0" rIns="0" tIns="0" bIns="0">
            <a:spAutoFit/>
          </a:bodyPr>
          <a:lstStyle/>
          <a:p>
            <a:pPr algn="l"/>
            <a:r>
              <a:rPr sz="1050" b="1">
                <a:solidFill>
                  <a:srgbClr val="3A5C9E"/>
                </a:solidFill>
              </a:rPr>
              <a:t>3  PRICING</a:t>
            </a:r>
          </a:p>
        </p:txBody>
      </p:sp>
      <p:sp>
        <p:nvSpPr>
          <p:cNvPr id="16" name="TextBox 15"/>
          <p:cNvSpPr txBox="1"/>
          <p:nvPr/>
        </p:nvSpPr>
        <p:spPr>
          <a:xfrm>
            <a:off x="3383280" y="3008375"/>
            <a:ext cx="8001000" cy="457200"/>
          </a:xfrm>
          <a:prstGeom prst="rect">
            <a:avLst/>
          </a:prstGeom>
          <a:noFill/>
        </p:spPr>
        <p:txBody>
          <a:bodyPr wrap="square" anchor="t" lIns="0" rIns="0" tIns="0" bIns="0">
            <a:spAutoFit/>
          </a:bodyPr>
          <a:lstStyle/>
          <a:p>
            <a:pPr algn="l"/>
            <a:r>
              <a:rPr sz="1000" b="0">
                <a:solidFill>
                  <a:srgbClr val="1B2A41"/>
                </a:solidFill>
              </a:rPr>
              <a:t>At the close the administrator pulls a price for every holding. US listed equities are Level 1. Bonds are usually Level 2. Private holdings are Level 3.</a:t>
            </a:r>
          </a:p>
        </p:txBody>
      </p:sp>
      <p:sp>
        <p:nvSpPr>
          <p:cNvPr id="17" name="Rectangle 16"/>
          <p:cNvSpPr/>
          <p:nvPr/>
        </p:nvSpPr>
        <p:spPr>
          <a:xfrm>
            <a:off x="548640" y="3529583"/>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29583"/>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685031"/>
            <a:ext cx="2468880" cy="292608"/>
          </a:xfrm>
          <a:prstGeom prst="rect">
            <a:avLst/>
          </a:prstGeom>
          <a:noFill/>
        </p:spPr>
        <p:txBody>
          <a:bodyPr wrap="square" anchor="t" lIns="0" rIns="0" tIns="0" bIns="0">
            <a:spAutoFit/>
          </a:bodyPr>
          <a:lstStyle/>
          <a:p>
            <a:pPr algn="l"/>
            <a:r>
              <a:rPr sz="1050" b="1">
                <a:solidFill>
                  <a:srgbClr val="3A5C9E"/>
                </a:solidFill>
              </a:rPr>
              <a:t>4  ACCRUALS</a:t>
            </a:r>
          </a:p>
        </p:txBody>
      </p:sp>
      <p:sp>
        <p:nvSpPr>
          <p:cNvPr id="20" name="TextBox 19"/>
          <p:cNvSpPr txBox="1"/>
          <p:nvPr/>
        </p:nvSpPr>
        <p:spPr>
          <a:xfrm>
            <a:off x="3383280" y="3666744"/>
            <a:ext cx="8001000" cy="457200"/>
          </a:xfrm>
          <a:prstGeom prst="rect">
            <a:avLst/>
          </a:prstGeom>
          <a:noFill/>
        </p:spPr>
        <p:txBody>
          <a:bodyPr wrap="square" anchor="t" lIns="0" rIns="0" tIns="0" bIns="0">
            <a:spAutoFit/>
          </a:bodyPr>
          <a:lstStyle/>
          <a:p>
            <a:pPr algn="l"/>
            <a:r>
              <a:rPr sz="1000" b="0">
                <a:solidFill>
                  <a:srgbClr val="1B2A41"/>
                </a:solidFill>
              </a:rPr>
              <a:t>The day's share of the management fee is added to liabilities. Interest is added to income. Known but unpaid expenses are accrued.</a:t>
            </a:r>
          </a:p>
        </p:txBody>
      </p:sp>
      <p:sp>
        <p:nvSpPr>
          <p:cNvPr id="21" name="Rectangle 20"/>
          <p:cNvSpPr/>
          <p:nvPr/>
        </p:nvSpPr>
        <p:spPr>
          <a:xfrm>
            <a:off x="548640" y="4187951"/>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187951"/>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343399"/>
            <a:ext cx="2468880" cy="292608"/>
          </a:xfrm>
          <a:prstGeom prst="rect">
            <a:avLst/>
          </a:prstGeom>
          <a:noFill/>
        </p:spPr>
        <p:txBody>
          <a:bodyPr wrap="square" anchor="t" lIns="0" rIns="0" tIns="0" bIns="0">
            <a:spAutoFit/>
          </a:bodyPr>
          <a:lstStyle/>
          <a:p>
            <a:pPr algn="l"/>
            <a:r>
              <a:rPr sz="1050" b="1">
                <a:solidFill>
                  <a:srgbClr val="3A5C9E"/>
                </a:solidFill>
              </a:rPr>
              <a:t>5  CALCULATION AND CHECK</a:t>
            </a:r>
          </a:p>
        </p:txBody>
      </p:sp>
      <p:sp>
        <p:nvSpPr>
          <p:cNvPr id="24" name="TextBox 23"/>
          <p:cNvSpPr txBox="1"/>
          <p:nvPr/>
        </p:nvSpPr>
        <p:spPr>
          <a:xfrm>
            <a:off x="3383280" y="4325112"/>
            <a:ext cx="8001000" cy="457200"/>
          </a:xfrm>
          <a:prstGeom prst="rect">
            <a:avLst/>
          </a:prstGeom>
          <a:noFill/>
        </p:spPr>
        <p:txBody>
          <a:bodyPr wrap="square" anchor="t" lIns="0" rIns="0" tIns="0" bIns="0">
            <a:spAutoFit/>
          </a:bodyPr>
          <a:lstStyle/>
          <a:p>
            <a:pPr algn="l"/>
            <a:r>
              <a:rPr sz="1000" b="0">
                <a:solidFill>
                  <a:srgbClr val="1B2A41"/>
                </a:solidFill>
              </a:rPr>
              <a:t>The engine computes the number. A second person reviews it before release. The industry calls this the four-eyes check.</a:t>
            </a:r>
          </a:p>
        </p:txBody>
      </p:sp>
      <p:sp>
        <p:nvSpPr>
          <p:cNvPr id="25" name="Rectangle 24"/>
          <p:cNvSpPr/>
          <p:nvPr/>
        </p:nvSpPr>
        <p:spPr>
          <a:xfrm>
            <a:off x="548640" y="4846319"/>
            <a:ext cx="11091672"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846319"/>
            <a:ext cx="54864"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001767"/>
            <a:ext cx="2468880" cy="292608"/>
          </a:xfrm>
          <a:prstGeom prst="rect">
            <a:avLst/>
          </a:prstGeom>
          <a:noFill/>
        </p:spPr>
        <p:txBody>
          <a:bodyPr wrap="square" anchor="t" lIns="0" rIns="0" tIns="0" bIns="0">
            <a:spAutoFit/>
          </a:bodyPr>
          <a:lstStyle/>
          <a:p>
            <a:pPr algn="l"/>
            <a:r>
              <a:rPr sz="1050" b="1">
                <a:solidFill>
                  <a:srgbClr val="3A5C9E"/>
                </a:solidFill>
              </a:rPr>
              <a:t>6  REPORTING</a:t>
            </a:r>
          </a:p>
        </p:txBody>
      </p:sp>
      <p:sp>
        <p:nvSpPr>
          <p:cNvPr id="28" name="TextBox 27"/>
          <p:cNvSpPr txBox="1"/>
          <p:nvPr/>
        </p:nvSpPr>
        <p:spPr>
          <a:xfrm>
            <a:off x="3383280" y="4983479"/>
            <a:ext cx="8001000" cy="457200"/>
          </a:xfrm>
          <a:prstGeom prst="rect">
            <a:avLst/>
          </a:prstGeom>
          <a:noFill/>
        </p:spPr>
        <p:txBody>
          <a:bodyPr wrap="square" anchor="t" lIns="0" rIns="0" tIns="0" bIns="0">
            <a:spAutoFit/>
          </a:bodyPr>
          <a:lstStyle/>
          <a:p>
            <a:pPr algn="l"/>
            <a:r>
              <a:rPr sz="1000" b="0">
                <a:solidFill>
                  <a:srgbClr val="1B2A41"/>
                </a:solidFill>
              </a:rPr>
              <a:t>The NAV goes to the transfer agent, who prices the day's orders with it, and to the public through data vendors. Form N-PORT goes to the SEC monthly.</a:t>
            </a:r>
          </a:p>
        </p:txBody>
      </p:sp>
      <p:sp>
        <p:nvSpPr>
          <p:cNvPr id="29" name="Rectangle 2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Book a corporate action on the wrong day and the check that catches it is not the price check:</a:t>
            </a:r>
            <a:r>
              <a:rPr sz="1200" b="0">
                <a:solidFill>
                  <a:srgbClr val="FFFFFF"/>
                </a:solidFill>
              </a:rPr>
              <a:t>every individual price was right. The NAV movement check is the one that fires.</a:t>
            </a:r>
          </a:p>
        </p:txBody>
      </p:sp>
      <p:sp>
        <p:nvSpPr>
          <p:cNvPr id="32" name="TextBox 31"/>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EXCEPTIONS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No administrator releases a NAV because the arithmetic ran</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They release it because it passed a set of tolerance checks, and every check that failed was explained by a human.</a:t>
            </a:r>
          </a:p>
        </p:txBody>
      </p:sp>
      <p:sp>
        <p:nvSpPr>
          <p:cNvPr id="6" name="Rectangle 5"/>
          <p:cNvSpPr/>
          <p:nvPr/>
        </p:nvSpPr>
        <p:spPr>
          <a:xfrm>
            <a:off x="548640"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700784" cy="402336"/>
          </a:xfrm>
          <a:prstGeom prst="rect">
            <a:avLst/>
          </a:prstGeom>
          <a:noFill/>
        </p:spPr>
        <p:txBody>
          <a:bodyPr wrap="square" anchor="t" lIns="0" rIns="0" tIns="0" bIns="0">
            <a:spAutoFit/>
          </a:bodyPr>
          <a:lstStyle/>
          <a:p>
            <a:pPr algn="l"/>
            <a:r>
              <a:rPr sz="1000" b="1">
                <a:solidFill>
                  <a:srgbClr val="3A5C9E"/>
                </a:solidFill>
              </a:rPr>
              <a:t>PRICE MOVEMENT</a:t>
            </a:r>
          </a:p>
        </p:txBody>
      </p:sp>
      <p:sp>
        <p:nvSpPr>
          <p:cNvPr id="9" name="TextBox 8"/>
          <p:cNvSpPr txBox="1"/>
          <p:nvPr/>
        </p:nvSpPr>
        <p:spPr>
          <a:xfrm>
            <a:off x="749808"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Moved more than 5% today</a:t>
            </a:r>
          </a:p>
        </p:txBody>
      </p:sp>
      <p:sp>
        <p:nvSpPr>
          <p:cNvPr id="10" name="TextBox 9"/>
          <p:cNvSpPr txBox="1"/>
          <p:nvPr/>
        </p:nvSpPr>
        <p:spPr>
          <a:xfrm>
            <a:off x="749808" y="2834640"/>
            <a:ext cx="1700784" cy="1188720"/>
          </a:xfrm>
          <a:prstGeom prst="rect">
            <a:avLst/>
          </a:prstGeom>
          <a:noFill/>
        </p:spPr>
        <p:txBody>
          <a:bodyPr wrap="square" anchor="t" lIns="0" rIns="0" tIns="0" bIns="0">
            <a:spAutoFit/>
          </a:bodyPr>
          <a:lstStyle/>
          <a:p>
            <a:pPr algn="l"/>
            <a:r>
              <a:rPr sz="900" b="0">
                <a:solidFill>
                  <a:srgbClr val="1B2A41"/>
                </a:solidFill>
              </a:rPr>
              <a:t>A large move can be real. It can also be a vendor error, a decimal shift, or a price for the wrong share class.</a:t>
            </a:r>
          </a:p>
        </p:txBody>
      </p:sp>
      <p:sp>
        <p:nvSpPr>
          <p:cNvPr id="11" name="Rectangle 10"/>
          <p:cNvSpPr/>
          <p:nvPr/>
        </p:nvSpPr>
        <p:spPr>
          <a:xfrm>
            <a:off x="2807208"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07208"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8376" y="2011680"/>
            <a:ext cx="1700784" cy="402336"/>
          </a:xfrm>
          <a:prstGeom prst="rect">
            <a:avLst/>
          </a:prstGeom>
          <a:noFill/>
        </p:spPr>
        <p:txBody>
          <a:bodyPr wrap="square" anchor="t" lIns="0" rIns="0" tIns="0" bIns="0">
            <a:spAutoFit/>
          </a:bodyPr>
          <a:lstStyle/>
          <a:p>
            <a:pPr algn="l"/>
            <a:r>
              <a:rPr sz="1000" b="1">
                <a:solidFill>
                  <a:srgbClr val="3A5C9E"/>
                </a:solidFill>
              </a:rPr>
              <a:t>MISSING PRICE</a:t>
            </a:r>
          </a:p>
        </p:txBody>
      </p:sp>
      <p:sp>
        <p:nvSpPr>
          <p:cNvPr id="14" name="TextBox 13"/>
          <p:cNvSpPr txBox="1"/>
          <p:nvPr/>
        </p:nvSpPr>
        <p:spPr>
          <a:xfrm>
            <a:off x="3008376"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No price at all</a:t>
            </a:r>
          </a:p>
        </p:txBody>
      </p:sp>
      <p:sp>
        <p:nvSpPr>
          <p:cNvPr id="15" name="TextBox 14"/>
          <p:cNvSpPr txBox="1"/>
          <p:nvPr/>
        </p:nvSpPr>
        <p:spPr>
          <a:xfrm>
            <a:off x="3008376" y="2834640"/>
            <a:ext cx="1700784" cy="1188720"/>
          </a:xfrm>
          <a:prstGeom prst="rect">
            <a:avLst/>
          </a:prstGeom>
          <a:noFill/>
        </p:spPr>
        <p:txBody>
          <a:bodyPr wrap="square" anchor="t" lIns="0" rIns="0" tIns="0" bIns="0">
            <a:spAutoFit/>
          </a:bodyPr>
          <a:lstStyle/>
          <a:p>
            <a:pPr algn="l"/>
            <a:r>
              <a:rPr sz="900" b="0">
                <a:solidFill>
                  <a:srgbClr val="1B2A41"/>
                </a:solidFill>
              </a:rPr>
              <a:t>An incomplete NAV must not be released. This one blocks on its own, and it is the easiest to see.</a:t>
            </a:r>
          </a:p>
        </p:txBody>
      </p:sp>
      <p:sp>
        <p:nvSpPr>
          <p:cNvPr id="16" name="Rectangle 15"/>
          <p:cNvSpPr/>
          <p:nvPr/>
        </p:nvSpPr>
        <p:spPr>
          <a:xfrm>
            <a:off x="5065776" y="1828800"/>
            <a:ext cx="2103120"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66944" y="2011680"/>
            <a:ext cx="1700784" cy="402336"/>
          </a:xfrm>
          <a:prstGeom prst="rect">
            <a:avLst/>
          </a:prstGeom>
          <a:noFill/>
        </p:spPr>
        <p:txBody>
          <a:bodyPr wrap="square" anchor="t" lIns="0" rIns="0" tIns="0" bIns="0">
            <a:spAutoFit/>
          </a:bodyPr>
          <a:lstStyle/>
          <a:p>
            <a:pPr algn="l"/>
            <a:r>
              <a:rPr sz="1000" b="1">
                <a:solidFill>
                  <a:srgbClr val="C9A227"/>
                </a:solidFill>
              </a:rPr>
              <a:t>STALE PRICE</a:t>
            </a:r>
          </a:p>
        </p:txBody>
      </p:sp>
      <p:sp>
        <p:nvSpPr>
          <p:cNvPr id="18" name="TextBox 17"/>
          <p:cNvSpPr txBox="1"/>
          <p:nvPr/>
        </p:nvSpPr>
        <p:spPr>
          <a:xfrm>
            <a:off x="5266944" y="2450592"/>
            <a:ext cx="1700784" cy="292608"/>
          </a:xfrm>
          <a:prstGeom prst="rect">
            <a:avLst/>
          </a:prstGeom>
          <a:noFill/>
        </p:spPr>
        <p:txBody>
          <a:bodyPr wrap="square" anchor="t" lIns="0" rIns="0" tIns="0" bIns="0">
            <a:spAutoFit/>
          </a:bodyPr>
          <a:lstStyle/>
          <a:p>
            <a:pPr algn="l"/>
            <a:r>
              <a:rPr sz="1150" b="1">
                <a:solidFill>
                  <a:srgbClr val="FFFFFF"/>
                </a:solidFill>
                <a:latin typeface="Georgia"/>
              </a:rPr>
              <a:t>Dated before the valuation date</a:t>
            </a:r>
          </a:p>
        </p:txBody>
      </p:sp>
      <p:sp>
        <p:nvSpPr>
          <p:cNvPr id="19" name="TextBox 18"/>
          <p:cNvSpPr txBox="1"/>
          <p:nvPr/>
        </p:nvSpPr>
        <p:spPr>
          <a:xfrm>
            <a:off x="5266944" y="2834640"/>
            <a:ext cx="1700784" cy="1188720"/>
          </a:xfrm>
          <a:prstGeom prst="rect">
            <a:avLst/>
          </a:prstGeom>
          <a:noFill/>
        </p:spPr>
        <p:txBody>
          <a:bodyPr wrap="square" anchor="t" lIns="0" rIns="0" tIns="0" bIns="0">
            <a:spAutoFit/>
          </a:bodyPr>
          <a:lstStyle/>
          <a:p>
            <a:pPr algn="l"/>
            <a:r>
              <a:rPr sz="900" b="0">
                <a:solidFill>
                  <a:srgbClr val="C9D6EE"/>
                </a:solidFill>
              </a:rPr>
              <a:t>A price that did not update. It looks like a normal number, so the engine must compare the date, not the value.</a:t>
            </a:r>
          </a:p>
        </p:txBody>
      </p:sp>
      <p:sp>
        <p:nvSpPr>
          <p:cNvPr id="20" name="Rectangle 19"/>
          <p:cNvSpPr/>
          <p:nvPr/>
        </p:nvSpPr>
        <p:spPr>
          <a:xfrm>
            <a:off x="7324344"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24344"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25512" y="2011680"/>
            <a:ext cx="1700784" cy="402336"/>
          </a:xfrm>
          <a:prstGeom prst="rect">
            <a:avLst/>
          </a:prstGeom>
          <a:noFill/>
        </p:spPr>
        <p:txBody>
          <a:bodyPr wrap="square" anchor="t" lIns="0" rIns="0" tIns="0" bIns="0">
            <a:spAutoFit/>
          </a:bodyPr>
          <a:lstStyle/>
          <a:p>
            <a:pPr algn="l"/>
            <a:r>
              <a:rPr sz="1000" b="1">
                <a:solidFill>
                  <a:srgbClr val="3A5C9E"/>
                </a:solidFill>
              </a:rPr>
              <a:t>NAV MOVEMENT</a:t>
            </a:r>
          </a:p>
        </p:txBody>
      </p:sp>
      <p:sp>
        <p:nvSpPr>
          <p:cNvPr id="23" name="TextBox 22"/>
          <p:cNvSpPr txBox="1"/>
          <p:nvPr/>
        </p:nvSpPr>
        <p:spPr>
          <a:xfrm>
            <a:off x="7525512"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Against the benchmark</a:t>
            </a:r>
          </a:p>
        </p:txBody>
      </p:sp>
      <p:sp>
        <p:nvSpPr>
          <p:cNvPr id="24" name="TextBox 23"/>
          <p:cNvSpPr txBox="1"/>
          <p:nvPr/>
        </p:nvSpPr>
        <p:spPr>
          <a:xfrm>
            <a:off x="7525512" y="2834640"/>
            <a:ext cx="1700784" cy="1188720"/>
          </a:xfrm>
          <a:prstGeom prst="rect">
            <a:avLst/>
          </a:prstGeom>
          <a:noFill/>
        </p:spPr>
        <p:txBody>
          <a:bodyPr wrap="square" anchor="t" lIns="0" rIns="0" tIns="0" bIns="0">
            <a:spAutoFit/>
          </a:bodyPr>
          <a:lstStyle/>
          <a:p>
            <a:pPr algn="l"/>
            <a:r>
              <a:rPr sz="900" b="0">
                <a:solidFill>
                  <a:srgbClr val="1B2A41"/>
                </a:solidFill>
              </a:rPr>
              <a:t>A fund tracking the S&amp;P 500 that moves 3% on a day the index moved half a point has something wrong in it.</a:t>
            </a:r>
          </a:p>
        </p:txBody>
      </p:sp>
      <p:sp>
        <p:nvSpPr>
          <p:cNvPr id="25" name="Rectangle 24"/>
          <p:cNvSpPr/>
          <p:nvPr/>
        </p:nvSpPr>
        <p:spPr>
          <a:xfrm>
            <a:off x="9582912" y="1828800"/>
            <a:ext cx="210312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82912" y="1828800"/>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0" y="2011680"/>
            <a:ext cx="1700784" cy="402336"/>
          </a:xfrm>
          <a:prstGeom prst="rect">
            <a:avLst/>
          </a:prstGeom>
          <a:noFill/>
        </p:spPr>
        <p:txBody>
          <a:bodyPr wrap="square" anchor="t" lIns="0" rIns="0" tIns="0" bIns="0">
            <a:spAutoFit/>
          </a:bodyPr>
          <a:lstStyle/>
          <a:p>
            <a:pPr algn="l"/>
            <a:r>
              <a:rPr sz="1000" b="1">
                <a:solidFill>
                  <a:srgbClr val="3A5C9E"/>
                </a:solidFill>
              </a:rPr>
              <a:t>RECONCILIATION</a:t>
            </a:r>
          </a:p>
        </p:txBody>
      </p:sp>
      <p:sp>
        <p:nvSpPr>
          <p:cNvPr id="28" name="TextBox 27"/>
          <p:cNvSpPr txBox="1"/>
          <p:nvPr/>
        </p:nvSpPr>
        <p:spPr>
          <a:xfrm>
            <a:off x="9784080" y="2450592"/>
            <a:ext cx="1700784" cy="292608"/>
          </a:xfrm>
          <a:prstGeom prst="rect">
            <a:avLst/>
          </a:prstGeom>
          <a:noFill/>
        </p:spPr>
        <p:txBody>
          <a:bodyPr wrap="square" anchor="t" lIns="0" rIns="0" tIns="0" bIns="0">
            <a:spAutoFit/>
          </a:bodyPr>
          <a:lstStyle/>
          <a:p>
            <a:pPr algn="l"/>
            <a:r>
              <a:rPr sz="1150" b="1">
                <a:solidFill>
                  <a:srgbClr val="0F2145"/>
                </a:solidFill>
                <a:latin typeface="Georgia"/>
              </a:rPr>
              <a:t>Administrator against custodian</a:t>
            </a:r>
          </a:p>
        </p:txBody>
      </p:sp>
      <p:sp>
        <p:nvSpPr>
          <p:cNvPr id="29" name="TextBox 28"/>
          <p:cNvSpPr txBox="1"/>
          <p:nvPr/>
        </p:nvSpPr>
        <p:spPr>
          <a:xfrm>
            <a:off x="9784080" y="2834640"/>
            <a:ext cx="1700784" cy="1188720"/>
          </a:xfrm>
          <a:prstGeom prst="rect">
            <a:avLst/>
          </a:prstGeom>
          <a:noFill/>
        </p:spPr>
        <p:txBody>
          <a:bodyPr wrap="square" anchor="t" lIns="0" rIns="0" tIns="0" bIns="0">
            <a:spAutoFit/>
          </a:bodyPr>
          <a:lstStyle/>
          <a:p>
            <a:pPr algn="l"/>
            <a:r>
              <a:rPr sz="900" b="0">
                <a:solidFill>
                  <a:srgbClr val="1B2A41"/>
                </a:solidFill>
              </a:rPr>
              <a:t>Holdings and cash compared to the custodian's records. A break is an exception until somebody explains it.</a:t>
            </a:r>
          </a:p>
        </p:txBody>
      </p:sp>
      <p:sp>
        <p:nvSpPr>
          <p:cNvPr id="30" name="Rectangle 29"/>
          <p:cNvSpPr/>
          <p:nvPr/>
        </p:nvSpPr>
        <p:spPr>
          <a:xfrm>
            <a:off x="548640" y="4261104"/>
            <a:ext cx="11091672" cy="109728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261104"/>
            <a:ext cx="64008" cy="10972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389120"/>
            <a:ext cx="10515600" cy="877824"/>
          </a:xfrm>
          <a:prstGeom prst="rect">
            <a:avLst/>
          </a:prstGeom>
          <a:noFill/>
        </p:spPr>
        <p:txBody>
          <a:bodyPr wrap="square" anchor="t" lIns="0" rIns="0" tIns="0" bIns="0">
            <a:spAutoFit/>
          </a:bodyPr>
          <a:lstStyle/>
          <a:p>
            <a:pPr algn="l"/>
            <a:r>
              <a:rPr sz="950" b="1">
                <a:solidFill>
                  <a:srgbClr val="3A5C9E"/>
                </a:solidFill>
              </a:rPr>
              <a:t>WHEN A RELEASED NAV IS LATER FOUND WRONG, IT IS A NAV ERROR</a:t>
            </a:r>
          </a:p>
          <a:p>
            <a:pPr algn="l">
              <a:spcBef>
                <a:spcPts val="400"/>
              </a:spcBef>
            </a:pPr>
            <a:r>
              <a:rPr sz="1100" b="0">
                <a:solidFill>
                  <a:srgbClr val="1B2A41"/>
                </a:solidFill>
              </a:rPr>
              <a:t>The fund's own error-correction policy sets the tolerance. Above it, the fund reprocesses the affected transactions, makes investors whole, and tells the board. The tolerance varies by fund, so read the policy rather than assume a number. The practice you must know is this: an error is not a rounding difference to be forgotten. It is a defined event with a defined response.</a:t>
            </a:r>
          </a:p>
        </p:txBody>
      </p:sp>
      <p:sp>
        <p:nvSpPr>
          <p:cNvPr id="33" name="Rectangle 3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Rank them by danger, not by size:</a:t>
            </a:r>
            <a:r>
              <a:rPr sz="1200" b="0">
                <a:solidFill>
                  <a:srgbClr val="FFFFFF"/>
                </a:solidFill>
              </a:rPr>
              <a:t>a missing price is visible and blocks release. A stale price passes through unless the engine compares dates.</a:t>
            </a:r>
          </a:p>
        </p:txBody>
      </p:sp>
      <p:sp>
        <p:nvSpPr>
          <p:cNvPr id="36" name="TextBox 3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7" name="TextBox 3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TRANSFER AGENCY</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register, the orders and the onboarding</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The administrator produces the NAV. The transfer agent is the one who prices your order with it.</a:t>
            </a:r>
          </a:p>
        </p:txBody>
      </p:sp>
      <p:sp>
        <p:nvSpPr>
          <p:cNvPr id="6" name="Rectangle 5"/>
          <p:cNvSpPr/>
          <p:nvPr/>
        </p:nvSpPr>
        <p:spPr>
          <a:xfrm>
            <a:off x="548640" y="1810512"/>
            <a:ext cx="3611880" cy="33284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084831"/>
            <a:ext cx="3099816" cy="274320"/>
          </a:xfrm>
          <a:prstGeom prst="rect">
            <a:avLst/>
          </a:prstGeom>
          <a:noFill/>
        </p:spPr>
        <p:txBody>
          <a:bodyPr wrap="square" anchor="t" lIns="0" rIns="0" tIns="0" bIns="0">
            <a:spAutoFit/>
          </a:bodyPr>
          <a:lstStyle/>
          <a:p>
            <a:pPr algn="l"/>
            <a:r>
              <a:rPr sz="950" b="1">
                <a:solidFill>
                  <a:srgbClr val="3A5C9E"/>
                </a:solidFill>
              </a:rPr>
              <a:t>WHAT IT DOES</a:t>
            </a:r>
          </a:p>
        </p:txBody>
      </p:sp>
      <p:sp>
        <p:nvSpPr>
          <p:cNvPr id="8" name="TextBox 7"/>
          <p:cNvSpPr txBox="1"/>
          <p:nvPr/>
        </p:nvSpPr>
        <p:spPr>
          <a:xfrm>
            <a:off x="804672" y="2414016"/>
            <a:ext cx="3099816" cy="411480"/>
          </a:xfrm>
          <a:prstGeom prst="rect">
            <a:avLst/>
          </a:prstGeom>
          <a:noFill/>
        </p:spPr>
        <p:txBody>
          <a:bodyPr wrap="square" anchor="t" lIns="0" rIns="0" tIns="0" bIns="0">
            <a:spAutoFit/>
          </a:bodyPr>
          <a:lstStyle/>
          <a:p>
            <a:pPr algn="l"/>
            <a:r>
              <a:rPr sz="1700" b="1">
                <a:solidFill>
                  <a:srgbClr val="0F2145"/>
                </a:solidFill>
                <a:latin typeface="Georgia"/>
              </a:rPr>
              <a:t>Keeps the register</a:t>
            </a:r>
          </a:p>
        </p:txBody>
      </p:sp>
      <p:sp>
        <p:nvSpPr>
          <p:cNvPr id="9" name="TextBox 8"/>
          <p:cNvSpPr txBox="1"/>
          <p:nvPr/>
        </p:nvSpPr>
        <p:spPr>
          <a:xfrm>
            <a:off x="804672" y="299923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Records who owns each share</a:t>
            </a:r>
          </a:p>
        </p:txBody>
      </p:sp>
      <p:sp>
        <p:nvSpPr>
          <p:cNvPr id="10" name="TextBox 9"/>
          <p:cNvSpPr txBox="1"/>
          <p:nvPr/>
        </p:nvSpPr>
        <p:spPr>
          <a:xfrm>
            <a:off x="804672" y="354787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Processes subscriptions and redemptions at the NAV the administrator produced</a:t>
            </a:r>
          </a:p>
        </p:txBody>
      </p:sp>
      <p:sp>
        <p:nvSpPr>
          <p:cNvPr id="11" name="TextBox 10"/>
          <p:cNvSpPr txBox="1"/>
          <p:nvPr/>
        </p:nvSpPr>
        <p:spPr>
          <a:xfrm>
            <a:off x="804672" y="409651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Pays dividends and capital gains distributions</a:t>
            </a:r>
          </a:p>
        </p:txBody>
      </p:sp>
      <p:sp>
        <p:nvSpPr>
          <p:cNvPr id="12" name="TextBox 11"/>
          <p:cNvSpPr txBox="1"/>
          <p:nvPr/>
        </p:nvSpPr>
        <p:spPr>
          <a:xfrm>
            <a:off x="804672" y="464515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Sends confirmations and statements to investors</a:t>
            </a:r>
          </a:p>
        </p:txBody>
      </p:sp>
      <p:sp>
        <p:nvSpPr>
          <p:cNvPr id="13" name="Rectangle 12"/>
          <p:cNvSpPr/>
          <p:nvPr/>
        </p:nvSpPr>
        <p:spPr>
          <a:xfrm>
            <a:off x="548640" y="181051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810512"/>
            <a:ext cx="3611880" cy="33284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084831"/>
            <a:ext cx="3099816" cy="274320"/>
          </a:xfrm>
          <a:prstGeom prst="rect">
            <a:avLst/>
          </a:prstGeom>
          <a:noFill/>
        </p:spPr>
        <p:txBody>
          <a:bodyPr wrap="square" anchor="t" lIns="0" rIns="0" tIns="0" bIns="0">
            <a:spAutoFit/>
          </a:bodyPr>
          <a:lstStyle/>
          <a:p>
            <a:pPr algn="l"/>
            <a:r>
              <a:rPr sz="950" b="1">
                <a:solidFill>
                  <a:srgbClr val="3A5C9E"/>
                </a:solidFill>
              </a:rPr>
              <a:t>WHO REGULATES IT</a:t>
            </a:r>
          </a:p>
        </p:txBody>
      </p:sp>
      <p:sp>
        <p:nvSpPr>
          <p:cNvPr id="16" name="TextBox 15"/>
          <p:cNvSpPr txBox="1"/>
          <p:nvPr/>
        </p:nvSpPr>
        <p:spPr>
          <a:xfrm>
            <a:off x="4572000" y="2414016"/>
            <a:ext cx="3099816" cy="411480"/>
          </a:xfrm>
          <a:prstGeom prst="rect">
            <a:avLst/>
          </a:prstGeom>
          <a:noFill/>
        </p:spPr>
        <p:txBody>
          <a:bodyPr wrap="square" anchor="t" lIns="0" rIns="0" tIns="0" bIns="0">
            <a:spAutoFit/>
          </a:bodyPr>
          <a:lstStyle/>
          <a:p>
            <a:pPr algn="l"/>
            <a:r>
              <a:rPr sz="1700" b="1">
                <a:solidFill>
                  <a:srgbClr val="0F2145"/>
                </a:solidFill>
                <a:latin typeface="Georgia"/>
              </a:rPr>
              <a:t>The SEC, or a bank regulator</a:t>
            </a:r>
          </a:p>
        </p:txBody>
      </p:sp>
      <p:sp>
        <p:nvSpPr>
          <p:cNvPr id="17" name="TextBox 16"/>
          <p:cNvSpPr txBox="1"/>
          <p:nvPr/>
        </p:nvSpPr>
        <p:spPr>
          <a:xfrm>
            <a:off x="4572000" y="299923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US transfer agents register with the SEC under Section 17A of the Securities Exchange Act of 1934</a:t>
            </a:r>
          </a:p>
        </p:txBody>
      </p:sp>
      <p:sp>
        <p:nvSpPr>
          <p:cNvPr id="18" name="TextBox 17"/>
          <p:cNvSpPr txBox="1"/>
          <p:nvPr/>
        </p:nvSpPr>
        <p:spPr>
          <a:xfrm>
            <a:off x="4572000" y="354787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A transfer agent that is a bank registers with its bank regulator instead</a:t>
            </a:r>
          </a:p>
        </p:txBody>
      </p:sp>
      <p:sp>
        <p:nvSpPr>
          <p:cNvPr id="19" name="TextBox 18"/>
          <p:cNvSpPr txBox="1"/>
          <p:nvPr/>
        </p:nvSpPr>
        <p:spPr>
          <a:xfrm>
            <a:off x="4572000" y="409651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Under the Bank Secrecy Act the fund runs a customer identification program</a:t>
            </a:r>
          </a:p>
        </p:txBody>
      </p:sp>
      <p:sp>
        <p:nvSpPr>
          <p:cNvPr id="20" name="TextBox 19"/>
          <p:cNvSpPr txBox="1"/>
          <p:nvPr/>
        </p:nvSpPr>
        <p:spPr>
          <a:xfrm>
            <a:off x="4572000" y="4645152"/>
            <a:ext cx="3099816" cy="530352"/>
          </a:xfrm>
          <a:prstGeom prst="rect">
            <a:avLst/>
          </a:prstGeom>
          <a:noFill/>
        </p:spPr>
        <p:txBody>
          <a:bodyPr wrap="square" anchor="t" lIns="0" rIns="0" tIns="0" bIns="0">
            <a:spAutoFit/>
          </a:bodyPr>
          <a:lstStyle/>
          <a:p>
            <a:pPr algn="l"/>
            <a:r>
              <a:rPr sz="950" b="1">
                <a:solidFill>
                  <a:srgbClr val="C9A227"/>
                </a:solidFill>
              </a:rPr>
              <a:t>▪</a:t>
            </a:r>
            <a:r>
              <a:rPr sz="950" b="0">
                <a:solidFill>
                  <a:srgbClr val="1B2A41"/>
                </a:solidFill>
              </a:rPr>
              <a:t>Name, date of birth, address and identification number, verified and screened against government lists</a:t>
            </a:r>
          </a:p>
        </p:txBody>
      </p:sp>
      <p:sp>
        <p:nvSpPr>
          <p:cNvPr id="21" name="Rectangle 20"/>
          <p:cNvSpPr/>
          <p:nvPr/>
        </p:nvSpPr>
        <p:spPr>
          <a:xfrm>
            <a:off x="4315968" y="1810512"/>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810512"/>
            <a:ext cx="3557016" cy="3328416"/>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2084831"/>
            <a:ext cx="3044952" cy="274320"/>
          </a:xfrm>
          <a:prstGeom prst="rect">
            <a:avLst/>
          </a:prstGeom>
          <a:noFill/>
        </p:spPr>
        <p:txBody>
          <a:bodyPr wrap="square" anchor="t" lIns="0" rIns="0" tIns="0" bIns="0">
            <a:spAutoFit/>
          </a:bodyPr>
          <a:lstStyle/>
          <a:p>
            <a:pPr algn="l"/>
            <a:r>
              <a:rPr sz="950" b="1">
                <a:solidFill>
                  <a:srgbClr val="C9A227"/>
                </a:solidFill>
              </a:rPr>
              <a:t>STRAIGHT-THROUGH PROCESSING</a:t>
            </a:r>
          </a:p>
        </p:txBody>
      </p:sp>
      <p:sp>
        <p:nvSpPr>
          <p:cNvPr id="24" name="TextBox 23"/>
          <p:cNvSpPr txBox="1"/>
          <p:nvPr/>
        </p:nvSpPr>
        <p:spPr>
          <a:xfrm>
            <a:off x="8339327" y="2414016"/>
            <a:ext cx="3044952" cy="411480"/>
          </a:xfrm>
          <a:prstGeom prst="rect">
            <a:avLst/>
          </a:prstGeom>
          <a:noFill/>
        </p:spPr>
        <p:txBody>
          <a:bodyPr wrap="square" anchor="t" lIns="0" rIns="0" tIns="0" bIns="0">
            <a:spAutoFit/>
          </a:bodyPr>
          <a:lstStyle/>
          <a:p>
            <a:pPr algn="l"/>
            <a:r>
              <a:rPr sz="1700" b="1">
                <a:solidFill>
                  <a:srgbClr val="FFFFFF"/>
                </a:solidFill>
                <a:latin typeface="Georgia"/>
              </a:rPr>
              <a:t>And the exceptions that fall out</a:t>
            </a:r>
          </a:p>
        </p:txBody>
      </p:sp>
      <p:sp>
        <p:nvSpPr>
          <p:cNvPr id="25" name="TextBox 24"/>
          <p:cNvSpPr txBox="1"/>
          <p:nvPr/>
        </p:nvSpPr>
        <p:spPr>
          <a:xfrm>
            <a:off x="8339327" y="2999232"/>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An order arrives electronically, is validated, priced, settled and confirmed with nobody touching it</a:t>
            </a:r>
          </a:p>
        </p:txBody>
      </p:sp>
      <p:sp>
        <p:nvSpPr>
          <p:cNvPr id="26" name="TextBox 25"/>
          <p:cNvSpPr txBox="1"/>
          <p:nvPr/>
        </p:nvSpPr>
        <p:spPr>
          <a:xfrm>
            <a:off x="8339327" y="3547872"/>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The exceptions have the same shape as the NAV exceptions</a:t>
            </a:r>
          </a:p>
        </p:txBody>
      </p:sp>
      <p:sp>
        <p:nvSpPr>
          <p:cNvPr id="27" name="TextBox 26"/>
          <p:cNvSpPr txBox="1"/>
          <p:nvPr/>
        </p:nvSpPr>
        <p:spPr>
          <a:xfrm>
            <a:off x="8339327" y="4096512"/>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A name that does not match, a missing signature, an amount over a limit, an address changed last week</a:t>
            </a:r>
          </a:p>
        </p:txBody>
      </p:sp>
      <p:sp>
        <p:nvSpPr>
          <p:cNvPr id="28" name="TextBox 27"/>
          <p:cNvSpPr txBox="1"/>
          <p:nvPr/>
        </p:nvSpPr>
        <p:spPr>
          <a:xfrm>
            <a:off x="8339327" y="4645152"/>
            <a:ext cx="3044952" cy="530352"/>
          </a:xfrm>
          <a:prstGeom prst="rect">
            <a:avLst/>
          </a:prstGeom>
          <a:noFill/>
        </p:spPr>
        <p:txBody>
          <a:bodyPr wrap="square" anchor="t" lIns="0" rIns="0" tIns="0" bIns="0">
            <a:spAutoFit/>
          </a:bodyPr>
          <a:lstStyle/>
          <a:p>
            <a:pPr algn="l"/>
            <a:r>
              <a:rPr sz="950" b="1">
                <a:solidFill>
                  <a:srgbClr val="C9A227"/>
                </a:solidFill>
              </a:rPr>
              <a:t>▪</a:t>
            </a:r>
            <a:r>
              <a:rPr sz="950" b="0">
                <a:solidFill>
                  <a:srgbClr val="C9D6EE"/>
                </a:solidFill>
              </a:rPr>
              <a:t>Every one needs a human, and every one is a place a model can read the document and draft the explanation</a:t>
            </a:r>
          </a:p>
        </p:txBody>
      </p:sp>
      <p:sp>
        <p:nvSpPr>
          <p:cNvPr id="29" name="Rectangle 2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Monitoring does not stop at onboarding:</a:t>
            </a:r>
            <a:r>
              <a:rPr sz="1200" b="0">
                <a:solidFill>
                  <a:srgbClr val="FFFFFF"/>
                </a:solidFill>
              </a:rPr>
              <a:t>anti-money-laundering checks continue for the life of the account, and suspicious activity is reported to FinCEN.</a:t>
            </a:r>
          </a:p>
        </p:txBody>
      </p:sp>
      <p:sp>
        <p:nvSpPr>
          <p:cNvPr id="32" name="TextBox 31"/>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THE ARCHITECTURE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Seven boxes, one dotted arrow back, and one wall</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Nothing to the right of the wall may change anything to the left of it.</a:t>
            </a:r>
          </a:p>
        </p:txBody>
      </p:sp>
      <p:sp>
        <p:nvSpPr>
          <p:cNvPr id="6" name="Rectangle 5"/>
          <p:cNvSpPr/>
          <p:nvPr/>
        </p:nvSpPr>
        <p:spPr>
          <a:xfrm>
            <a:off x="548640"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HOLDINGS FILE</a:t>
            </a:r>
          </a:p>
        </p:txBody>
      </p:sp>
      <p:sp>
        <p:nvSpPr>
          <p:cNvPr id="9" name="TextBox 8"/>
          <p:cNvSpPr txBox="1"/>
          <p:nvPr/>
        </p:nvSpPr>
        <p:spPr>
          <a:xfrm>
            <a:off x="694944" y="2651760"/>
            <a:ext cx="1188720" cy="1463040"/>
          </a:xfrm>
          <a:prstGeom prst="rect">
            <a:avLst/>
          </a:prstGeom>
          <a:noFill/>
        </p:spPr>
        <p:txBody>
          <a:bodyPr wrap="square" anchor="t" lIns="0" rIns="0" tIns="0" bIns="0">
            <a:spAutoFit/>
          </a:bodyPr>
          <a:lstStyle/>
          <a:p>
            <a:pPr algn="l"/>
            <a:r>
              <a:rPr sz="850" b="0">
                <a:solidFill>
                  <a:srgbClr val="1B2A41"/>
                </a:solidFill>
              </a:rPr>
              <a:t>Ticker, name, share count, cash, accrued liabilities, shares outstanding</a:t>
            </a:r>
          </a:p>
        </p:txBody>
      </p:sp>
      <p:sp>
        <p:nvSpPr>
          <p:cNvPr id="10" name="TextBox 9"/>
          <p:cNvSpPr txBox="1"/>
          <p:nvPr/>
        </p:nvSpPr>
        <p:spPr>
          <a:xfrm>
            <a:off x="2029968"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11" name="Rectangle 10"/>
          <p:cNvSpPr/>
          <p:nvPr/>
        </p:nvSpPr>
        <p:spPr>
          <a:xfrm>
            <a:off x="2153412"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53412"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99716"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PRICE FEED</a:t>
            </a:r>
          </a:p>
        </p:txBody>
      </p:sp>
      <p:sp>
        <p:nvSpPr>
          <p:cNvPr id="14" name="TextBox 13"/>
          <p:cNvSpPr txBox="1"/>
          <p:nvPr/>
        </p:nvSpPr>
        <p:spPr>
          <a:xfrm>
            <a:off x="2299716" y="2651760"/>
            <a:ext cx="1188720" cy="1463040"/>
          </a:xfrm>
          <a:prstGeom prst="rect">
            <a:avLst/>
          </a:prstGeom>
          <a:noFill/>
        </p:spPr>
        <p:txBody>
          <a:bodyPr wrap="square" anchor="t" lIns="0" rIns="0" tIns="0" bIns="0">
            <a:spAutoFit/>
          </a:bodyPr>
          <a:lstStyle/>
          <a:p>
            <a:pPr algn="l"/>
            <a:r>
              <a:rPr sz="850" b="0">
                <a:solidFill>
                  <a:srgbClr val="1B2A41"/>
                </a:solidFill>
              </a:rPr>
              <a:t>A licensed vendor in production. yfinance in the lab, which no fund would release a NAV from</a:t>
            </a:r>
          </a:p>
        </p:txBody>
      </p:sp>
      <p:sp>
        <p:nvSpPr>
          <p:cNvPr id="15" name="TextBox 14"/>
          <p:cNvSpPr txBox="1"/>
          <p:nvPr/>
        </p:nvSpPr>
        <p:spPr>
          <a:xfrm>
            <a:off x="3634740"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16" name="Rectangle 15"/>
          <p:cNvSpPr/>
          <p:nvPr/>
        </p:nvSpPr>
        <p:spPr>
          <a:xfrm>
            <a:off x="3758183"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58183"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4487"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VALUATION ENGINE</a:t>
            </a:r>
          </a:p>
        </p:txBody>
      </p:sp>
      <p:sp>
        <p:nvSpPr>
          <p:cNvPr id="19" name="TextBox 18"/>
          <p:cNvSpPr txBox="1"/>
          <p:nvPr/>
        </p:nvSpPr>
        <p:spPr>
          <a:xfrm>
            <a:off x="3904487" y="2651760"/>
            <a:ext cx="1188720" cy="1463040"/>
          </a:xfrm>
          <a:prstGeom prst="rect">
            <a:avLst/>
          </a:prstGeom>
          <a:noFill/>
        </p:spPr>
        <p:txBody>
          <a:bodyPr wrap="square" anchor="t" lIns="0" rIns="0" tIns="0" bIns="0">
            <a:spAutoFit/>
          </a:bodyPr>
          <a:lstStyle/>
          <a:p>
            <a:pPr algn="l"/>
            <a:r>
              <a:rPr sz="850" b="0">
                <a:solidFill>
                  <a:srgbClr val="1B2A41"/>
                </a:solidFill>
              </a:rPr>
              <a:t>Shares times price, summed, plus cash, less liabilities, divided by shares</a:t>
            </a:r>
          </a:p>
        </p:txBody>
      </p:sp>
      <p:sp>
        <p:nvSpPr>
          <p:cNvPr id="20" name="TextBox 19"/>
          <p:cNvSpPr txBox="1"/>
          <p:nvPr/>
        </p:nvSpPr>
        <p:spPr>
          <a:xfrm>
            <a:off x="5239512"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21" name="Rectangle 20"/>
          <p:cNvSpPr/>
          <p:nvPr/>
        </p:nvSpPr>
        <p:spPr>
          <a:xfrm>
            <a:off x="5362955"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62955"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09259"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EXCEPTION ENGINE</a:t>
            </a:r>
          </a:p>
        </p:txBody>
      </p:sp>
      <p:sp>
        <p:nvSpPr>
          <p:cNvPr id="24" name="TextBox 23"/>
          <p:cNvSpPr txBox="1"/>
          <p:nvPr/>
        </p:nvSpPr>
        <p:spPr>
          <a:xfrm>
            <a:off x="5509259" y="2651760"/>
            <a:ext cx="1188720" cy="1463040"/>
          </a:xfrm>
          <a:prstGeom prst="rect">
            <a:avLst/>
          </a:prstGeom>
          <a:noFill/>
        </p:spPr>
        <p:txBody>
          <a:bodyPr wrap="square" anchor="t" lIns="0" rIns="0" tIns="0" bIns="0">
            <a:spAutoFit/>
          </a:bodyPr>
          <a:lstStyle/>
          <a:p>
            <a:pPr algn="l"/>
            <a:r>
              <a:rPr sz="850" b="0">
                <a:solidFill>
                  <a:srgbClr val="1B2A41"/>
                </a:solidFill>
              </a:rPr>
              <a:t>Runs the checks and sets the pack's status: ready for review, or held</a:t>
            </a:r>
          </a:p>
        </p:txBody>
      </p:sp>
      <p:sp>
        <p:nvSpPr>
          <p:cNvPr id="25" name="TextBox 24"/>
          <p:cNvSpPr txBox="1"/>
          <p:nvPr/>
        </p:nvSpPr>
        <p:spPr>
          <a:xfrm>
            <a:off x="6844283"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26" name="Rectangle 25"/>
          <p:cNvSpPr/>
          <p:nvPr/>
        </p:nvSpPr>
        <p:spPr>
          <a:xfrm>
            <a:off x="6967727" y="1920240"/>
            <a:ext cx="1481328"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67727" y="1920240"/>
            <a:ext cx="14813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14031" y="2084831"/>
            <a:ext cx="1188720" cy="512064"/>
          </a:xfrm>
          <a:prstGeom prst="rect">
            <a:avLst/>
          </a:prstGeom>
          <a:noFill/>
        </p:spPr>
        <p:txBody>
          <a:bodyPr wrap="square" anchor="t" lIns="0" rIns="0" tIns="0" bIns="0">
            <a:spAutoFit/>
          </a:bodyPr>
          <a:lstStyle/>
          <a:p>
            <a:pPr algn="l"/>
            <a:r>
              <a:rPr sz="1050" b="1">
                <a:solidFill>
                  <a:srgbClr val="0F2145"/>
                </a:solidFill>
                <a:latin typeface="Georgia"/>
              </a:rPr>
              <a:t>FOUR-EYES REVIEW</a:t>
            </a:r>
          </a:p>
        </p:txBody>
      </p:sp>
      <p:sp>
        <p:nvSpPr>
          <p:cNvPr id="29" name="TextBox 28"/>
          <p:cNvSpPr txBox="1"/>
          <p:nvPr/>
        </p:nvSpPr>
        <p:spPr>
          <a:xfrm>
            <a:off x="7114031" y="2651760"/>
            <a:ext cx="1188720" cy="1463040"/>
          </a:xfrm>
          <a:prstGeom prst="rect">
            <a:avLst/>
          </a:prstGeom>
          <a:noFill/>
        </p:spPr>
        <p:txBody>
          <a:bodyPr wrap="square" anchor="t" lIns="0" rIns="0" tIns="0" bIns="0">
            <a:spAutoFit/>
          </a:bodyPr>
          <a:lstStyle/>
          <a:p>
            <a:pPr algn="l"/>
            <a:r>
              <a:rPr sz="850" b="0">
                <a:solidFill>
                  <a:srgbClr val="1B2A41"/>
                </a:solidFill>
              </a:rPr>
              <a:t>A person. In the lab it is you. In production, a second fund accountant who can hold the NAV</a:t>
            </a:r>
          </a:p>
        </p:txBody>
      </p:sp>
      <p:sp>
        <p:nvSpPr>
          <p:cNvPr id="30" name="TextBox 29"/>
          <p:cNvSpPr txBox="1"/>
          <p:nvPr/>
        </p:nvSpPr>
        <p:spPr>
          <a:xfrm>
            <a:off x="8449055"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31" name="Rectangle 30"/>
          <p:cNvSpPr/>
          <p:nvPr/>
        </p:nvSpPr>
        <p:spPr>
          <a:xfrm>
            <a:off x="8572499" y="1920240"/>
            <a:ext cx="1481328"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18803" y="2084831"/>
            <a:ext cx="1188720" cy="512064"/>
          </a:xfrm>
          <a:prstGeom prst="rect">
            <a:avLst/>
          </a:prstGeom>
          <a:noFill/>
        </p:spPr>
        <p:txBody>
          <a:bodyPr wrap="square" anchor="t" lIns="0" rIns="0" tIns="0" bIns="0">
            <a:spAutoFit/>
          </a:bodyPr>
          <a:lstStyle/>
          <a:p>
            <a:pPr algn="l"/>
            <a:r>
              <a:rPr sz="1050" b="1">
                <a:solidFill>
                  <a:srgbClr val="FFFFFF"/>
                </a:solidFill>
                <a:latin typeface="Georgia"/>
              </a:rPr>
              <a:t>COMMENTARY WRITER</a:t>
            </a:r>
          </a:p>
        </p:txBody>
      </p:sp>
      <p:sp>
        <p:nvSpPr>
          <p:cNvPr id="33" name="TextBox 32"/>
          <p:cNvSpPr txBox="1"/>
          <p:nvPr/>
        </p:nvSpPr>
        <p:spPr>
          <a:xfrm>
            <a:off x="8718803" y="2651760"/>
            <a:ext cx="1188720" cy="1463040"/>
          </a:xfrm>
          <a:prstGeom prst="rect">
            <a:avLst/>
          </a:prstGeom>
          <a:noFill/>
        </p:spPr>
        <p:txBody>
          <a:bodyPr wrap="square" anchor="t" lIns="0" rIns="0" tIns="0" bIns="0">
            <a:spAutoFit/>
          </a:bodyPr>
          <a:lstStyle/>
          <a:p>
            <a:pPr algn="l"/>
            <a:r>
              <a:rPr sz="850" b="0">
                <a:solidFill>
                  <a:srgbClr val="C9D6EE"/>
                </a:solidFill>
              </a:rPr>
              <a:t>The language model. It receives the finished pack and the rulebook, and returns four sentences</a:t>
            </a:r>
          </a:p>
        </p:txBody>
      </p:sp>
      <p:sp>
        <p:nvSpPr>
          <p:cNvPr id="34" name="TextBox 33"/>
          <p:cNvSpPr txBox="1"/>
          <p:nvPr/>
        </p:nvSpPr>
        <p:spPr>
          <a:xfrm>
            <a:off x="10053827" y="2907792"/>
            <a:ext cx="128016" cy="310896"/>
          </a:xfrm>
          <a:prstGeom prst="rect">
            <a:avLst/>
          </a:prstGeom>
          <a:noFill/>
        </p:spPr>
        <p:txBody>
          <a:bodyPr wrap="square" anchor="ctr" lIns="0" rIns="0" tIns="0" bIns="0">
            <a:spAutoFit/>
          </a:bodyPr>
          <a:lstStyle/>
          <a:p>
            <a:pPr algn="ctr"/>
            <a:r>
              <a:rPr sz="1100" b="1">
                <a:solidFill>
                  <a:srgbClr val="C9A227"/>
                </a:solidFill>
              </a:rPr>
              <a:t>→</a:t>
            </a:r>
          </a:p>
        </p:txBody>
      </p:sp>
      <p:sp>
        <p:nvSpPr>
          <p:cNvPr id="35" name="Rectangle 34"/>
          <p:cNvSpPr/>
          <p:nvPr/>
        </p:nvSpPr>
        <p:spPr>
          <a:xfrm>
            <a:off x="10177272" y="1920240"/>
            <a:ext cx="1481328"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3576" y="2084831"/>
            <a:ext cx="1188720" cy="512064"/>
          </a:xfrm>
          <a:prstGeom prst="rect">
            <a:avLst/>
          </a:prstGeom>
          <a:noFill/>
        </p:spPr>
        <p:txBody>
          <a:bodyPr wrap="square" anchor="t" lIns="0" rIns="0" tIns="0" bIns="0">
            <a:spAutoFit/>
          </a:bodyPr>
          <a:lstStyle/>
          <a:p>
            <a:pPr algn="l"/>
            <a:r>
              <a:rPr sz="1050" b="1">
                <a:solidFill>
                  <a:srgbClr val="FFFFFF"/>
                </a:solidFill>
                <a:latin typeface="Georgia"/>
              </a:rPr>
              <a:t>DISTRIBUTION</a:t>
            </a:r>
          </a:p>
        </p:txBody>
      </p:sp>
      <p:sp>
        <p:nvSpPr>
          <p:cNvPr id="37" name="TextBox 36"/>
          <p:cNvSpPr txBox="1"/>
          <p:nvPr/>
        </p:nvSpPr>
        <p:spPr>
          <a:xfrm>
            <a:off x="10323576" y="2651760"/>
            <a:ext cx="1188720" cy="1463040"/>
          </a:xfrm>
          <a:prstGeom prst="rect">
            <a:avLst/>
          </a:prstGeom>
          <a:noFill/>
        </p:spPr>
        <p:txBody>
          <a:bodyPr wrap="square" anchor="t" lIns="0" rIns="0" tIns="0" bIns="0">
            <a:spAutoFit/>
          </a:bodyPr>
          <a:lstStyle/>
          <a:p>
            <a:pPr algn="l"/>
            <a:r>
              <a:rPr sz="850" b="0">
                <a:solidFill>
                  <a:srgbClr val="C9D6EE"/>
                </a:solidFill>
              </a:rPr>
              <a:t>The NAV to the transfer agent, the commentary to the client report</a:t>
            </a:r>
          </a:p>
        </p:txBody>
      </p:sp>
      <p:sp>
        <p:nvSpPr>
          <p:cNvPr id="38" name="Rectangle 37"/>
          <p:cNvSpPr/>
          <p:nvPr/>
        </p:nvSpPr>
        <p:spPr>
          <a:xfrm>
            <a:off x="8522208" y="1828800"/>
            <a:ext cx="27432" cy="24688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0" y="4334256"/>
            <a:ext cx="2286000" cy="237744"/>
          </a:xfrm>
          <a:prstGeom prst="rect">
            <a:avLst/>
          </a:prstGeom>
          <a:noFill/>
        </p:spPr>
        <p:txBody>
          <a:bodyPr wrap="square" anchor="t" lIns="0" rIns="0" tIns="0" bIns="0">
            <a:spAutoFit/>
          </a:bodyPr>
          <a:lstStyle/>
          <a:p>
            <a:pPr algn="l"/>
            <a:r>
              <a:rPr sz="900" b="1">
                <a:solidFill>
                  <a:srgbClr val="C9A227"/>
                </a:solidFill>
              </a:rPr>
              <a:t>↑  THE WALL</a:t>
            </a:r>
          </a:p>
        </p:txBody>
      </p:sp>
      <p:sp>
        <p:nvSpPr>
          <p:cNvPr id="40" name="Rectangle 39"/>
          <p:cNvSpPr/>
          <p:nvPr/>
        </p:nvSpPr>
        <p:spPr>
          <a:xfrm>
            <a:off x="548640" y="4572000"/>
            <a:ext cx="11091672" cy="111556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4572000"/>
            <a:ext cx="64008" cy="1115568"/>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700016"/>
            <a:ext cx="10515600" cy="896112"/>
          </a:xfrm>
          <a:prstGeom prst="rect">
            <a:avLst/>
          </a:prstGeom>
          <a:noFill/>
        </p:spPr>
        <p:txBody>
          <a:bodyPr wrap="square" anchor="t" lIns="0" rIns="0" tIns="0" bIns="0">
            <a:spAutoFit/>
          </a:bodyPr>
          <a:lstStyle/>
          <a:p>
            <a:pPr algn="l"/>
            <a:r>
              <a:rPr sz="950" b="1">
                <a:solidFill>
                  <a:srgbClr val="3A5C9E"/>
                </a:solidFill>
              </a:rPr>
              <a:t>BUILD IT IN THIS ORDER</a:t>
            </a:r>
          </a:p>
          <a:p>
            <a:pPr algn="l">
              <a:spcBef>
                <a:spcPts val="400"/>
              </a:spcBef>
            </a:pPr>
            <a:r>
              <a:rPr sz="1100" b="0">
                <a:solidFill>
                  <a:srgbClr val="1B2A41"/>
                </a:solidFill>
              </a:rPr>
              <a:t>1 Write the holdings file by hand, five lines.   2 Pull ten days of closes so you have today and yesterday.   3 Write the valuation and print every intermediate number.   4 Write the three checks.   5 Print the pack with a status line.   6 Inject faults on purpose; if the engine does not catch them it is not an engine.   7 Send the pack to the model with a rulebook.   8 Check every number in the commentary against the pack, and automate that check, because it is the one that catches the model.</a:t>
            </a:r>
          </a:p>
        </p:txBody>
      </p:sp>
      <p:sp>
        <p:nvSpPr>
          <p:cNvPr id="43" name="Rectangle 42"/>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dotted arrow runs from the exception engine back to the price feed:</a:t>
            </a:r>
            <a:r>
              <a:rPr sz="1200" b="0">
                <a:solidFill>
                  <a:srgbClr val="FFFFFF"/>
                </a:solidFill>
              </a:rPr>
              <a:t>a flagged price gets re-queried before anyone reviews it.</a:t>
            </a:r>
          </a:p>
        </p:txBody>
      </p:sp>
      <p:sp>
        <p:nvSpPr>
          <p:cNvPr id="46" name="TextBox 4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47" name="TextBox 4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2</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Run it clean and read it the way a reviewer would</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python3 m08_nav_engine.py</a:t>
            </a:r>
          </a:p>
        </p:txBody>
      </p:sp>
      <p:sp>
        <p:nvSpPr>
          <p:cNvPr id="8" name="Rectangle 7"/>
          <p:cNvSpPr/>
          <p:nvPr/>
        </p:nvSpPr>
        <p:spPr>
          <a:xfrm>
            <a:off x="548640" y="2066543"/>
            <a:ext cx="11091672" cy="32004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66543"/>
            <a:ext cx="64008" cy="32004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10543032" cy="219456"/>
          </a:xfrm>
          <a:prstGeom prst="rect">
            <a:avLst/>
          </a:prstGeom>
          <a:noFill/>
        </p:spPr>
        <p:txBody>
          <a:bodyPr wrap="square" anchor="t" lIns="0" rIns="0" tIns="0" bIns="0">
            <a:spAutoFit/>
          </a:bodyPr>
          <a:lstStyle/>
          <a:p>
            <a:pPr algn="l"/>
            <a:r>
              <a:rPr sz="850" b="1">
                <a:solidFill>
                  <a:srgbClr val="C9A227"/>
                </a:solidFill>
              </a:rPr>
              <a:t>WHAT COMES BACK (REAL RUN, 20 SEPTEMBER 2026)</a:t>
            </a:r>
          </a:p>
        </p:txBody>
      </p:sp>
      <p:sp>
        <p:nvSpPr>
          <p:cNvPr id="11" name="TextBox 10"/>
          <p:cNvSpPr txBox="1"/>
          <p:nvPr/>
        </p:nvSpPr>
        <p:spPr>
          <a:xfrm>
            <a:off x="868680" y="2468879"/>
            <a:ext cx="10543032" cy="2670048"/>
          </a:xfrm>
          <a:prstGeom prst="rect">
            <a:avLst/>
          </a:prstGeom>
          <a:noFill/>
        </p:spPr>
        <p:txBody>
          <a:bodyPr wrap="none" anchor="t" lIns="0" rIns="0" tIns="0" bIns="0">
            <a:spAutoFit/>
          </a:bodyPr>
          <a:lstStyle/>
          <a:p>
            <a:pPr algn="l"/>
            <a:r>
              <a:rPr sz="900" b="0">
                <a:solidFill>
                  <a:srgbClr val="C9D6EE"/>
                </a:solidFill>
                <a:latin typeface="Consolas"/>
              </a:rPr>
              <a:t>DAILY NAV PACK  (constructed example)   priced as of 2026-09-18</a:t>
            </a:r>
          </a:p>
          <a:p>
            <a:pPr algn="l"/>
            <a:r>
              <a:rPr sz="900" b="0">
                <a:solidFill>
                  <a:srgbClr val="C9D6EE"/>
                </a:solidFill>
                <a:latin typeface="Consolas"/>
              </a:rPr>
              <a:t>------------------------------------------------------------------------------</a:t>
            </a:r>
          </a:p>
          <a:p>
            <a:pPr algn="l"/>
            <a:r>
              <a:rPr sz="900" b="0">
                <a:solidFill>
                  <a:srgbClr val="C9D6EE"/>
                </a:solidFill>
                <a:latin typeface="Consolas"/>
              </a:rPr>
              <a:t>Ticker    Shares       Close   Day move     Market value   Price date</a:t>
            </a:r>
          </a:p>
          <a:p>
            <a:pPr algn="l"/>
            <a:r>
              <a:rPr sz="900" b="0">
                <a:solidFill>
                  <a:srgbClr val="C9D6EE"/>
                </a:solidFill>
                <a:latin typeface="Consolas"/>
              </a:rPr>
              <a:t>SPY        1,200      761.69     -0.12%       914,028.00   2026-09-18</a:t>
            </a:r>
          </a:p>
          <a:p>
            <a:pPr algn="l"/>
            <a:r>
              <a:rPr sz="900" b="0">
                <a:solidFill>
                  <a:srgbClr val="C9D6EE"/>
                </a:solidFill>
                <a:latin typeface="Consolas"/>
              </a:rPr>
              <a:t>QQQ          900      721.45     +0.63%       649,305.01   2026-09-18</a:t>
            </a:r>
          </a:p>
          <a:p>
            <a:pPr algn="l"/>
            <a:r>
              <a:rPr sz="900" b="0">
                <a:solidFill>
                  <a:srgbClr val="C9D6EE"/>
                </a:solidFill>
                <a:latin typeface="Consolas"/>
              </a:rPr>
              <a:t>AAPL       1,500      336.13     -0.26%       504,195.01   2026-09-18</a:t>
            </a:r>
          </a:p>
          <a:p>
            <a:pPr algn="l"/>
            <a:r>
              <a:rPr sz="900" b="0">
                <a:solidFill>
                  <a:srgbClr val="C9D6EE"/>
                </a:solidFill>
                <a:latin typeface="Consolas"/>
              </a:rPr>
              <a:t>MSFT         800      493.78     -0.80%       395,024.00   2026-09-18</a:t>
            </a:r>
          </a:p>
          <a:p>
            <a:pPr algn="l"/>
            <a:r>
              <a:rPr sz="900" b="0">
                <a:solidFill>
                  <a:srgbClr val="C9D6EE"/>
                </a:solidFill>
                <a:latin typeface="Consolas"/>
              </a:rPr>
              <a:t>XOM        2,500      163.54     +0.17%       408,849.98   2026-09-18</a:t>
            </a:r>
          </a:p>
          <a:p>
            <a:pPr algn="l"/>
            <a:r>
              <a:rPr sz="900" b="0">
                <a:solidFill>
                  <a:srgbClr val="C9D6EE"/>
                </a:solidFill>
                <a:latin typeface="Consolas"/>
              </a:rPr>
              <a:t>------------------------------------------------------------------------------</a:t>
            </a:r>
          </a:p>
          <a:p>
            <a:pPr algn="l"/>
            <a:r>
              <a:rPr sz="900" b="0">
                <a:solidFill>
                  <a:srgbClr val="C9D6EE"/>
                </a:solidFill>
                <a:latin typeface="Consolas"/>
              </a:rPr>
              <a:t>Securities at market                            2,871,402.00</a:t>
            </a:r>
          </a:p>
          <a:p>
            <a:pPr algn="l"/>
            <a:r>
              <a:rPr sz="900" b="0">
                <a:solidFill>
                  <a:srgbClr val="C9D6EE"/>
                </a:solidFill>
                <a:latin typeface="Consolas"/>
              </a:rPr>
              <a:t>Cash                                              250,000.00</a:t>
            </a:r>
          </a:p>
          <a:p>
            <a:pPr algn="l"/>
            <a:r>
              <a:rPr sz="900" b="0">
                <a:solidFill>
                  <a:srgbClr val="C9D6EE"/>
                </a:solidFill>
                <a:latin typeface="Consolas"/>
              </a:rPr>
              <a:t>Less accrued expenses                               4,200.00</a:t>
            </a:r>
          </a:p>
          <a:p>
            <a:pPr algn="l"/>
            <a:r>
              <a:rPr sz="900" b="0">
                <a:solidFill>
                  <a:srgbClr val="C9D6EE"/>
                </a:solidFill>
                <a:latin typeface="Consolas"/>
              </a:rPr>
              <a:t>Net assets                                      3,117,202.00</a:t>
            </a:r>
          </a:p>
          <a:p>
            <a:pPr algn="l"/>
            <a:r>
              <a:rPr sz="900" b="0">
                <a:solidFill>
                  <a:srgbClr val="C9D6EE"/>
                </a:solidFill>
                <a:latin typeface="Consolas"/>
              </a:rPr>
              <a:t>Shares outstanding                                   100,000</a:t>
            </a:r>
          </a:p>
          <a:p>
            <a:pPr algn="l"/>
            <a:r>
              <a:rPr sz="900" b="0">
                <a:solidFill>
                  <a:srgbClr val="C9D6EE"/>
                </a:solidFill>
                <a:latin typeface="Consolas"/>
              </a:rPr>
              <a:t>NAV per share                                        31.1720</a:t>
            </a:r>
          </a:p>
          <a:p>
            <a:pPr algn="l"/>
            <a:r>
              <a:rPr sz="900" b="0">
                <a:solidFill>
                  <a:srgbClr val="C9D6EE"/>
                </a:solidFill>
                <a:latin typeface="Consolas"/>
              </a:rPr>
              <a:t/>
            </a:r>
          </a:p>
          <a:p>
            <a:pPr algn="l"/>
            <a:r>
              <a:rPr sz="900" b="0">
                <a:solidFill>
                  <a:srgbClr val="C9D6EE"/>
                </a:solidFill>
                <a:latin typeface="Consolas"/>
              </a:rPr>
              <a:t>EXCEPTIONS (0)</a:t>
            </a:r>
          </a:p>
          <a:p>
            <a:pPr algn="l"/>
            <a:r>
              <a:rPr sz="900" b="0">
                <a:solidFill>
                  <a:srgbClr val="C9D6EE"/>
                </a:solidFill>
                <a:latin typeface="Consolas"/>
              </a:rPr>
              <a:t>none. NAV may be released after the four-eyes check.</a:t>
            </a:r>
          </a:p>
          <a:p>
            <a:pPr algn="l"/>
            <a:r>
              <a:rPr sz="900" b="0">
                <a:solidFill>
                  <a:srgbClr val="C9D6EE"/>
                </a:solidFill>
                <a:latin typeface="Consolas"/>
              </a:rPr>
              <a:t>NAV STATUS: READY FOR REVIEW.</a:t>
            </a:r>
          </a:p>
        </p:txBody>
      </p:sp>
      <p:sp>
        <p:nvSpPr>
          <p:cNvPr id="12" name="Rectangle 11"/>
          <p:cNvSpPr/>
          <p:nvPr/>
        </p:nvSpPr>
        <p:spPr>
          <a:xfrm>
            <a:off x="548640" y="5486400"/>
            <a:ext cx="11091672" cy="8229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486400"/>
            <a:ext cx="64008" cy="8229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614416"/>
            <a:ext cx="10515600" cy="603504"/>
          </a:xfrm>
          <a:prstGeom prst="rect">
            <a:avLst/>
          </a:prstGeom>
          <a:noFill/>
        </p:spPr>
        <p:txBody>
          <a:bodyPr wrap="square" anchor="t" lIns="0" rIns="0" tIns="0" bIns="0">
            <a:spAutoFit/>
          </a:bodyPr>
          <a:lstStyle/>
          <a:p>
            <a:pPr algn="l"/>
            <a:r>
              <a:rPr sz="950" b="1">
                <a:solidFill>
                  <a:srgbClr val="3A5C9E"/>
                </a:solidFill>
              </a:rPr>
              <a:t>NOTICE THE CENTS IN THE MARKET VALUE COLUMN</a:t>
            </a:r>
          </a:p>
          <a:p>
            <a:pPr algn="l">
              <a:spcBef>
                <a:spcPts val="400"/>
              </a:spcBef>
            </a:pPr>
            <a:r>
              <a:rPr sz="1100" b="0">
                <a:solidFill>
                  <a:srgbClr val="1B2A41"/>
                </a:solidFill>
              </a:rPr>
              <a:t>QQQ shows 649,305.01 rather than 649,305.00. That is floating-point arithmetic on a price that Yahoo stores with more decimals than it displays. A production engine rounds the price to the vendor's stated precision before multiplying. Yours should too, and the fix is one line.</a:t>
            </a:r>
          </a:p>
        </p:txBody>
      </p:sp>
      <p:sp>
        <p:nvSpPr>
          <p:cNvPr id="15" name="TextBox 1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6" name="TextBox 1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3</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Break it on purpose, and watch the number stay wrong</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python3 m08_nav_engine.py --inject</a:t>
            </a:r>
          </a:p>
        </p:txBody>
      </p:sp>
      <p:sp>
        <p:nvSpPr>
          <p:cNvPr id="8" name="Rectangle 7"/>
          <p:cNvSpPr/>
          <p:nvPr/>
        </p:nvSpPr>
        <p:spPr>
          <a:xfrm>
            <a:off x="548640" y="2066543"/>
            <a:ext cx="11091672" cy="2066543"/>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66543"/>
            <a:ext cx="64008" cy="206654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10543032" cy="219456"/>
          </a:xfrm>
          <a:prstGeom prst="rect">
            <a:avLst/>
          </a:prstGeom>
          <a:noFill/>
        </p:spPr>
        <p:txBody>
          <a:bodyPr wrap="square" anchor="t" lIns="0" rIns="0" tIns="0" bIns="0">
            <a:spAutoFit/>
          </a:bodyPr>
          <a:lstStyle/>
          <a:p>
            <a:pPr algn="l"/>
            <a:r>
              <a:rPr sz="850" b="1">
                <a:solidFill>
                  <a:srgbClr val="C9A227"/>
                </a:solidFill>
              </a:rPr>
              <a:t>WHAT COMES BACK (REAL RUN, FAULTS INJECTED)</a:t>
            </a:r>
          </a:p>
        </p:txBody>
      </p:sp>
      <p:sp>
        <p:nvSpPr>
          <p:cNvPr id="11" name="TextBox 10"/>
          <p:cNvSpPr txBox="1"/>
          <p:nvPr/>
        </p:nvSpPr>
        <p:spPr>
          <a:xfrm>
            <a:off x="868680" y="2468879"/>
            <a:ext cx="10543032" cy="1536191"/>
          </a:xfrm>
          <a:prstGeom prst="rect">
            <a:avLst/>
          </a:prstGeom>
          <a:noFill/>
        </p:spPr>
        <p:txBody>
          <a:bodyPr wrap="none" anchor="t" lIns="0" rIns="0" tIns="0" bIns="0">
            <a:spAutoFit/>
          </a:bodyPr>
          <a:lstStyle/>
          <a:p>
            <a:pPr algn="l"/>
            <a:r>
              <a:rPr sz="950" b="0">
                <a:solidFill>
                  <a:srgbClr val="C9D6EE"/>
                </a:solidFill>
                <a:latin typeface="Consolas"/>
              </a:rPr>
              <a:t>MSFT         800      493.78     -0.80%       395,024.00   2026-09-15</a:t>
            </a:r>
          </a:p>
          <a:p>
            <a:pPr algn="l"/>
            <a:r>
              <a:rPr sz="950" b="0">
                <a:solidFill>
                  <a:srgbClr val="C9D6EE"/>
                </a:solidFill>
                <a:latin typeface="Consolas"/>
              </a:rPr>
              <a:t>XOM        2,500         n/a        n/a              n/a   2026-09-18</a:t>
            </a:r>
          </a:p>
          <a:p>
            <a:pPr algn="l"/>
            <a:r>
              <a:rPr sz="950" b="0">
                <a:solidFill>
                  <a:srgbClr val="C9D6EE"/>
                </a:solidFill>
                <a:latin typeface="Consolas"/>
              </a:rPr>
              <a:t>------------------------------------------------------------------------------</a:t>
            </a:r>
          </a:p>
          <a:p>
            <a:pPr algn="l"/>
            <a:r>
              <a:rPr sz="950" b="0">
                <a:solidFill>
                  <a:srgbClr val="C9D6EE"/>
                </a:solidFill>
                <a:latin typeface="Consolas"/>
              </a:rPr>
              <a:t>Net assets                                      2,708,352.02</a:t>
            </a:r>
          </a:p>
          <a:p>
            <a:pPr algn="l"/>
            <a:r>
              <a:rPr sz="950" b="0">
                <a:solidFill>
                  <a:srgbClr val="C9D6EE"/>
                </a:solidFill>
                <a:latin typeface="Consolas"/>
              </a:rPr>
              <a:t>NAV per share                                        27.0835</a:t>
            </a:r>
          </a:p>
          <a:p>
            <a:pPr algn="l"/>
            <a:r>
              <a:rPr sz="950" b="0">
                <a:solidFill>
                  <a:srgbClr val="C9D6EE"/>
                </a:solidFill>
                <a:latin typeface="Consolas"/>
              </a:rPr>
              <a:t/>
            </a:r>
          </a:p>
          <a:p>
            <a:pPr algn="l"/>
            <a:r>
              <a:rPr sz="950" b="0">
                <a:solidFill>
                  <a:srgbClr val="C9D6EE"/>
                </a:solidFill>
                <a:latin typeface="Consolas"/>
              </a:rPr>
              <a:t>EXCEPTIONS (2)</a:t>
            </a:r>
          </a:p>
          <a:p>
            <a:pPr algn="l"/>
            <a:r>
              <a:rPr sz="950" b="0">
                <a:solidFill>
                  <a:srgbClr val="C9D6EE"/>
                </a:solidFill>
                <a:latin typeface="Consolas"/>
              </a:rPr>
              <a:t>* MSFT: STALE DATE. Price dated 2026-09-15, fund priced as of 2026-09-18.</a:t>
            </a:r>
          </a:p>
          <a:p>
            <a:pPr algn="l"/>
            <a:r>
              <a:rPr sz="950" b="0">
                <a:solidFill>
                  <a:srgbClr val="C9D6EE"/>
                </a:solidFill>
                <a:latin typeface="Consolas"/>
              </a:rPr>
              <a:t>* XOM: MISSING PRICE. Cannot value 2,500 shares. Hold the NAV.</a:t>
            </a:r>
          </a:p>
          <a:p>
            <a:pPr algn="l"/>
            <a:r>
              <a:rPr sz="950" b="0">
                <a:solidFill>
                  <a:srgbClr val="C9D6EE"/>
                </a:solidFill>
                <a:latin typeface="Consolas"/>
              </a:rPr>
              <a:t>NAV STATUS: HELD. A missing price means the number above is incomplete.</a:t>
            </a:r>
          </a:p>
        </p:txBody>
      </p:sp>
      <p:sp>
        <p:nvSpPr>
          <p:cNvPr id="12" name="Rectangle 11"/>
          <p:cNvSpPr/>
          <p:nvPr/>
        </p:nvSpPr>
        <p:spPr>
          <a:xfrm>
            <a:off x="548640" y="4297680"/>
            <a:ext cx="11091672" cy="8229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64008" cy="8229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07408"/>
            <a:ext cx="10515600" cy="640080"/>
          </a:xfrm>
          <a:prstGeom prst="rect">
            <a:avLst/>
          </a:prstGeom>
          <a:noFill/>
        </p:spPr>
        <p:txBody>
          <a:bodyPr wrap="square" anchor="t" lIns="0" rIns="0" tIns="0" bIns="0">
            <a:spAutoFit/>
          </a:bodyPr>
          <a:lstStyle/>
          <a:p>
            <a:pPr algn="l"/>
            <a:r>
              <a:rPr sz="1000" b="1">
                <a:solidFill>
                  <a:srgbClr val="C9A227"/>
                </a:solidFill>
              </a:rPr>
              <a:t>THE MOST IMPORTANT THING THE LAB TEACHES</a:t>
            </a:r>
          </a:p>
          <a:p>
            <a:pPr algn="l">
              <a:spcBef>
                <a:spcPts val="400"/>
              </a:spcBef>
            </a:pPr>
            <a:r>
              <a:rPr sz="1100" b="0">
                <a:solidFill>
                  <a:srgbClr val="FFFFFF"/>
                </a:solidFill>
              </a:rPr>
              <a:t>The engine printed 27.0835. The true NAV is 31.1720. It is wrong by four dollars a share, because a missing price contributes zero to the sum. A NAV engine will always produce a number. The exception list is what stops the wrong number leaving the building.</a:t>
            </a:r>
          </a:p>
        </p:txBody>
      </p:sp>
      <p:sp>
        <p:nvSpPr>
          <p:cNvPr id="15" name="Rectangle 14"/>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Now go and break it in ways the script did not anticipate:</a:t>
            </a:r>
            <a:r>
              <a:rPr sz="1200" b="0">
                <a:solidFill>
                  <a:srgbClr val="FFFFFF"/>
                </a:solidFill>
              </a:rPr>
              <a:t>a negative share count, a ticker that does not exist, shares outstanding set to zero. The ones it misses become your next three rules.</a:t>
            </a:r>
          </a:p>
        </p:txBody>
      </p:sp>
      <p:sp>
        <p:nvSpPr>
          <p:cNvPr id="18" name="TextBox 17"/>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19" name="TextBox 18"/>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4</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model writes four sentences, and two of them are wrong</a:t>
            </a:r>
          </a:p>
        </p:txBody>
      </p:sp>
      <p:sp>
        <p:nvSpPr>
          <p:cNvPr id="5" name="Rectangle 4"/>
          <p:cNvSpPr/>
          <p:nvPr/>
        </p:nvSpPr>
        <p:spPr>
          <a:xfrm>
            <a:off x="548640" y="1426464"/>
            <a:ext cx="11091672" cy="1243584"/>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64008" cy="12435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10543032" cy="219456"/>
          </a:xfrm>
          <a:prstGeom prst="rect">
            <a:avLst/>
          </a:prstGeom>
          <a:noFill/>
        </p:spPr>
        <p:txBody>
          <a:bodyPr wrap="square" anchor="t" lIns="0" rIns="0" tIns="0" bIns="0">
            <a:spAutoFit/>
          </a:bodyPr>
          <a:lstStyle/>
          <a:p>
            <a:pPr algn="l"/>
            <a:r>
              <a:rPr sz="850" b="1">
                <a:solidFill>
                  <a:srgbClr val="C9A227"/>
                </a:solidFill>
              </a:rPr>
              <a:t>WHAT COMES BACK (REAL RUN ON THE CLEAN PACK)</a:t>
            </a:r>
          </a:p>
        </p:txBody>
      </p:sp>
      <p:sp>
        <p:nvSpPr>
          <p:cNvPr id="8" name="TextBox 7"/>
          <p:cNvSpPr txBox="1"/>
          <p:nvPr/>
        </p:nvSpPr>
        <p:spPr>
          <a:xfrm>
            <a:off x="868680" y="1828800"/>
            <a:ext cx="10543032" cy="713232"/>
          </a:xfrm>
          <a:prstGeom prst="rect">
            <a:avLst/>
          </a:prstGeom>
          <a:noFill/>
        </p:spPr>
        <p:txBody>
          <a:bodyPr wrap="none" anchor="t" lIns="0" rIns="0" tIns="0" bIns="0">
            <a:spAutoFit/>
          </a:bodyPr>
          <a:lstStyle/>
          <a:p>
            <a:pPr algn="l"/>
            <a:r>
              <a:rPr sz="950" b="0">
                <a:solidFill>
                  <a:srgbClr val="C9D6EE"/>
                </a:solidFill>
                <a:latin typeface="Consolas"/>
              </a:rPr>
              <a:t>As of 2026-09-18, the fund's NAV per share was 31.1720. The largest</a:t>
            </a:r>
          </a:p>
          <a:p>
            <a:pPr algn="l"/>
            <a:r>
              <a:rPr sz="950" b="0">
                <a:solidFill>
                  <a:srgbClr val="C9D6EE"/>
                </a:solidFill>
                <a:latin typeface="Consolas"/>
              </a:rPr>
              <a:t>contributor to the day's move was MSFT, which fell 0.80%. 0 exceptions were</a:t>
            </a:r>
          </a:p>
          <a:p>
            <a:pPr algn="l"/>
            <a:r>
              <a:rPr sz="950" b="0">
                <a:solidFill>
                  <a:srgbClr val="C9D6EE"/>
                </a:solidFill>
                <a:latin typeface="Consolas"/>
              </a:rPr>
              <a:t>raised: none. The NAV is held pending completion of the four-eyes check.</a:t>
            </a:r>
          </a:p>
        </p:txBody>
      </p:sp>
      <p:sp>
        <p:nvSpPr>
          <p:cNvPr id="9" name="Rectangle 8"/>
          <p:cNvSpPr/>
          <p:nvPr/>
        </p:nvSpPr>
        <p:spPr>
          <a:xfrm>
            <a:off x="548640" y="2798064"/>
            <a:ext cx="548640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980944"/>
            <a:ext cx="4937760" cy="274320"/>
          </a:xfrm>
          <a:prstGeom prst="rect">
            <a:avLst/>
          </a:prstGeom>
          <a:noFill/>
        </p:spPr>
        <p:txBody>
          <a:bodyPr wrap="square" anchor="t" lIns="0" rIns="0" tIns="0" bIns="0">
            <a:spAutoFit/>
          </a:bodyPr>
          <a:lstStyle/>
          <a:p>
            <a:pPr algn="l"/>
            <a:r>
              <a:rPr sz="950" b="1">
                <a:solidFill>
                  <a:srgbClr val="3A5C9E"/>
                </a:solidFill>
              </a:rPr>
              <a:t>FAULT ONE</a:t>
            </a:r>
          </a:p>
        </p:txBody>
      </p:sp>
      <p:sp>
        <p:nvSpPr>
          <p:cNvPr id="11" name="TextBox 10"/>
          <p:cNvSpPr txBox="1"/>
          <p:nvPr/>
        </p:nvSpPr>
        <p:spPr>
          <a:xfrm>
            <a:off x="804672" y="3291840"/>
            <a:ext cx="4937760" cy="365760"/>
          </a:xfrm>
          <a:prstGeom prst="rect">
            <a:avLst/>
          </a:prstGeom>
          <a:noFill/>
        </p:spPr>
        <p:txBody>
          <a:bodyPr wrap="square" anchor="t" lIns="0" rIns="0" tIns="0" bIns="0">
            <a:spAutoFit/>
          </a:bodyPr>
          <a:lstStyle/>
          <a:p>
            <a:pPr algn="l"/>
            <a:r>
              <a:rPr sz="1400" b="1">
                <a:solidFill>
                  <a:srgbClr val="0F2145"/>
                </a:solidFill>
                <a:latin typeface="Georgia"/>
              </a:rPr>
              <a:t>Largest contributor was never defined</a:t>
            </a:r>
          </a:p>
        </p:txBody>
      </p:sp>
      <p:sp>
        <p:nvSpPr>
          <p:cNvPr id="12" name="TextBox 11"/>
          <p:cNvSpPr txBox="1"/>
          <p:nvPr/>
        </p:nvSpPr>
        <p:spPr>
          <a:xfrm>
            <a:off x="804672" y="3712463"/>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The model picked MSFT because it had the largest percentage move.</a:t>
            </a:r>
          </a:p>
        </p:txBody>
      </p:sp>
      <p:sp>
        <p:nvSpPr>
          <p:cNvPr id="13" name="TextBox 12"/>
          <p:cNvSpPr txBox="1"/>
          <p:nvPr/>
        </p:nvSpPr>
        <p:spPr>
          <a:xfrm>
            <a:off x="804672" y="4059935"/>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The largest contributor is the largest dollar move, and that is QQQ: 0.63% of $649,305 is about $4,090, against MSFT's $3,160.</a:t>
            </a:r>
          </a:p>
        </p:txBody>
      </p:sp>
      <p:sp>
        <p:nvSpPr>
          <p:cNvPr id="14" name="TextBox 13"/>
          <p:cNvSpPr txBox="1"/>
          <p:nvPr/>
        </p:nvSpPr>
        <p:spPr>
          <a:xfrm>
            <a:off x="804672" y="4407407"/>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On the injected pack the model picked QQQ instead. Same template, different answer.</a:t>
            </a:r>
          </a:p>
        </p:txBody>
      </p:sp>
      <p:sp>
        <p:nvSpPr>
          <p:cNvPr id="15" name="TextBox 14"/>
          <p:cNvSpPr txBox="1"/>
          <p:nvPr/>
        </p:nvSpPr>
        <p:spPr>
          <a:xfrm>
            <a:off x="804672" y="4754879"/>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The fix belongs in the script: compute the contributor and let the model copy it.</a:t>
            </a:r>
          </a:p>
        </p:txBody>
      </p:sp>
      <p:sp>
        <p:nvSpPr>
          <p:cNvPr id="16" name="Rectangle 15"/>
          <p:cNvSpPr/>
          <p:nvPr/>
        </p:nvSpPr>
        <p:spPr>
          <a:xfrm>
            <a:off x="6153912" y="2798064"/>
            <a:ext cx="5486400"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2980944"/>
            <a:ext cx="4937760" cy="274320"/>
          </a:xfrm>
          <a:prstGeom prst="rect">
            <a:avLst/>
          </a:prstGeom>
          <a:noFill/>
        </p:spPr>
        <p:txBody>
          <a:bodyPr wrap="square" anchor="t" lIns="0" rIns="0" tIns="0" bIns="0">
            <a:spAutoFit/>
          </a:bodyPr>
          <a:lstStyle/>
          <a:p>
            <a:pPr algn="l"/>
            <a:r>
              <a:rPr sz="950" b="1">
                <a:solidFill>
                  <a:srgbClr val="C9A227"/>
                </a:solidFill>
              </a:rPr>
              <a:t>FAULT TWO</a:t>
            </a:r>
          </a:p>
        </p:txBody>
      </p:sp>
      <p:sp>
        <p:nvSpPr>
          <p:cNvPr id="18" name="TextBox 17"/>
          <p:cNvSpPr txBox="1"/>
          <p:nvPr/>
        </p:nvSpPr>
        <p:spPr>
          <a:xfrm>
            <a:off x="6409944" y="3291840"/>
            <a:ext cx="4937760" cy="365760"/>
          </a:xfrm>
          <a:prstGeom prst="rect">
            <a:avLst/>
          </a:prstGeom>
          <a:noFill/>
        </p:spPr>
        <p:txBody>
          <a:bodyPr wrap="square" anchor="t" lIns="0" rIns="0" tIns="0" bIns="0">
            <a:spAutoFit/>
          </a:bodyPr>
          <a:lstStyle/>
          <a:p>
            <a:pPr algn="l"/>
            <a:r>
              <a:rPr sz="1400" b="1">
                <a:solidFill>
                  <a:srgbClr val="FFFFFF"/>
                </a:solidFill>
                <a:latin typeface="Georgia"/>
              </a:rPr>
              <a:t>It reported a status the pack did not give</a:t>
            </a:r>
          </a:p>
        </p:txBody>
      </p:sp>
      <p:sp>
        <p:nvSpPr>
          <p:cNvPr id="19" name="TextBox 18"/>
          <p:cNvSpPr txBox="1"/>
          <p:nvPr/>
        </p:nvSpPr>
        <p:spPr>
          <a:xfrm>
            <a:off x="6409944" y="3712463"/>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C9D6EE"/>
                </a:solidFill>
              </a:rPr>
              <a:t>The pack said READY FOR REVIEW. The model wrote held pending the four-eyes check.</a:t>
            </a:r>
          </a:p>
        </p:txBody>
      </p:sp>
      <p:sp>
        <p:nvSpPr>
          <p:cNvPr id="20" name="TextBox 19"/>
          <p:cNvSpPr txBox="1"/>
          <p:nvPr/>
        </p:nvSpPr>
        <p:spPr>
          <a:xfrm>
            <a:off x="6409944" y="4059935"/>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C9D6EE"/>
                </a:solidFill>
              </a:rPr>
              <a:t>Defensible, and not what the pack said. A client reading held will call.</a:t>
            </a:r>
          </a:p>
        </p:txBody>
      </p:sp>
      <p:sp>
        <p:nvSpPr>
          <p:cNvPr id="21" name="TextBox 20"/>
          <p:cNvSpPr txBox="1"/>
          <p:nvPr/>
        </p:nvSpPr>
        <p:spPr>
          <a:xfrm>
            <a:off x="6409944" y="4407407"/>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C9D6EE"/>
                </a:solidFill>
              </a:rPr>
              <a:t>On the injected pack it reported 27.0835 as the NAV while the status said HELD.</a:t>
            </a:r>
          </a:p>
        </p:txBody>
      </p:sp>
      <p:sp>
        <p:nvSpPr>
          <p:cNvPr id="22" name="TextBox 21"/>
          <p:cNvSpPr txBox="1"/>
          <p:nvPr/>
        </p:nvSpPr>
        <p:spPr>
          <a:xfrm>
            <a:off x="6409944" y="4754879"/>
            <a:ext cx="4937760" cy="329184"/>
          </a:xfrm>
          <a:prstGeom prst="rect">
            <a:avLst/>
          </a:prstGeom>
          <a:noFill/>
        </p:spPr>
        <p:txBody>
          <a:bodyPr wrap="square" anchor="t" lIns="0" rIns="0" tIns="0" bIns="0">
            <a:spAutoFit/>
          </a:bodyPr>
          <a:lstStyle/>
          <a:p>
            <a:pPr algn="l"/>
            <a:r>
              <a:rPr sz="900" b="1">
                <a:solidFill>
                  <a:srgbClr val="C9A227"/>
                </a:solidFill>
              </a:rPr>
              <a:t>▪</a:t>
            </a:r>
            <a:r>
              <a:rPr sz="900" b="0">
                <a:solidFill>
                  <a:srgbClr val="C9D6EE"/>
                </a:solidFill>
              </a:rPr>
              <a:t>Make the NAV line conditional on the status, or drop the number until release.</a:t>
            </a:r>
          </a:p>
        </p:txBody>
      </p:sp>
      <p:sp>
        <p:nvSpPr>
          <p:cNvPr id="23" name="Rectangle 22"/>
          <p:cNvSpPr/>
          <p:nvPr/>
        </p:nvSpPr>
        <p:spPr>
          <a:xfrm>
            <a:off x="548640" y="5212080"/>
            <a:ext cx="11091672" cy="45720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212080"/>
            <a:ext cx="64008" cy="45720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340096"/>
            <a:ext cx="10515600" cy="237744"/>
          </a:xfrm>
          <a:prstGeom prst="rect">
            <a:avLst/>
          </a:prstGeom>
          <a:noFill/>
        </p:spPr>
        <p:txBody>
          <a:bodyPr wrap="square" anchor="t" lIns="0" rIns="0" tIns="0" bIns="0">
            <a:spAutoFit/>
          </a:bodyPr>
          <a:lstStyle/>
          <a:p>
            <a:pPr algn="l"/>
            <a:r>
              <a:rPr sz="950" b="1">
                <a:solidFill>
                  <a:srgbClr val="3A5C9E"/>
                </a:solidFill>
              </a:rPr>
              <a:t>THEN WRITE THE CHECKER</a:t>
            </a:r>
          </a:p>
          <a:p>
            <a:pPr algn="l">
              <a:spcBef>
                <a:spcPts val="400"/>
              </a:spcBef>
            </a:pPr>
            <a:r>
              <a:rPr sz="1100" b="0">
                <a:solidFill>
                  <a:srgbClr val="1B2A41"/>
                </a:solidFill>
              </a:rPr>
              <a:t>Ten lines of Python that pull every number out of the commentary and confirm each one appears in the pack.</a:t>
            </a:r>
          </a:p>
        </p:txBody>
      </p:sp>
      <p:sp>
        <p:nvSpPr>
          <p:cNvPr id="26" name="TextBox 25"/>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27" name="TextBox 26"/>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STEP 6</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third job: sort twenty flags into three buckets</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On a real fund the exception list is not two lines. It is twenty, and most of them are noise.</a:t>
            </a:r>
          </a:p>
        </p:txBody>
      </p:sp>
      <p:sp>
        <p:nvSpPr>
          <p:cNvPr id="6" name="Rectangle 5"/>
          <p:cNvSpPr/>
          <p:nvPr/>
        </p:nvSpPr>
        <p:spPr>
          <a:xfrm>
            <a:off x="548640" y="1792224"/>
            <a:ext cx="11091672" cy="73152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92224"/>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92224"/>
            <a:ext cx="10515600" cy="731520"/>
          </a:xfrm>
          <a:prstGeom prst="rect">
            <a:avLst/>
          </a:prstGeom>
          <a:noFill/>
        </p:spPr>
        <p:txBody>
          <a:bodyPr wrap="square" anchor="ctr" lIns="0" rIns="0" tIns="0" bIns="0">
            <a:spAutoFit/>
          </a:bodyPr>
          <a:lstStyle/>
          <a:p>
            <a:pPr algn="l"/>
            <a:r>
              <a:rPr sz="850" b="1">
                <a:solidFill>
                  <a:srgbClr val="C9A227"/>
                </a:solidFill>
              </a:rPr>
              <a:t>THE INSTRUCTION ABOVE THE LIST</a:t>
            </a:r>
          </a:p>
          <a:p>
            <a:pPr algn="l">
              <a:spcBef>
                <a:spcPts val="200"/>
              </a:spcBef>
            </a:pPr>
            <a:r>
              <a:rPr sz="1250" b="1">
                <a:solidFill>
                  <a:srgbClr val="FFFFFF"/>
                </a:solidFill>
                <a:latin typeface="Georgia"/>
              </a:rPr>
              <a:t>“Sort each item into SENIOR NOW, ROUTINE or AUTO-CLEAR. One line of reason per item. Do not add facts that are not in the list. Do not invent prices.”</a:t>
            </a:r>
          </a:p>
        </p:txBody>
      </p:sp>
      <p:sp>
        <p:nvSpPr>
          <p:cNvPr id="9" name="Rectangle 8"/>
          <p:cNvSpPr/>
          <p:nvPr/>
        </p:nvSpPr>
        <p:spPr>
          <a:xfrm>
            <a:off x="548640" y="2761488"/>
            <a:ext cx="361188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761488"/>
            <a:ext cx="36118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962656"/>
            <a:ext cx="3099816" cy="365760"/>
          </a:xfrm>
          <a:prstGeom prst="rect">
            <a:avLst/>
          </a:prstGeom>
          <a:noFill/>
        </p:spPr>
        <p:txBody>
          <a:bodyPr wrap="square" anchor="t" lIns="0" rIns="0" tIns="0" bIns="0">
            <a:spAutoFit/>
          </a:bodyPr>
          <a:lstStyle/>
          <a:p>
            <a:pPr algn="l"/>
            <a:r>
              <a:rPr sz="1600" b="1">
                <a:solidFill>
                  <a:srgbClr val="0F2145"/>
                </a:solidFill>
                <a:latin typeface="Georgia"/>
              </a:rPr>
              <a:t>SENIOR NOW</a:t>
            </a:r>
          </a:p>
        </p:txBody>
      </p:sp>
      <p:sp>
        <p:nvSpPr>
          <p:cNvPr id="12" name="TextBox 11"/>
          <p:cNvSpPr txBox="1"/>
          <p:nvPr/>
        </p:nvSpPr>
        <p:spPr>
          <a:xfrm>
            <a:off x="804672" y="3364992"/>
            <a:ext cx="3099816" cy="274320"/>
          </a:xfrm>
          <a:prstGeom prst="rect">
            <a:avLst/>
          </a:prstGeom>
          <a:noFill/>
        </p:spPr>
        <p:txBody>
          <a:bodyPr wrap="square" anchor="t" lIns="0" rIns="0" tIns="0" bIns="0">
            <a:spAutoFit/>
          </a:bodyPr>
          <a:lstStyle/>
          <a:p>
            <a:pPr algn="l"/>
            <a:r>
              <a:rPr sz="950" b="1">
                <a:solidFill>
                  <a:srgbClr val="3A5C9E"/>
                </a:solidFill>
              </a:rPr>
              <a:t>Blocks release, needs a decision</a:t>
            </a:r>
          </a:p>
        </p:txBody>
      </p:sp>
      <p:sp>
        <p:nvSpPr>
          <p:cNvPr id="13" name="TextBox 12"/>
          <p:cNvSpPr txBox="1"/>
          <p:nvPr/>
        </p:nvSpPr>
        <p:spPr>
          <a:xfrm>
            <a:off x="804672" y="3712463"/>
            <a:ext cx="3099816" cy="457200"/>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XOM: missing price, 2,500 shares cannot be valued</a:t>
            </a:r>
          </a:p>
        </p:txBody>
      </p:sp>
      <p:sp>
        <p:nvSpPr>
          <p:cNvPr id="14" name="TextBox 13"/>
          <p:cNvSpPr txBox="1"/>
          <p:nvPr/>
        </p:nvSpPr>
        <p:spPr>
          <a:xfrm>
            <a:off x="804672" y="4187952"/>
            <a:ext cx="3099816" cy="457200"/>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QQQ: +6.10% against a 5% limit, even with the vendor confirming</a:t>
            </a:r>
          </a:p>
        </p:txBody>
      </p:sp>
      <p:sp>
        <p:nvSpPr>
          <p:cNvPr id="15" name="TextBox 14"/>
          <p:cNvSpPr txBox="1"/>
          <p:nvPr/>
        </p:nvSpPr>
        <p:spPr>
          <a:xfrm>
            <a:off x="804672" y="5029200"/>
            <a:ext cx="3099816" cy="329184"/>
          </a:xfrm>
          <a:prstGeom prst="rect">
            <a:avLst/>
          </a:prstGeom>
          <a:noFill/>
        </p:spPr>
        <p:txBody>
          <a:bodyPr wrap="square" anchor="t" lIns="0" rIns="0" tIns="0" bIns="0">
            <a:spAutoFit/>
          </a:bodyPr>
          <a:lstStyle/>
          <a:p>
            <a:pPr algn="l"/>
            <a:r>
              <a:rPr sz="900" b="1">
                <a:solidFill>
                  <a:srgbClr val="5D6B7E"/>
                </a:solidFill>
              </a:rPr>
              <a:t>These stop the NAV. A senior accountant decides, and the decision is recorded.</a:t>
            </a:r>
          </a:p>
        </p:txBody>
      </p:sp>
      <p:sp>
        <p:nvSpPr>
          <p:cNvPr id="16" name="Rectangle 15"/>
          <p:cNvSpPr/>
          <p:nvPr/>
        </p:nvSpPr>
        <p:spPr>
          <a:xfrm>
            <a:off x="4315968" y="2761488"/>
            <a:ext cx="361188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15968" y="2761488"/>
            <a:ext cx="361188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962656"/>
            <a:ext cx="3099816" cy="365760"/>
          </a:xfrm>
          <a:prstGeom prst="rect">
            <a:avLst/>
          </a:prstGeom>
          <a:noFill/>
        </p:spPr>
        <p:txBody>
          <a:bodyPr wrap="square" anchor="t" lIns="0" rIns="0" tIns="0" bIns="0">
            <a:spAutoFit/>
          </a:bodyPr>
          <a:lstStyle/>
          <a:p>
            <a:pPr algn="l"/>
            <a:r>
              <a:rPr sz="1600" b="1">
                <a:solidFill>
                  <a:srgbClr val="0F2145"/>
                </a:solidFill>
                <a:latin typeface="Georgia"/>
              </a:rPr>
              <a:t>ROUTINE</a:t>
            </a:r>
          </a:p>
        </p:txBody>
      </p:sp>
      <p:sp>
        <p:nvSpPr>
          <p:cNvPr id="19" name="TextBox 18"/>
          <p:cNvSpPr txBox="1"/>
          <p:nvPr/>
        </p:nvSpPr>
        <p:spPr>
          <a:xfrm>
            <a:off x="4572000" y="3364992"/>
            <a:ext cx="3099816" cy="274320"/>
          </a:xfrm>
          <a:prstGeom prst="rect">
            <a:avLst/>
          </a:prstGeom>
          <a:noFill/>
        </p:spPr>
        <p:txBody>
          <a:bodyPr wrap="square" anchor="t" lIns="0" rIns="0" tIns="0" bIns="0">
            <a:spAutoFit/>
          </a:bodyPr>
          <a:lstStyle/>
          <a:p>
            <a:pPr algn="l"/>
            <a:r>
              <a:rPr sz="950" b="1">
                <a:solidFill>
                  <a:srgbClr val="3A5C9E"/>
                </a:solidFill>
              </a:rPr>
              <a:t>A junior clears it with a documented step</a:t>
            </a:r>
          </a:p>
        </p:txBody>
      </p:sp>
      <p:sp>
        <p:nvSpPr>
          <p:cNvPr id="20" name="TextBox 19"/>
          <p:cNvSpPr txBox="1"/>
          <p:nvPr/>
        </p:nvSpPr>
        <p:spPr>
          <a:xfrm>
            <a:off x="4572000" y="3712463"/>
            <a:ext cx="3099816" cy="457200"/>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MSFT: price dated 2026-09-15 against a 2026-09-18 valuation</a:t>
            </a:r>
          </a:p>
        </p:txBody>
      </p:sp>
      <p:sp>
        <p:nvSpPr>
          <p:cNvPr id="21" name="TextBox 20"/>
          <p:cNvSpPr txBox="1"/>
          <p:nvPr/>
        </p:nvSpPr>
        <p:spPr>
          <a:xfrm>
            <a:off x="4572000" y="4187952"/>
            <a:ext cx="3099816" cy="457200"/>
          </a:xfrm>
          <a:prstGeom prst="rect">
            <a:avLst/>
          </a:prstGeom>
          <a:noFill/>
        </p:spPr>
        <p:txBody>
          <a:bodyPr wrap="square" anchor="t" lIns="0" rIns="0" tIns="0" bIns="0">
            <a:spAutoFit/>
          </a:bodyPr>
          <a:lstStyle/>
          <a:p>
            <a:pPr algn="l"/>
            <a:r>
              <a:rPr sz="900" b="1">
                <a:solidFill>
                  <a:srgbClr val="C9A227"/>
                </a:solidFill>
              </a:rPr>
              <a:t>▪</a:t>
            </a:r>
            <a:r>
              <a:rPr sz="900" b="0">
                <a:solidFill>
                  <a:srgbClr val="1B2A41"/>
                </a:solidFill>
              </a:rPr>
              <a:t>AAPL: ex-dividend today, receivable not yet booked</a:t>
            </a:r>
          </a:p>
        </p:txBody>
      </p:sp>
      <p:sp>
        <p:nvSpPr>
          <p:cNvPr id="22" name="TextBox 21"/>
          <p:cNvSpPr txBox="1"/>
          <p:nvPr/>
        </p:nvSpPr>
        <p:spPr>
          <a:xfrm>
            <a:off x="4572000" y="5029200"/>
            <a:ext cx="3099816" cy="329184"/>
          </a:xfrm>
          <a:prstGeom prst="rect">
            <a:avLst/>
          </a:prstGeom>
          <a:noFill/>
        </p:spPr>
        <p:txBody>
          <a:bodyPr wrap="square" anchor="t" lIns="0" rIns="0" tIns="0" bIns="0">
            <a:spAutoFit/>
          </a:bodyPr>
          <a:lstStyle/>
          <a:p>
            <a:pPr algn="l"/>
            <a:r>
              <a:rPr sz="900" b="1">
                <a:solidFill>
                  <a:srgbClr val="5D6B7E"/>
                </a:solidFill>
              </a:rPr>
              <a:t>Known cause, known fix, and a name against the clearance.</a:t>
            </a:r>
          </a:p>
        </p:txBody>
      </p:sp>
      <p:sp>
        <p:nvSpPr>
          <p:cNvPr id="23" name="Rectangle 22"/>
          <p:cNvSpPr/>
          <p:nvPr/>
        </p:nvSpPr>
        <p:spPr>
          <a:xfrm>
            <a:off x="8083296" y="2761488"/>
            <a:ext cx="3557016" cy="26517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7" y="2962656"/>
            <a:ext cx="3044952" cy="365760"/>
          </a:xfrm>
          <a:prstGeom prst="rect">
            <a:avLst/>
          </a:prstGeom>
          <a:noFill/>
        </p:spPr>
        <p:txBody>
          <a:bodyPr wrap="square" anchor="t" lIns="0" rIns="0" tIns="0" bIns="0">
            <a:spAutoFit/>
          </a:bodyPr>
          <a:lstStyle/>
          <a:p>
            <a:pPr algn="l"/>
            <a:r>
              <a:rPr sz="1600" b="1">
                <a:solidFill>
                  <a:srgbClr val="FFFFFF"/>
                </a:solidFill>
                <a:latin typeface="Georgia"/>
              </a:rPr>
              <a:t>AUTO-CLEAR</a:t>
            </a:r>
          </a:p>
        </p:txBody>
      </p:sp>
      <p:sp>
        <p:nvSpPr>
          <p:cNvPr id="25" name="TextBox 24"/>
          <p:cNvSpPr txBox="1"/>
          <p:nvPr/>
        </p:nvSpPr>
        <p:spPr>
          <a:xfrm>
            <a:off x="8339327" y="3364992"/>
            <a:ext cx="3044952" cy="274320"/>
          </a:xfrm>
          <a:prstGeom prst="rect">
            <a:avLst/>
          </a:prstGeom>
          <a:noFill/>
        </p:spPr>
        <p:txBody>
          <a:bodyPr wrap="square" anchor="t" lIns="0" rIns="0" tIns="0" bIns="0">
            <a:spAutoFit/>
          </a:bodyPr>
          <a:lstStyle/>
          <a:p>
            <a:pPr algn="l"/>
            <a:r>
              <a:rPr sz="950" b="1">
                <a:solidFill>
                  <a:srgbClr val="C9A227"/>
                </a:solidFill>
              </a:rPr>
              <a:t>The engine can close it with a rule</a:t>
            </a:r>
          </a:p>
        </p:txBody>
      </p:sp>
      <p:sp>
        <p:nvSpPr>
          <p:cNvPr id="26" name="TextBox 25"/>
          <p:cNvSpPr txBox="1"/>
          <p:nvPr/>
        </p:nvSpPr>
        <p:spPr>
          <a:xfrm>
            <a:off x="8339327" y="3712463"/>
            <a:ext cx="3044952" cy="457200"/>
          </a:xfrm>
          <a:prstGeom prst="rect">
            <a:avLst/>
          </a:prstGeom>
          <a:noFill/>
        </p:spPr>
        <p:txBody>
          <a:bodyPr wrap="square" anchor="t" lIns="0" rIns="0" tIns="0" bIns="0">
            <a:spAutoFit/>
          </a:bodyPr>
          <a:lstStyle/>
          <a:p>
            <a:pPr algn="l"/>
            <a:r>
              <a:rPr sz="900" b="1">
                <a:solidFill>
                  <a:srgbClr val="C9A227"/>
                </a:solidFill>
              </a:rPr>
              <a:t>▪</a:t>
            </a:r>
            <a:r>
              <a:rPr sz="900" b="0">
                <a:solidFill>
                  <a:srgbClr val="C9D6EE"/>
                </a:solidFill>
              </a:rPr>
              <a:t>Custodian cash equals ledger cash. Break 0.00</a:t>
            </a:r>
          </a:p>
        </p:txBody>
      </p:sp>
      <p:sp>
        <p:nvSpPr>
          <p:cNvPr id="27" name="TextBox 26"/>
          <p:cNvSpPr txBox="1"/>
          <p:nvPr/>
        </p:nvSpPr>
        <p:spPr>
          <a:xfrm>
            <a:off x="8339327" y="4187952"/>
            <a:ext cx="3044952" cy="457200"/>
          </a:xfrm>
          <a:prstGeom prst="rect">
            <a:avLst/>
          </a:prstGeom>
          <a:noFill/>
        </p:spPr>
        <p:txBody>
          <a:bodyPr wrap="square" anchor="t" lIns="0" rIns="0" tIns="0" bIns="0">
            <a:spAutoFit/>
          </a:bodyPr>
          <a:lstStyle/>
          <a:p>
            <a:pPr algn="l"/>
            <a:r>
              <a:rPr sz="900" b="1">
                <a:solidFill>
                  <a:srgbClr val="C9A227"/>
                </a:solidFill>
              </a:rPr>
              <a:t>▪</a:t>
            </a:r>
            <a:r>
              <a:rPr sz="900" b="0">
                <a:solidFill>
                  <a:srgbClr val="C9D6EE"/>
                </a:solidFill>
              </a:rPr>
              <a:t>Register 100,000 shares equals ledger 100,000 shares. Break 0.00</a:t>
            </a:r>
          </a:p>
        </p:txBody>
      </p:sp>
      <p:sp>
        <p:nvSpPr>
          <p:cNvPr id="28" name="TextBox 27"/>
          <p:cNvSpPr txBox="1"/>
          <p:nvPr/>
        </p:nvSpPr>
        <p:spPr>
          <a:xfrm>
            <a:off x="8339327" y="4663440"/>
            <a:ext cx="3044952" cy="457200"/>
          </a:xfrm>
          <a:prstGeom prst="rect">
            <a:avLst/>
          </a:prstGeom>
          <a:noFill/>
        </p:spPr>
        <p:txBody>
          <a:bodyPr wrap="square" anchor="t" lIns="0" rIns="0" tIns="0" bIns="0">
            <a:spAutoFit/>
          </a:bodyPr>
          <a:lstStyle/>
          <a:p>
            <a:pPr algn="l"/>
            <a:r>
              <a:rPr sz="900" b="1">
                <a:solidFill>
                  <a:srgbClr val="C9A227"/>
                </a:solidFill>
              </a:rPr>
              <a:t>▪</a:t>
            </a:r>
            <a:r>
              <a:rPr sz="900" b="0">
                <a:solidFill>
                  <a:srgbClr val="C9D6EE"/>
                </a:solidFill>
              </a:rPr>
              <a:t>NAV move against benchmark 0.13%, tolerance 0.50%</a:t>
            </a:r>
          </a:p>
        </p:txBody>
      </p:sp>
      <p:sp>
        <p:nvSpPr>
          <p:cNvPr id="29" name="TextBox 28"/>
          <p:cNvSpPr txBox="1"/>
          <p:nvPr/>
        </p:nvSpPr>
        <p:spPr>
          <a:xfrm>
            <a:off x="8339327" y="5029200"/>
            <a:ext cx="3044952" cy="329184"/>
          </a:xfrm>
          <a:prstGeom prst="rect">
            <a:avLst/>
          </a:prstGeom>
          <a:noFill/>
        </p:spPr>
        <p:txBody>
          <a:bodyPr wrap="square" anchor="t" lIns="0" rIns="0" tIns="0" bIns="0">
            <a:spAutoFit/>
          </a:bodyPr>
          <a:lstStyle/>
          <a:p>
            <a:pPr algn="l"/>
            <a:r>
              <a:rPr sz="900" b="1">
                <a:solidFill>
                  <a:srgbClr val="C9D6EE"/>
                </a:solidFill>
              </a:rPr>
              <a:t>Zero breaks inside tolerance. Write the rule and stop printing them.</a:t>
            </a:r>
          </a:p>
        </p:txBody>
      </p:sp>
      <p:sp>
        <p:nvSpPr>
          <p:cNvPr id="30" name="Rectangle 29"/>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Sorting is the safest of the model's three jobs:</a:t>
            </a:r>
            <a:r>
              <a:rPr sz="1200" b="0">
                <a:solidFill>
                  <a:srgbClr val="FFFFFF"/>
                </a:solidFill>
              </a:rPr>
              <a:t>it moves nothing, computes nothing, and hands a person a shorter list to work through.</a:t>
            </a:r>
          </a:p>
        </p:txBody>
      </p:sp>
      <p:sp>
        <p:nvSpPr>
          <p:cNvPr id="33" name="TextBox 3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AI IN FINANCE · THE COMPLETE CRASH COURSE</a:t>
            </a:r>
          </a:p>
        </p:txBody>
      </p:sp>
      <p:sp>
        <p:nvSpPr>
          <p:cNvPr id="34" name="TextBox 3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PRACTICE QUESTIONS</a:t>
            </a:r>
          </a:p>
        </p:txBody>
      </p:sp>
      <p:sp>
        <p:nvSpPr>
          <p:cNvPr id="4" name="Rectangle 3"/>
          <p:cNvSpPr/>
          <p:nvPr/>
        </p:nvSpPr>
        <p:spPr>
          <a:xfrm>
            <a:off x="548640" y="9601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96012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14984"/>
            <a:ext cx="640080" cy="365760"/>
          </a:xfrm>
          <a:prstGeom prst="rect">
            <a:avLst/>
          </a:prstGeom>
          <a:noFill/>
        </p:spPr>
        <p:txBody>
          <a:bodyPr wrap="square" anchor="t" lIns="0" rIns="0" tIns="0" bIns="0">
            <a:spAutoFit/>
          </a:bodyPr>
          <a:lstStyle/>
          <a:p>
            <a:pPr algn="l"/>
            <a:r>
              <a:rPr sz="1400" b="1">
                <a:solidFill>
                  <a:srgbClr val="3A5C9E"/>
                </a:solidFill>
                <a:latin typeface="Georgia"/>
              </a:rPr>
              <a:t>Q1</a:t>
            </a:r>
          </a:p>
        </p:txBody>
      </p:sp>
      <p:sp>
        <p:nvSpPr>
          <p:cNvPr id="7" name="TextBox 6"/>
          <p:cNvSpPr txBox="1"/>
          <p:nvPr/>
        </p:nvSpPr>
        <p:spPr>
          <a:xfrm>
            <a:off x="1554480" y="1005840"/>
            <a:ext cx="9875520" cy="566928"/>
          </a:xfrm>
          <a:prstGeom prst="rect">
            <a:avLst/>
          </a:prstGeom>
          <a:noFill/>
        </p:spPr>
        <p:txBody>
          <a:bodyPr wrap="square" anchor="t" lIns="0" rIns="0" tIns="0" bIns="0">
            <a:spAutoFit/>
          </a:bodyPr>
          <a:lstStyle/>
          <a:p>
            <a:pPr algn="l"/>
            <a:r>
              <a:rPr sz="1050" b="1">
                <a:solidFill>
                  <a:srgbClr val="1B2A41"/>
                </a:solidFill>
              </a:rPr>
              <a:t>Write the NAV formula in one line and name the three items most often forgotten from the liabilities side.</a:t>
            </a:r>
          </a:p>
          <a:p>
            <a:pPr algn="l">
              <a:spcBef>
                <a:spcPts val="200"/>
              </a:spcBef>
            </a:pPr>
            <a:r>
              <a:rPr sz="900" b="1">
                <a:solidFill>
                  <a:srgbClr val="C9A227"/>
                </a:solidFill>
              </a:rPr>
              <a:t>TIP</a:t>
            </a:r>
            <a:r>
              <a:rPr sz="900" b="0">
                <a:solidFill>
                  <a:srgbClr val="5D6B7E"/>
                </a:solidFill>
              </a:rPr>
              <a:t>Assets less liabilities, divided by shares outstanding. The day's management fee accrual, other accrued expenses, and redemptions payable.</a:t>
            </a:r>
          </a:p>
        </p:txBody>
      </p:sp>
      <p:sp>
        <p:nvSpPr>
          <p:cNvPr id="8" name="Rectangle 7"/>
          <p:cNvSpPr/>
          <p:nvPr/>
        </p:nvSpPr>
        <p:spPr>
          <a:xfrm>
            <a:off x="548640" y="1655064"/>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55064"/>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09928"/>
            <a:ext cx="640080" cy="365760"/>
          </a:xfrm>
          <a:prstGeom prst="rect">
            <a:avLst/>
          </a:prstGeom>
          <a:noFill/>
        </p:spPr>
        <p:txBody>
          <a:bodyPr wrap="square" anchor="t" lIns="0" rIns="0" tIns="0" bIns="0">
            <a:spAutoFit/>
          </a:bodyPr>
          <a:lstStyle/>
          <a:p>
            <a:pPr algn="l"/>
            <a:r>
              <a:rPr sz="1400" b="1">
                <a:solidFill>
                  <a:srgbClr val="3A5C9E"/>
                </a:solidFill>
                <a:latin typeface="Georgia"/>
              </a:rPr>
              <a:t>Q2</a:t>
            </a:r>
          </a:p>
        </p:txBody>
      </p:sp>
      <p:sp>
        <p:nvSpPr>
          <p:cNvPr id="11" name="TextBox 10"/>
          <p:cNvSpPr txBox="1"/>
          <p:nvPr/>
        </p:nvSpPr>
        <p:spPr>
          <a:xfrm>
            <a:off x="1554480" y="1700784"/>
            <a:ext cx="9875520" cy="566928"/>
          </a:xfrm>
          <a:prstGeom prst="rect">
            <a:avLst/>
          </a:prstGeom>
          <a:noFill/>
        </p:spPr>
        <p:txBody>
          <a:bodyPr wrap="square" anchor="t" lIns="0" rIns="0" tIns="0" bIns="0">
            <a:spAutoFit/>
          </a:bodyPr>
          <a:lstStyle/>
          <a:p>
            <a:pPr algn="l"/>
            <a:r>
              <a:rPr sz="1050" b="1">
                <a:solidFill>
                  <a:srgbClr val="1B2A41"/>
                </a:solidFill>
              </a:rPr>
              <a:t>What does Rule 22c-1 require, and why does it make the daily NAV deadline matter?</a:t>
            </a:r>
          </a:p>
          <a:p>
            <a:pPr algn="l">
              <a:spcBef>
                <a:spcPts val="200"/>
              </a:spcBef>
            </a:pPr>
            <a:r>
              <a:rPr sz="900" b="1">
                <a:solidFill>
                  <a:srgbClr val="C9A227"/>
                </a:solidFill>
              </a:rPr>
              <a:t>TIP</a:t>
            </a:r>
            <a:r>
              <a:rPr sz="900" b="0">
                <a:solidFill>
                  <a:srgbClr val="5D6B7E"/>
                </a:solidFill>
              </a:rPr>
              <a:t>Forward pricing: an order gets the next NAV computed after it arrives. Every order in the day's queue settles on that one number.</a:t>
            </a:r>
          </a:p>
        </p:txBody>
      </p:sp>
      <p:sp>
        <p:nvSpPr>
          <p:cNvPr id="12" name="Rectangle 11"/>
          <p:cNvSpPr/>
          <p:nvPr/>
        </p:nvSpPr>
        <p:spPr>
          <a:xfrm>
            <a:off x="548640" y="2350008"/>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50008"/>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04872"/>
            <a:ext cx="640080" cy="365760"/>
          </a:xfrm>
          <a:prstGeom prst="rect">
            <a:avLst/>
          </a:prstGeom>
          <a:noFill/>
        </p:spPr>
        <p:txBody>
          <a:bodyPr wrap="square" anchor="t" lIns="0" rIns="0" tIns="0" bIns="0">
            <a:spAutoFit/>
          </a:bodyPr>
          <a:lstStyle/>
          <a:p>
            <a:pPr algn="l"/>
            <a:r>
              <a:rPr sz="1400" b="1">
                <a:solidFill>
                  <a:srgbClr val="3A5C9E"/>
                </a:solidFill>
                <a:latin typeface="Georgia"/>
              </a:rPr>
              <a:t>Q3</a:t>
            </a:r>
          </a:p>
        </p:txBody>
      </p:sp>
      <p:sp>
        <p:nvSpPr>
          <p:cNvPr id="15" name="TextBox 14"/>
          <p:cNvSpPr txBox="1"/>
          <p:nvPr/>
        </p:nvSpPr>
        <p:spPr>
          <a:xfrm>
            <a:off x="1554480" y="2395728"/>
            <a:ext cx="9875520" cy="566928"/>
          </a:xfrm>
          <a:prstGeom prst="rect">
            <a:avLst/>
          </a:prstGeom>
          <a:noFill/>
        </p:spPr>
        <p:txBody>
          <a:bodyPr wrap="square" anchor="t" lIns="0" rIns="0" tIns="0" bIns="0">
            <a:spAutoFit/>
          </a:bodyPr>
          <a:lstStyle/>
          <a:p>
            <a:pPr algn="l"/>
            <a:r>
              <a:rPr sz="1050" b="1">
                <a:solidFill>
                  <a:srgbClr val="1B2A41"/>
                </a:solidFill>
              </a:rPr>
              <a:t>List the six blocks of the NAV production cycle in order.</a:t>
            </a:r>
          </a:p>
          <a:p>
            <a:pPr algn="l">
              <a:spcBef>
                <a:spcPts val="200"/>
              </a:spcBef>
            </a:pPr>
            <a:r>
              <a:rPr sz="900" b="1">
                <a:solidFill>
                  <a:srgbClr val="C9A227"/>
                </a:solidFill>
              </a:rPr>
              <a:t>TIP</a:t>
            </a:r>
            <a:r>
              <a:rPr sz="900" b="0">
                <a:solidFill>
                  <a:srgbClr val="5D6B7E"/>
                </a:solidFill>
              </a:rPr>
              <a:t>Trade capture, corporate actions, pricing, accruals, calculation and check, reporting.</a:t>
            </a:r>
          </a:p>
        </p:txBody>
      </p:sp>
      <p:sp>
        <p:nvSpPr>
          <p:cNvPr id="16" name="Rectangle 15"/>
          <p:cNvSpPr/>
          <p:nvPr/>
        </p:nvSpPr>
        <p:spPr>
          <a:xfrm>
            <a:off x="548640" y="3044952"/>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044952"/>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99816"/>
            <a:ext cx="640080" cy="365760"/>
          </a:xfrm>
          <a:prstGeom prst="rect">
            <a:avLst/>
          </a:prstGeom>
          <a:noFill/>
        </p:spPr>
        <p:txBody>
          <a:bodyPr wrap="square" anchor="t" lIns="0" rIns="0" tIns="0" bIns="0">
            <a:spAutoFit/>
          </a:bodyPr>
          <a:lstStyle/>
          <a:p>
            <a:pPr algn="l"/>
            <a:r>
              <a:rPr sz="1400" b="1">
                <a:solidFill>
                  <a:srgbClr val="3A5C9E"/>
                </a:solidFill>
                <a:latin typeface="Georgia"/>
              </a:rPr>
              <a:t>Q4</a:t>
            </a:r>
          </a:p>
        </p:txBody>
      </p:sp>
      <p:sp>
        <p:nvSpPr>
          <p:cNvPr id="19" name="TextBox 18"/>
          <p:cNvSpPr txBox="1"/>
          <p:nvPr/>
        </p:nvSpPr>
        <p:spPr>
          <a:xfrm>
            <a:off x="1554480" y="3090672"/>
            <a:ext cx="9875520" cy="566928"/>
          </a:xfrm>
          <a:prstGeom prst="rect">
            <a:avLst/>
          </a:prstGeom>
          <a:noFill/>
        </p:spPr>
        <p:txBody>
          <a:bodyPr wrap="square" anchor="t" lIns="0" rIns="0" tIns="0" bIns="0">
            <a:spAutoFit/>
          </a:bodyPr>
          <a:lstStyle/>
          <a:p>
            <a:pPr algn="l"/>
            <a:r>
              <a:rPr sz="1050" b="1">
                <a:solidFill>
                  <a:srgbClr val="1B2A41"/>
                </a:solidFill>
              </a:rPr>
              <a:t>A holding's price is unchanged from yesterday and dated yesterday. Which exception fires, and why is it worse than a missing price?</a:t>
            </a:r>
          </a:p>
          <a:p>
            <a:pPr algn="l">
              <a:spcBef>
                <a:spcPts val="200"/>
              </a:spcBef>
            </a:pPr>
            <a:r>
              <a:rPr sz="900" b="1">
                <a:solidFill>
                  <a:srgbClr val="C9A227"/>
                </a:solidFill>
              </a:rPr>
              <a:t>TIP</a:t>
            </a:r>
            <a:r>
              <a:rPr sz="900" b="0">
                <a:solidFill>
                  <a:srgbClr val="5D6B7E"/>
                </a:solidFill>
              </a:rPr>
              <a:t>The stale date check. A stale price looks like a normal number, while a missing price is visible and blocks release on its own.</a:t>
            </a:r>
          </a:p>
        </p:txBody>
      </p:sp>
      <p:sp>
        <p:nvSpPr>
          <p:cNvPr id="20" name="Rectangle 19"/>
          <p:cNvSpPr/>
          <p:nvPr/>
        </p:nvSpPr>
        <p:spPr>
          <a:xfrm>
            <a:off x="548640" y="3739896"/>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39896"/>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94759"/>
            <a:ext cx="640080" cy="365760"/>
          </a:xfrm>
          <a:prstGeom prst="rect">
            <a:avLst/>
          </a:prstGeom>
          <a:noFill/>
        </p:spPr>
        <p:txBody>
          <a:bodyPr wrap="square" anchor="t" lIns="0" rIns="0" tIns="0" bIns="0">
            <a:spAutoFit/>
          </a:bodyPr>
          <a:lstStyle/>
          <a:p>
            <a:pPr algn="l"/>
            <a:r>
              <a:rPr sz="1400" b="1">
                <a:solidFill>
                  <a:srgbClr val="3A5C9E"/>
                </a:solidFill>
                <a:latin typeface="Georgia"/>
              </a:rPr>
              <a:t>Q5</a:t>
            </a:r>
          </a:p>
        </p:txBody>
      </p:sp>
      <p:sp>
        <p:nvSpPr>
          <p:cNvPr id="23" name="TextBox 22"/>
          <p:cNvSpPr txBox="1"/>
          <p:nvPr/>
        </p:nvSpPr>
        <p:spPr>
          <a:xfrm>
            <a:off x="1554480" y="3785615"/>
            <a:ext cx="9875520" cy="566928"/>
          </a:xfrm>
          <a:prstGeom prst="rect">
            <a:avLst/>
          </a:prstGeom>
          <a:noFill/>
        </p:spPr>
        <p:txBody>
          <a:bodyPr wrap="square" anchor="t" lIns="0" rIns="0" tIns="0" bIns="0">
            <a:spAutoFit/>
          </a:bodyPr>
          <a:lstStyle/>
          <a:p>
            <a:pPr algn="l"/>
            <a:r>
              <a:rPr sz="1050" b="1">
                <a:solidFill>
                  <a:srgbClr val="1B2A41"/>
                </a:solidFill>
              </a:rPr>
              <a:t>In the injected run the engine printed 27.0835. Explain in two sentences why it is wrong and what stopped it being released.</a:t>
            </a:r>
          </a:p>
          <a:p>
            <a:pPr algn="l">
              <a:spcBef>
                <a:spcPts val="200"/>
              </a:spcBef>
            </a:pPr>
            <a:r>
              <a:rPr sz="900" b="1">
                <a:solidFill>
                  <a:srgbClr val="C9A227"/>
                </a:solidFill>
              </a:rPr>
              <a:t>TIP</a:t>
            </a:r>
            <a:r>
              <a:rPr sz="900" b="0">
                <a:solidFill>
                  <a:srgbClr val="5D6B7E"/>
                </a:solidFill>
              </a:rPr>
              <a:t>The missing XOM price contributed zero, so net assets were understated by the whole position. The exception list set the status to HELD.</a:t>
            </a:r>
          </a:p>
        </p:txBody>
      </p:sp>
      <p:sp>
        <p:nvSpPr>
          <p:cNvPr id="24" name="Rectangle 23"/>
          <p:cNvSpPr/>
          <p:nvPr/>
        </p:nvSpPr>
        <p:spPr>
          <a:xfrm>
            <a:off x="548640" y="443484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3484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89703"/>
            <a:ext cx="640080" cy="365760"/>
          </a:xfrm>
          <a:prstGeom prst="rect">
            <a:avLst/>
          </a:prstGeom>
          <a:noFill/>
        </p:spPr>
        <p:txBody>
          <a:bodyPr wrap="square" anchor="t" lIns="0" rIns="0" tIns="0" bIns="0">
            <a:spAutoFit/>
          </a:bodyPr>
          <a:lstStyle/>
          <a:p>
            <a:pPr algn="l"/>
            <a:r>
              <a:rPr sz="1400" b="1">
                <a:solidFill>
                  <a:srgbClr val="3A5C9E"/>
                </a:solidFill>
                <a:latin typeface="Georgia"/>
              </a:rPr>
              <a:t>Q6</a:t>
            </a:r>
          </a:p>
        </p:txBody>
      </p:sp>
      <p:sp>
        <p:nvSpPr>
          <p:cNvPr id="27" name="TextBox 26"/>
          <p:cNvSpPr txBox="1"/>
          <p:nvPr/>
        </p:nvSpPr>
        <p:spPr>
          <a:xfrm>
            <a:off x="1554480" y="4480559"/>
            <a:ext cx="9875520" cy="566928"/>
          </a:xfrm>
          <a:prstGeom prst="rect">
            <a:avLst/>
          </a:prstGeom>
          <a:noFill/>
        </p:spPr>
        <p:txBody>
          <a:bodyPr wrap="square" anchor="t" lIns="0" rIns="0" tIns="0" bIns="0">
            <a:spAutoFit/>
          </a:bodyPr>
          <a:lstStyle/>
          <a:p>
            <a:pPr algn="l"/>
            <a:r>
              <a:rPr sz="1050" b="1">
                <a:solidFill>
                  <a:srgbClr val="1B2A41"/>
                </a:solidFill>
              </a:rPr>
              <a:t>The model chose MSFT as largest contributor in one run and QQQ in the next. Whose fault is that, and what is the fix?</a:t>
            </a:r>
          </a:p>
          <a:p>
            <a:pPr algn="l">
              <a:spcBef>
                <a:spcPts val="200"/>
              </a:spcBef>
            </a:pPr>
            <a:r>
              <a:rPr sz="900" b="1">
                <a:solidFill>
                  <a:srgbClr val="C9A227"/>
                </a:solidFill>
              </a:rPr>
              <a:t>TIP</a:t>
            </a:r>
            <a:r>
              <a:rPr sz="900" b="0">
                <a:solidFill>
                  <a:srgbClr val="5D6B7E"/>
                </a:solidFill>
              </a:rPr>
              <a:t>The template's, for leaving the term undefined. Define it as the largest dollar move and compute it in the script.</a:t>
            </a:r>
          </a:p>
        </p:txBody>
      </p:sp>
      <p:sp>
        <p:nvSpPr>
          <p:cNvPr id="28" name="Rectangle 27"/>
          <p:cNvSpPr/>
          <p:nvPr/>
        </p:nvSpPr>
        <p:spPr>
          <a:xfrm>
            <a:off x="548640" y="5129783"/>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29783"/>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184647"/>
            <a:ext cx="640080" cy="365760"/>
          </a:xfrm>
          <a:prstGeom prst="rect">
            <a:avLst/>
          </a:prstGeom>
          <a:noFill/>
        </p:spPr>
        <p:txBody>
          <a:bodyPr wrap="square" anchor="t" lIns="0" rIns="0" tIns="0" bIns="0">
            <a:spAutoFit/>
          </a:bodyPr>
          <a:lstStyle/>
          <a:p>
            <a:pPr algn="l"/>
            <a:r>
              <a:rPr sz="1400" b="1">
                <a:solidFill>
                  <a:srgbClr val="3A5C9E"/>
                </a:solidFill>
                <a:latin typeface="Georgia"/>
              </a:rPr>
              <a:t>Q7</a:t>
            </a:r>
          </a:p>
        </p:txBody>
      </p:sp>
      <p:sp>
        <p:nvSpPr>
          <p:cNvPr id="31" name="TextBox 30"/>
          <p:cNvSpPr txBox="1"/>
          <p:nvPr/>
        </p:nvSpPr>
        <p:spPr>
          <a:xfrm>
            <a:off x="1554480" y="5175503"/>
            <a:ext cx="9875520" cy="566928"/>
          </a:xfrm>
          <a:prstGeom prst="rect">
            <a:avLst/>
          </a:prstGeom>
          <a:noFill/>
        </p:spPr>
        <p:txBody>
          <a:bodyPr wrap="square" anchor="t" lIns="0" rIns="0" tIns="0" bIns="0">
            <a:spAutoFit/>
          </a:bodyPr>
          <a:lstStyle/>
          <a:p>
            <a:pPr algn="l"/>
            <a:r>
              <a:rPr sz="1050" b="1">
                <a:solidFill>
                  <a:srgbClr val="1B2A41"/>
                </a:solidFill>
              </a:rPr>
              <a:t>State the one rule that decides where the model may and may not be used, and give one job on each side of it.</a:t>
            </a:r>
          </a:p>
          <a:p>
            <a:pPr algn="l">
              <a:spcBef>
                <a:spcPts val="200"/>
              </a:spcBef>
            </a:pPr>
            <a:r>
              <a:rPr sz="900" b="1">
                <a:solidFill>
                  <a:srgbClr val="C9A227"/>
                </a:solidFill>
              </a:rPr>
              <a:t>TIP</a:t>
            </a:r>
            <a:r>
              <a:rPr sz="900" b="0">
                <a:solidFill>
                  <a:srgbClr val="5D6B7E"/>
                </a:solidFill>
              </a:rPr>
              <a:t>The code computes the NAV and the model never does. Code: the exception checks. Model: the four-sentence commentary from the finished pack.</a:t>
            </a:r>
          </a:p>
        </p:txBody>
      </p:sp>
      <p:sp>
        <p:nvSpPr>
          <p:cNvPr id="32" name="Rectangle 31"/>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870448"/>
            <a:ext cx="10515600" cy="512064"/>
          </a:xfrm>
          <a:prstGeom prst="rect">
            <a:avLst/>
          </a:prstGeom>
          <a:noFill/>
        </p:spPr>
        <p:txBody>
          <a:bodyPr wrap="square" anchor="ctr" lIns="0" rIns="0" tIns="0" bIns="0">
            <a:spAutoFit/>
          </a:bodyPr>
          <a:lstStyle/>
          <a:p>
            <a:pPr algn="l"/>
            <a:r>
              <a:rPr sz="1100" b="1">
                <a:solidFill>
                  <a:srgbClr val="C9A227"/>
                </a:solidFill>
              </a:rPr>
              <a:t>Before Session 9:</a:t>
            </a:r>
            <a:r>
              <a:rPr sz="1100" b="0">
                <a:solidFill>
                  <a:srgbClr val="FFFFFF"/>
                </a:solidFill>
              </a:rPr>
              <a:t>pick one US listed company and write down the last date its price actually changed, and how you would know if it had stopped updating.</a:t>
            </a:r>
          </a:p>
        </p:txBody>
      </p:sp>
      <p:sp>
        <p:nvSpPr>
          <p:cNvPr id="35" name="TextBox 34"/>
          <p:cNvSpPr txBox="1"/>
          <p:nvPr/>
        </p:nvSpPr>
        <p:spPr>
          <a:xfrm>
            <a:off x="548640" y="6473952"/>
            <a:ext cx="8229600" cy="228600"/>
          </a:xfrm>
          <a:prstGeom prst="rect">
            <a:avLst/>
          </a:prstGeom>
          <a:noFill/>
        </p:spPr>
        <p:txBody>
          <a:bodyPr wrap="square" anchor="t" lIns="0" rIns="0" tIns="0" bIns="0">
            <a:spAutoFit/>
          </a:bodyPr>
          <a:lstStyle/>
          <a:p>
            <a:pPr algn="l"/>
            <a:r>
              <a:rPr sz="800" b="0">
                <a:solidFill>
                  <a:srgbClr val="5D6B7E"/>
                </a:solidFill>
              </a:rPr>
              <a:t>The tip is the shape of the answer, not the whole answer. Two or three sentences each in the exam.</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8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