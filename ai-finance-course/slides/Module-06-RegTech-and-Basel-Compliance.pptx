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14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354312" y="0"/>
            <a:ext cx="2834640" cy="685800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354312" y="0"/>
            <a:ext cx="36576" cy="6858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32688"/>
            <a:ext cx="8229600" cy="274320"/>
          </a:xfrm>
          <a:prstGeom prst="rect">
            <a:avLst/>
          </a:prstGeom>
          <a:noFill/>
        </p:spPr>
        <p:txBody>
          <a:bodyPr wrap="square" anchor="t" lIns="0" rIns="0" tIns="0" bIns="0">
            <a:spAutoFit/>
          </a:bodyPr>
          <a:lstStyle/>
          <a:p>
            <a:pPr algn="l"/>
            <a:r>
              <a:rPr sz="1200" b="1">
                <a:solidFill>
                  <a:srgbClr val="C9A227"/>
                </a:solidFill>
              </a:rPr>
              <a:t>AI IN FINANCE · THE COMPLETE CRASH COURSE · MODULE 6 OF 10</a:t>
            </a:r>
          </a:p>
        </p:txBody>
      </p:sp>
      <p:sp>
        <p:nvSpPr>
          <p:cNvPr id="6" name="TextBox 5"/>
          <p:cNvSpPr txBox="1"/>
          <p:nvPr/>
        </p:nvSpPr>
        <p:spPr>
          <a:xfrm>
            <a:off x="548640" y="1371600"/>
            <a:ext cx="8595360" cy="2194560"/>
          </a:xfrm>
          <a:prstGeom prst="rect">
            <a:avLst/>
          </a:prstGeom>
          <a:noFill/>
        </p:spPr>
        <p:txBody>
          <a:bodyPr wrap="square" anchor="t" lIns="0" rIns="0" tIns="0" bIns="0">
            <a:spAutoFit/>
          </a:bodyPr>
          <a:lstStyle/>
          <a:p>
            <a:pPr algn="l"/>
            <a:r>
              <a:rPr sz="5800" b="1">
                <a:solidFill>
                  <a:srgbClr val="FFFFFF"/>
                </a:solidFill>
                <a:latin typeface="Georgia"/>
              </a:rPr>
              <a:t>Module 6</a:t>
            </a:r>
          </a:p>
          <a:p>
            <a:pPr algn="l">
              <a:spcBef>
                <a:spcPts val="1000"/>
              </a:spcBef>
            </a:pPr>
            <a:r>
              <a:rPr sz="2100" b="0">
                <a:solidFill>
                  <a:srgbClr val="C9D6EE"/>
                </a:solidFill>
                <a:latin typeface="Georgia"/>
              </a:rPr>
              <a:t>RegTech and Automated Basel III Compliance</a:t>
            </a:r>
          </a:p>
        </p:txBody>
      </p:sp>
      <p:sp>
        <p:nvSpPr>
          <p:cNvPr id="7" name="Rectangle 6"/>
          <p:cNvSpPr/>
          <p:nvPr/>
        </p:nvSpPr>
        <p:spPr>
          <a:xfrm>
            <a:off x="548640" y="3913632"/>
            <a:ext cx="402336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4133087"/>
            <a:ext cx="8229600" cy="1097280"/>
          </a:xfrm>
          <a:prstGeom prst="rect">
            <a:avLst/>
          </a:prstGeom>
          <a:noFill/>
        </p:spPr>
        <p:txBody>
          <a:bodyPr wrap="square" anchor="t" lIns="0" rIns="0" tIns="0" bIns="0">
            <a:spAutoFit/>
          </a:bodyPr>
          <a:lstStyle/>
          <a:p>
            <a:pPr algn="l"/>
            <a:r>
              <a:rPr sz="1700" b="1">
                <a:solidFill>
                  <a:srgbClr val="FFFFFF"/>
                </a:solidFill>
              </a:rPr>
              <a:t>Tejas Jadhav, CFA, FRM</a:t>
            </a:r>
          </a:p>
          <a:p>
            <a:pPr algn="l">
              <a:spcBef>
                <a:spcPts val="400"/>
              </a:spcBef>
            </a:pPr>
            <a:r>
              <a:rPr sz="1200" b="0">
                <a:solidFill>
                  <a:srgbClr val="8FA1C4"/>
                </a:solidFill>
              </a:rPr>
              <a:t>AI in Finance: The Complete Crash Course</a:t>
            </a:r>
          </a:p>
          <a:p>
            <a:pPr algn="l">
              <a:spcBef>
                <a:spcPts val="300"/>
              </a:spcBef>
            </a:pPr>
            <a:r>
              <a:rPr sz="1200" b="1">
                <a:solidFill>
                  <a:srgbClr val="C9A227"/>
                </a:solidFill>
              </a:rPr>
              <a:t>tejasgjadhav.github.io/AIFinanceCrashcourse</a:t>
            </a:r>
          </a:p>
        </p:txBody>
      </p:sp>
      <p:sp>
        <p:nvSpPr>
          <p:cNvPr id="9" name="TextBox 8"/>
          <p:cNvSpPr txBox="1"/>
          <p:nvPr/>
        </p:nvSpPr>
        <p:spPr>
          <a:xfrm>
            <a:off x="9646920" y="850392"/>
            <a:ext cx="2194560" cy="274320"/>
          </a:xfrm>
          <a:prstGeom prst="rect">
            <a:avLst/>
          </a:prstGeom>
          <a:noFill/>
        </p:spPr>
        <p:txBody>
          <a:bodyPr wrap="square" anchor="t" lIns="0" rIns="0" tIns="0" bIns="0">
            <a:spAutoFit/>
          </a:bodyPr>
          <a:lstStyle/>
          <a:p>
            <a:pPr algn="l"/>
            <a:r>
              <a:rPr sz="1000" b="1">
                <a:solidFill>
                  <a:srgbClr val="C9A227"/>
                </a:solidFill>
              </a:rPr>
              <a:t>TODAY</a:t>
            </a:r>
          </a:p>
        </p:txBody>
      </p:sp>
      <p:sp>
        <p:nvSpPr>
          <p:cNvPr id="10" name="TextBox 9"/>
          <p:cNvSpPr txBox="1"/>
          <p:nvPr/>
        </p:nvSpPr>
        <p:spPr>
          <a:xfrm>
            <a:off x="9646920" y="1234440"/>
            <a:ext cx="2286000" cy="1005840"/>
          </a:xfrm>
          <a:prstGeom prst="rect">
            <a:avLst/>
          </a:prstGeom>
          <a:noFill/>
        </p:spPr>
        <p:txBody>
          <a:bodyPr wrap="square" anchor="t" lIns="0" rIns="0" tIns="0" bIns="0">
            <a:spAutoFit/>
          </a:bodyPr>
          <a:lstStyle/>
          <a:p>
            <a:pPr algn="l"/>
            <a:r>
              <a:rPr sz="1500" b="1">
                <a:solidFill>
                  <a:srgbClr val="FFFFFF"/>
                </a:solidFill>
                <a:latin typeface="Georgia"/>
              </a:rPr>
              <a:t>One table</a:t>
            </a:r>
          </a:p>
          <a:p>
            <a:pPr algn="l">
              <a:spcBef>
                <a:spcPts val="400"/>
              </a:spcBef>
            </a:pPr>
            <a:r>
              <a:rPr sz="1000" b="0">
                <a:solidFill>
                  <a:srgbClr val="8FA1C4"/>
                </a:solidFill>
              </a:rPr>
              <a:t>Five numbers and four ratios.</a:t>
            </a:r>
          </a:p>
          <a:p>
            <a:pPr algn="l">
              <a:spcBef>
                <a:spcPts val="200"/>
              </a:spcBef>
            </a:pPr>
            <a:r>
              <a:rPr sz="1000" b="0">
                <a:solidFill>
                  <a:srgbClr val="8FA1C4"/>
                </a:solidFill>
              </a:rPr>
              <a:t>Each ratio is one division.</a:t>
            </a:r>
          </a:p>
          <a:p>
            <a:pPr algn="l">
              <a:spcBef>
                <a:spcPts val="200"/>
              </a:spcBef>
            </a:pPr>
            <a:r>
              <a:rPr sz="1000" b="0">
                <a:solidFill>
                  <a:srgbClr val="8FA1C4"/>
                </a:solidFill>
              </a:rPr>
              <a:t>The division was never the hard part.</a:t>
            </a:r>
          </a:p>
        </p:txBody>
      </p:sp>
      <p:sp>
        <p:nvSpPr>
          <p:cNvPr id="11" name="TextBox 10"/>
          <p:cNvSpPr txBox="1"/>
          <p:nvPr/>
        </p:nvSpPr>
        <p:spPr>
          <a:xfrm>
            <a:off x="9646920" y="2788920"/>
            <a:ext cx="2286000" cy="1097280"/>
          </a:xfrm>
          <a:prstGeom prst="rect">
            <a:avLst/>
          </a:prstGeom>
          <a:noFill/>
        </p:spPr>
        <p:txBody>
          <a:bodyPr wrap="square" anchor="t" lIns="0" rIns="0" tIns="0" bIns="0">
            <a:spAutoFit/>
          </a:bodyPr>
          <a:lstStyle/>
          <a:p>
            <a:pPr algn="l"/>
            <a:r>
              <a:rPr sz="1500" b="1">
                <a:solidFill>
                  <a:srgbClr val="FFFFFF"/>
                </a:solidFill>
                <a:latin typeface="Georgia"/>
              </a:rPr>
              <a:t>One hard rule</a:t>
            </a:r>
          </a:p>
          <a:p>
            <a:pPr algn="l">
              <a:spcBef>
                <a:spcPts val="400"/>
              </a:spcBef>
            </a:pPr>
            <a:r>
              <a:rPr sz="1000" b="0">
                <a:solidFill>
                  <a:srgbClr val="8FA1C4"/>
                </a:solidFill>
              </a:rPr>
              <a:t>A deterministic figure is</a:t>
            </a:r>
          </a:p>
          <a:p>
            <a:pPr algn="l">
              <a:spcBef>
                <a:spcPts val="200"/>
              </a:spcBef>
            </a:pPr>
            <a:r>
              <a:rPr sz="1000" b="0">
                <a:solidFill>
                  <a:srgbClr val="8FA1C4"/>
                </a:solidFill>
              </a:rPr>
              <a:t>never overwritten by any</a:t>
            </a:r>
          </a:p>
          <a:p>
            <a:pPr algn="l">
              <a:spcBef>
                <a:spcPts val="200"/>
              </a:spcBef>
            </a:pPr>
            <a:r>
              <a:rPr sz="1000" b="0">
                <a:solidFill>
                  <a:srgbClr val="8FA1C4"/>
                </a:solidFill>
              </a:rPr>
              <a:t>other kind.</a:t>
            </a:r>
          </a:p>
        </p:txBody>
      </p:sp>
      <p:sp>
        <p:nvSpPr>
          <p:cNvPr id="12" name="TextBox 11"/>
          <p:cNvSpPr txBox="1"/>
          <p:nvPr/>
        </p:nvSpPr>
        <p:spPr>
          <a:xfrm>
            <a:off x="9646920" y="4434840"/>
            <a:ext cx="2286000" cy="1463040"/>
          </a:xfrm>
          <a:prstGeom prst="rect">
            <a:avLst/>
          </a:prstGeom>
          <a:noFill/>
        </p:spPr>
        <p:txBody>
          <a:bodyPr wrap="square" anchor="t" lIns="0" rIns="0" tIns="0" bIns="0">
            <a:spAutoFit/>
          </a:bodyPr>
          <a:lstStyle/>
          <a:p>
            <a:pPr algn="l"/>
            <a:r>
              <a:rPr sz="4400" b="1">
                <a:solidFill>
                  <a:srgbClr val="C9A227"/>
                </a:solidFill>
                <a:latin typeface="Georgia"/>
              </a:rPr>
              <a:t>1</a:t>
            </a:r>
          </a:p>
          <a:p>
            <a:pPr algn="l">
              <a:spcBef>
                <a:spcPts val="400"/>
              </a:spcBef>
            </a:pPr>
            <a:r>
              <a:rPr sz="900" b="0">
                <a:solidFill>
                  <a:srgbClr val="8FA1C4"/>
                </a:solidFill>
              </a:rPr>
              <a:t>PROVENANCE-TAGGED DISCLOSURE,</a:t>
            </a:r>
          </a:p>
          <a:p>
            <a:pPr algn="l">
              <a:spcBef>
                <a:spcPts val="200"/>
              </a:spcBef>
            </a:pPr>
            <a:r>
              <a:rPr sz="900" b="0">
                <a:solidFill>
                  <a:srgbClr val="8FA1C4"/>
                </a:solidFill>
              </a:rPr>
              <a:t>RECONCILED, BEFORE YOU LEAVE</a:t>
            </a:r>
          </a:p>
        </p:txBody>
      </p:sp>
      <p:sp>
        <p:nvSpPr>
          <p:cNvPr id="13" name="TextBox 12"/>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8FA1C4"/>
                </a:solidFill>
              </a:rPr>
              <a:t>AI IN FINANCE · THE COMPLETE CRASH COURSE</a:t>
            </a:r>
          </a:p>
        </p:txBody>
      </p:sp>
      <p:sp>
        <p:nvSpPr>
          <p:cNvPr id="14" name="TextBox 13"/>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8FA1C4"/>
                </a:solidFill>
              </a:rPr>
              <a:t>MODULE 6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THE PLAN</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What we do in these three hours</a:t>
            </a:r>
          </a:p>
        </p:txBody>
      </p:sp>
      <p:sp>
        <p:nvSpPr>
          <p:cNvPr id="5" name="Rectangle 4"/>
          <p:cNvSpPr/>
          <p:nvPr/>
        </p:nvSpPr>
        <p:spPr>
          <a:xfrm>
            <a:off x="548640"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47088"/>
            <a:ext cx="3108960" cy="274320"/>
          </a:xfrm>
          <a:prstGeom prst="rect">
            <a:avLst/>
          </a:prstGeom>
          <a:noFill/>
        </p:spPr>
        <p:txBody>
          <a:bodyPr wrap="square" anchor="t" lIns="0" rIns="0" tIns="0" bIns="0">
            <a:spAutoFit/>
          </a:bodyPr>
          <a:lstStyle/>
          <a:p>
            <a:pPr algn="l"/>
            <a:r>
              <a:rPr sz="950" b="1">
                <a:solidFill>
                  <a:srgbClr val="3A5C9E"/>
                </a:solidFill>
              </a:rPr>
              <a:t>HOUR 1 · 60 MIN</a:t>
            </a:r>
          </a:p>
        </p:txBody>
      </p:sp>
      <p:sp>
        <p:nvSpPr>
          <p:cNvPr id="8" name="TextBox 7"/>
          <p:cNvSpPr txBox="1"/>
          <p:nvPr/>
        </p:nvSpPr>
        <p:spPr>
          <a:xfrm>
            <a:off x="804672"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What is disclosed</a:t>
            </a:r>
          </a:p>
        </p:txBody>
      </p:sp>
      <p:sp>
        <p:nvSpPr>
          <p:cNvPr id="9" name="TextBox 8"/>
          <p:cNvSpPr txBox="1"/>
          <p:nvPr/>
        </p:nvSpPr>
        <p:spPr>
          <a:xfrm>
            <a:off x="804672" y="2743200"/>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Three pillars, and the one that produces a document</a:t>
            </a:r>
          </a:p>
        </p:txBody>
      </p:sp>
      <p:sp>
        <p:nvSpPr>
          <p:cNvPr id="10" name="TextBox 9"/>
          <p:cNvSpPr txBox="1"/>
          <p:nvPr/>
        </p:nvSpPr>
        <p:spPr>
          <a:xfrm>
            <a:off x="804672" y="3218688"/>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The bridge from equity to CET1, and the gap inside it</a:t>
            </a:r>
          </a:p>
        </p:txBody>
      </p:sp>
      <p:sp>
        <p:nvSpPr>
          <p:cNvPr id="11" name="TextBox 10"/>
          <p:cNvSpPr txBox="1"/>
          <p:nvPr/>
        </p:nvSpPr>
        <p:spPr>
          <a:xfrm>
            <a:off x="804672" y="3694176"/>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Two approaches, and why the lower ratio is the one that binds</a:t>
            </a:r>
          </a:p>
        </p:txBody>
      </p:sp>
      <p:sp>
        <p:nvSpPr>
          <p:cNvPr id="12" name="TextBox 11"/>
          <p:cNvSpPr txBox="1"/>
          <p:nvPr/>
        </p:nvSpPr>
        <p:spPr>
          <a:xfrm>
            <a:off x="804672" y="4169664"/>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Four provenance tags, and the rule that holds them together</a:t>
            </a:r>
          </a:p>
        </p:txBody>
      </p:sp>
      <p:sp>
        <p:nvSpPr>
          <p:cNvPr id="13" name="Rectangle 12"/>
          <p:cNvSpPr/>
          <p:nvPr/>
        </p:nvSpPr>
        <p:spPr>
          <a:xfrm>
            <a:off x="4315968"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847088"/>
            <a:ext cx="3108960" cy="274320"/>
          </a:xfrm>
          <a:prstGeom prst="rect">
            <a:avLst/>
          </a:prstGeom>
          <a:noFill/>
        </p:spPr>
        <p:txBody>
          <a:bodyPr wrap="square" anchor="t" lIns="0" rIns="0" tIns="0" bIns="0">
            <a:spAutoFit/>
          </a:bodyPr>
          <a:lstStyle/>
          <a:p>
            <a:pPr algn="l"/>
            <a:r>
              <a:rPr sz="950" b="1">
                <a:solidFill>
                  <a:srgbClr val="3A5C9E"/>
                </a:solidFill>
              </a:rPr>
              <a:t>HOUR 2 · 60 MIN</a:t>
            </a:r>
          </a:p>
        </p:txBody>
      </p:sp>
      <p:sp>
        <p:nvSpPr>
          <p:cNvPr id="16" name="TextBox 15"/>
          <p:cNvSpPr txBox="1"/>
          <p:nvPr/>
        </p:nvSpPr>
        <p:spPr>
          <a:xfrm>
            <a:off x="4572000"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How the pipeline works</a:t>
            </a:r>
          </a:p>
        </p:txBody>
      </p:sp>
      <p:sp>
        <p:nvSpPr>
          <p:cNvPr id="17" name="TextBox 16"/>
          <p:cNvSpPr txBox="1"/>
          <p:nvPr/>
        </p:nvSpPr>
        <p:spPr>
          <a:xfrm>
            <a:off x="4572000" y="2743200"/>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A wide funnel, a gate in the middle, a fork at the end</a:t>
            </a:r>
          </a:p>
        </p:txBody>
      </p:sp>
      <p:sp>
        <p:nvSpPr>
          <p:cNvPr id="18" name="TextBox 17"/>
          <p:cNvSpPr txBox="1"/>
          <p:nvPr/>
        </p:nvSpPr>
        <p:spPr>
          <a:xfrm>
            <a:off x="4572000" y="3218688"/>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The quote check that stops an invented number entering</a:t>
            </a:r>
          </a:p>
        </p:txBody>
      </p:sp>
      <p:sp>
        <p:nvSpPr>
          <p:cNvPr id="19" name="TextBox 18"/>
          <p:cNvSpPr txBox="1"/>
          <p:nvPr/>
        </p:nvSpPr>
        <p:spPr>
          <a:xfrm>
            <a:off x="4572000" y="3694176"/>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Reconciliation before narrative, every time</a:t>
            </a:r>
          </a:p>
        </p:txBody>
      </p:sp>
      <p:sp>
        <p:nvSpPr>
          <p:cNvPr id="20" name="TextBox 19"/>
          <p:cNvSpPr txBox="1"/>
          <p:nvPr/>
        </p:nvSpPr>
        <p:spPr>
          <a:xfrm>
            <a:off x="4572000" y="4169664"/>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Twelve steps, and the two places the model is allowed</a:t>
            </a:r>
          </a:p>
        </p:txBody>
      </p:sp>
      <p:sp>
        <p:nvSpPr>
          <p:cNvPr id="21" name="Rectangle 20"/>
          <p:cNvSpPr/>
          <p:nvPr/>
        </p:nvSpPr>
        <p:spPr>
          <a:xfrm>
            <a:off x="8083296"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3296"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1847088"/>
            <a:ext cx="3108960" cy="274320"/>
          </a:xfrm>
          <a:prstGeom prst="rect">
            <a:avLst/>
          </a:prstGeom>
          <a:noFill/>
        </p:spPr>
        <p:txBody>
          <a:bodyPr wrap="square" anchor="t" lIns="0" rIns="0" tIns="0" bIns="0">
            <a:spAutoFit/>
          </a:bodyPr>
          <a:lstStyle/>
          <a:p>
            <a:pPr algn="l"/>
            <a:r>
              <a:rPr sz="950" b="1">
                <a:solidFill>
                  <a:srgbClr val="3A5C9E"/>
                </a:solidFill>
              </a:rPr>
              <a:t>HOUR 3 · 60 MIN</a:t>
            </a:r>
          </a:p>
        </p:txBody>
      </p:sp>
      <p:sp>
        <p:nvSpPr>
          <p:cNvPr id="24" name="TextBox 23"/>
          <p:cNvSpPr txBox="1"/>
          <p:nvPr/>
        </p:nvSpPr>
        <p:spPr>
          <a:xfrm>
            <a:off x="8339327"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Build it</a:t>
            </a:r>
          </a:p>
        </p:txBody>
      </p:sp>
      <p:sp>
        <p:nvSpPr>
          <p:cNvPr id="25" name="TextBox 24"/>
          <p:cNvSpPr txBox="1"/>
          <p:nvPr/>
        </p:nvSpPr>
        <p:spPr>
          <a:xfrm>
            <a:off x="8339327" y="2743200"/>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Pull one fact from the SEC XBRL API and read the trap in it</a:t>
            </a:r>
          </a:p>
        </p:txBody>
      </p:sp>
      <p:sp>
        <p:nvSpPr>
          <p:cNvPr id="26" name="TextBox 25"/>
          <p:cNvSpPr txBox="1"/>
          <p:nvPr/>
        </p:nvSpPr>
        <p:spPr>
          <a:xfrm>
            <a:off x="8339327" y="3218688"/>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Recompute four ratios and check them against the filing</a:t>
            </a:r>
          </a:p>
        </p:txBody>
      </p:sp>
      <p:sp>
        <p:nvSpPr>
          <p:cNvPr id="27" name="TextBox 26"/>
          <p:cNvSpPr txBox="1"/>
          <p:nvPr/>
        </p:nvSpPr>
        <p:spPr>
          <a:xfrm>
            <a:off x="8339327" y="3694176"/>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Transpose one digit on purpose and watch the check fire</a:t>
            </a:r>
          </a:p>
        </p:txBody>
      </p:sp>
      <p:sp>
        <p:nvSpPr>
          <p:cNvPr id="28" name="TextBox 27"/>
          <p:cNvSpPr txBox="1"/>
          <p:nvPr/>
        </p:nvSpPr>
        <p:spPr>
          <a:xfrm>
            <a:off x="8339327" y="4169664"/>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Assemble the Word file with a provenance column</a:t>
            </a:r>
          </a:p>
        </p:txBody>
      </p:sp>
      <p:sp>
        <p:nvSpPr>
          <p:cNvPr id="29" name="Rectangle 28"/>
          <p:cNvSpPr/>
          <p:nvPr/>
        </p:nvSpPr>
        <p:spPr>
          <a:xfrm>
            <a:off x="548640" y="4956048"/>
            <a:ext cx="11091672" cy="60350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956048"/>
            <a:ext cx="64008"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956048"/>
            <a:ext cx="10515600" cy="603504"/>
          </a:xfrm>
          <a:prstGeom prst="rect">
            <a:avLst/>
          </a:prstGeom>
          <a:noFill/>
        </p:spPr>
        <p:txBody>
          <a:bodyPr wrap="square" anchor="ctr" lIns="0" rIns="0" tIns="0" bIns="0">
            <a:spAutoFit/>
          </a:bodyPr>
          <a:lstStyle/>
          <a:p>
            <a:pPr algn="l"/>
            <a:r>
              <a:rPr sz="1100" b="1">
                <a:solidFill>
                  <a:srgbClr val="3A5C9E"/>
                </a:solidFill>
              </a:rPr>
              <a:t>NOTHING IN HOUR 3 NEEDS AN API KEY.</a:t>
            </a:r>
            <a:r>
              <a:rPr sz="1100" b="0">
                <a:solidFill>
                  <a:srgbClr val="1B2A41"/>
                </a:solidFill>
              </a:rPr>
              <a:t>Python 3, python-docx for the last script, and any free AI chat window for the narrative step.</a:t>
            </a:r>
          </a:p>
        </p:txBody>
      </p:sp>
      <p:sp>
        <p:nvSpPr>
          <p:cNvPr id="32" name="Rectangle 31"/>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The whole module in one line:</a:t>
            </a:r>
            <a:r>
              <a:rPr sz="1200" b="0">
                <a:solidFill>
                  <a:srgbClr val="FFFFFF"/>
                </a:solidFill>
              </a:rPr>
              <a:t>the division was never the difficult part. Proving the numerator and the denominator are right is the job.</a:t>
            </a:r>
          </a:p>
        </p:txBody>
      </p:sp>
      <p:sp>
        <p:nvSpPr>
          <p:cNvPr id="35" name="TextBox 34"/>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6" name="TextBox 3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THE FRAMEWORK</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Three pillars, and one of them is a document</a:t>
            </a:r>
          </a:p>
        </p:txBody>
      </p:sp>
      <p:sp>
        <p:nvSpPr>
          <p:cNvPr id="5" name="Rectangle 4"/>
          <p:cNvSpPr/>
          <p:nvPr/>
        </p:nvSpPr>
        <p:spPr>
          <a:xfrm>
            <a:off x="548640" y="1554480"/>
            <a:ext cx="3611880" cy="2432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828800"/>
            <a:ext cx="3099816" cy="274320"/>
          </a:xfrm>
          <a:prstGeom prst="rect">
            <a:avLst/>
          </a:prstGeom>
          <a:noFill/>
        </p:spPr>
        <p:txBody>
          <a:bodyPr wrap="square" anchor="t" lIns="0" rIns="0" tIns="0" bIns="0">
            <a:spAutoFit/>
          </a:bodyPr>
          <a:lstStyle/>
          <a:p>
            <a:pPr algn="l"/>
            <a:r>
              <a:rPr sz="950" b="1">
                <a:solidFill>
                  <a:srgbClr val="3A5C9E"/>
                </a:solidFill>
              </a:rPr>
              <a:t>PILLAR 1</a:t>
            </a:r>
          </a:p>
        </p:txBody>
      </p:sp>
      <p:sp>
        <p:nvSpPr>
          <p:cNvPr id="7" name="TextBox 6"/>
          <p:cNvSpPr txBox="1"/>
          <p:nvPr/>
        </p:nvSpPr>
        <p:spPr>
          <a:xfrm>
            <a:off x="804672" y="2157984"/>
            <a:ext cx="3099816" cy="411480"/>
          </a:xfrm>
          <a:prstGeom prst="rect">
            <a:avLst/>
          </a:prstGeom>
          <a:noFill/>
        </p:spPr>
        <p:txBody>
          <a:bodyPr wrap="square" anchor="t" lIns="0" rIns="0" tIns="0" bIns="0">
            <a:spAutoFit/>
          </a:bodyPr>
          <a:lstStyle/>
          <a:p>
            <a:pPr algn="l"/>
            <a:r>
              <a:rPr sz="1700" b="1">
                <a:solidFill>
                  <a:srgbClr val="0F2145"/>
                </a:solidFill>
                <a:latin typeface="Georgia"/>
              </a:rPr>
              <a:t>The arithmetic</a:t>
            </a:r>
          </a:p>
        </p:txBody>
      </p:sp>
      <p:sp>
        <p:nvSpPr>
          <p:cNvPr id="8" name="TextBox 7"/>
          <p:cNvSpPr txBox="1"/>
          <p:nvPr/>
        </p:nvSpPr>
        <p:spPr>
          <a:xfrm>
            <a:off x="804672" y="2688336"/>
            <a:ext cx="3099816" cy="54864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Sets the minimum capital requirement</a:t>
            </a:r>
          </a:p>
        </p:txBody>
      </p:sp>
      <p:sp>
        <p:nvSpPr>
          <p:cNvPr id="9" name="TextBox 8"/>
          <p:cNvSpPr txBox="1"/>
          <p:nvPr/>
        </p:nvSpPr>
        <p:spPr>
          <a:xfrm>
            <a:off x="804672" y="3255264"/>
            <a:ext cx="3099816" cy="54864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Defines which instruments count as capital</a:t>
            </a:r>
          </a:p>
        </p:txBody>
      </p:sp>
      <p:sp>
        <p:nvSpPr>
          <p:cNvPr id="10" name="TextBox 9"/>
          <p:cNvSpPr txBox="1"/>
          <p:nvPr/>
        </p:nvSpPr>
        <p:spPr>
          <a:xfrm>
            <a:off x="804672" y="3822191"/>
            <a:ext cx="3099816" cy="54864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Prescribes the rules for calculating risk-weighted assets</a:t>
            </a:r>
          </a:p>
        </p:txBody>
      </p:sp>
      <p:sp>
        <p:nvSpPr>
          <p:cNvPr id="11" name="Rectangle 10"/>
          <p:cNvSpPr/>
          <p:nvPr/>
        </p:nvSpPr>
        <p:spPr>
          <a:xfrm>
            <a:off x="548640" y="1554480"/>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15968" y="1554480"/>
            <a:ext cx="3611880" cy="2432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828800"/>
            <a:ext cx="3099816" cy="274320"/>
          </a:xfrm>
          <a:prstGeom prst="rect">
            <a:avLst/>
          </a:prstGeom>
          <a:noFill/>
        </p:spPr>
        <p:txBody>
          <a:bodyPr wrap="square" anchor="t" lIns="0" rIns="0" tIns="0" bIns="0">
            <a:spAutoFit/>
          </a:bodyPr>
          <a:lstStyle/>
          <a:p>
            <a:pPr algn="l"/>
            <a:r>
              <a:rPr sz="950" b="1">
                <a:solidFill>
                  <a:srgbClr val="3A5C9E"/>
                </a:solidFill>
              </a:rPr>
              <a:t>PILLAR 2</a:t>
            </a:r>
          </a:p>
        </p:txBody>
      </p:sp>
      <p:sp>
        <p:nvSpPr>
          <p:cNvPr id="14" name="TextBox 13"/>
          <p:cNvSpPr txBox="1"/>
          <p:nvPr/>
        </p:nvSpPr>
        <p:spPr>
          <a:xfrm>
            <a:off x="4572000" y="2157984"/>
            <a:ext cx="3099816" cy="411480"/>
          </a:xfrm>
          <a:prstGeom prst="rect">
            <a:avLst/>
          </a:prstGeom>
          <a:noFill/>
        </p:spPr>
        <p:txBody>
          <a:bodyPr wrap="square" anchor="t" lIns="0" rIns="0" tIns="0" bIns="0">
            <a:spAutoFit/>
          </a:bodyPr>
          <a:lstStyle/>
          <a:p>
            <a:pPr algn="l"/>
            <a:r>
              <a:rPr sz="1700" b="1">
                <a:solidFill>
                  <a:srgbClr val="0F2145"/>
                </a:solidFill>
                <a:latin typeface="Georgia"/>
              </a:rPr>
              <a:t>The supervisory review</a:t>
            </a:r>
          </a:p>
        </p:txBody>
      </p:sp>
      <p:sp>
        <p:nvSpPr>
          <p:cNvPr id="15" name="TextBox 14"/>
          <p:cNvSpPr txBox="1"/>
          <p:nvPr/>
        </p:nvSpPr>
        <p:spPr>
          <a:xfrm>
            <a:off x="4572000" y="2688336"/>
            <a:ext cx="3099816" cy="54864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A supervisor looks at risks the formula does not capture</a:t>
            </a:r>
          </a:p>
        </p:txBody>
      </p:sp>
      <p:sp>
        <p:nvSpPr>
          <p:cNvPr id="16" name="TextBox 15"/>
          <p:cNvSpPr txBox="1"/>
          <p:nvPr/>
        </p:nvSpPr>
        <p:spPr>
          <a:xfrm>
            <a:off x="4572000" y="3255264"/>
            <a:ext cx="3099816" cy="54864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It can require more capital than Pillar 1 produces</a:t>
            </a:r>
          </a:p>
        </p:txBody>
      </p:sp>
      <p:sp>
        <p:nvSpPr>
          <p:cNvPr id="17" name="TextBox 16"/>
          <p:cNvSpPr txBox="1"/>
          <p:nvPr/>
        </p:nvSpPr>
        <p:spPr>
          <a:xfrm>
            <a:off x="4572000" y="3822191"/>
            <a:ext cx="3099816" cy="54864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In the United States you meet it as stress testing and the stress capital buffer</a:t>
            </a:r>
          </a:p>
        </p:txBody>
      </p:sp>
      <p:sp>
        <p:nvSpPr>
          <p:cNvPr id="18" name="Rectangle 17"/>
          <p:cNvSpPr/>
          <p:nvPr/>
        </p:nvSpPr>
        <p:spPr>
          <a:xfrm>
            <a:off x="4315968" y="1554480"/>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83296" y="1554480"/>
            <a:ext cx="3557016" cy="24323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9327" y="1828800"/>
            <a:ext cx="3044952" cy="274320"/>
          </a:xfrm>
          <a:prstGeom prst="rect">
            <a:avLst/>
          </a:prstGeom>
          <a:noFill/>
        </p:spPr>
        <p:txBody>
          <a:bodyPr wrap="square" anchor="t" lIns="0" rIns="0" tIns="0" bIns="0">
            <a:spAutoFit/>
          </a:bodyPr>
          <a:lstStyle/>
          <a:p>
            <a:pPr algn="l"/>
            <a:r>
              <a:rPr sz="950" b="1">
                <a:solidFill>
                  <a:srgbClr val="C9A227"/>
                </a:solidFill>
              </a:rPr>
              <a:t>PILLAR 3</a:t>
            </a:r>
          </a:p>
        </p:txBody>
      </p:sp>
      <p:sp>
        <p:nvSpPr>
          <p:cNvPr id="21" name="TextBox 20"/>
          <p:cNvSpPr txBox="1"/>
          <p:nvPr/>
        </p:nvSpPr>
        <p:spPr>
          <a:xfrm>
            <a:off x="8339327" y="2157984"/>
            <a:ext cx="3044952" cy="411480"/>
          </a:xfrm>
          <a:prstGeom prst="rect">
            <a:avLst/>
          </a:prstGeom>
          <a:noFill/>
        </p:spPr>
        <p:txBody>
          <a:bodyPr wrap="square" anchor="t" lIns="0" rIns="0" tIns="0" bIns="0">
            <a:spAutoFit/>
          </a:bodyPr>
          <a:lstStyle/>
          <a:p>
            <a:pPr algn="l"/>
            <a:r>
              <a:rPr sz="1700" b="1">
                <a:solidFill>
                  <a:srgbClr val="FFFFFF"/>
                </a:solidFill>
                <a:latin typeface="Georgia"/>
              </a:rPr>
              <a:t>The disclosure</a:t>
            </a:r>
          </a:p>
        </p:txBody>
      </p:sp>
      <p:sp>
        <p:nvSpPr>
          <p:cNvPr id="22" name="TextBox 21"/>
          <p:cNvSpPr txBox="1"/>
          <p:nvPr/>
        </p:nvSpPr>
        <p:spPr>
          <a:xfrm>
            <a:off x="8339327" y="2688336"/>
            <a:ext cx="3044952" cy="548640"/>
          </a:xfrm>
          <a:prstGeom prst="rect">
            <a:avLst/>
          </a:prstGeom>
          <a:noFill/>
        </p:spPr>
        <p:txBody>
          <a:bodyPr wrap="square" anchor="t" lIns="0" rIns="0" tIns="0" bIns="0">
            <a:spAutoFit/>
          </a:bodyPr>
          <a:lstStyle/>
          <a:p>
            <a:pPr algn="l"/>
            <a:r>
              <a:rPr sz="1000" b="1">
                <a:solidFill>
                  <a:srgbClr val="C9A227"/>
                </a:solidFill>
              </a:rPr>
              <a:t>▪</a:t>
            </a:r>
            <a:r>
              <a:rPr sz="1000" b="0">
                <a:solidFill>
                  <a:srgbClr val="C9D6EE"/>
                </a:solidFill>
              </a:rPr>
              <a:t>Encourages market discipline by letting participants assess risk and capital profiles</a:t>
            </a:r>
          </a:p>
        </p:txBody>
      </p:sp>
      <p:sp>
        <p:nvSpPr>
          <p:cNvPr id="23" name="TextBox 22"/>
          <p:cNvSpPr txBox="1"/>
          <p:nvPr/>
        </p:nvSpPr>
        <p:spPr>
          <a:xfrm>
            <a:off x="8339327" y="3255264"/>
            <a:ext cx="3044952" cy="548640"/>
          </a:xfrm>
          <a:prstGeom prst="rect">
            <a:avLst/>
          </a:prstGeom>
          <a:noFill/>
        </p:spPr>
        <p:txBody>
          <a:bodyPr wrap="square" anchor="t" lIns="0" rIns="0" tIns="0" bIns="0">
            <a:spAutoFit/>
          </a:bodyPr>
          <a:lstStyle/>
          <a:p>
            <a:pPr algn="l"/>
            <a:r>
              <a:rPr sz="1000" b="1">
                <a:solidFill>
                  <a:srgbClr val="C9A227"/>
                </a:solidFill>
              </a:rPr>
              <a:t>▪</a:t>
            </a:r>
            <a:r>
              <a:rPr sz="1000" b="0">
                <a:solidFill>
                  <a:srgbClr val="C9D6EE"/>
                </a:solidFill>
              </a:rPr>
              <a:t>This is the one that produces a document you can download</a:t>
            </a:r>
          </a:p>
        </p:txBody>
      </p:sp>
      <p:sp>
        <p:nvSpPr>
          <p:cNvPr id="24" name="TextBox 23"/>
          <p:cNvSpPr txBox="1"/>
          <p:nvPr/>
        </p:nvSpPr>
        <p:spPr>
          <a:xfrm>
            <a:off x="8339327" y="3822191"/>
            <a:ext cx="3044952" cy="548640"/>
          </a:xfrm>
          <a:prstGeom prst="rect">
            <a:avLst/>
          </a:prstGeom>
          <a:noFill/>
        </p:spPr>
        <p:txBody>
          <a:bodyPr wrap="square" anchor="t" lIns="0" rIns="0" tIns="0" bIns="0">
            <a:spAutoFit/>
          </a:bodyPr>
          <a:lstStyle/>
          <a:p>
            <a:pPr algn="l"/>
            <a:r>
              <a:rPr sz="1000" b="1">
                <a:solidFill>
                  <a:srgbClr val="C9A227"/>
                </a:solidFill>
              </a:rPr>
              <a:t>▪</a:t>
            </a:r>
            <a:r>
              <a:rPr sz="1000" b="0">
                <a:solidFill>
                  <a:srgbClr val="C9D6EE"/>
                </a:solidFill>
              </a:rPr>
              <a:t>It is what the lab automates</a:t>
            </a:r>
          </a:p>
        </p:txBody>
      </p:sp>
      <p:sp>
        <p:nvSpPr>
          <p:cNvPr id="25" name="Rectangle 24"/>
          <p:cNvSpPr/>
          <p:nvPr/>
        </p:nvSpPr>
        <p:spPr>
          <a:xfrm>
            <a:off x="548640" y="4041648"/>
            <a:ext cx="11091672" cy="133502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041648"/>
            <a:ext cx="64008" cy="133502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169663"/>
            <a:ext cx="10515600" cy="1115568"/>
          </a:xfrm>
          <a:prstGeom prst="rect">
            <a:avLst/>
          </a:prstGeom>
          <a:noFill/>
        </p:spPr>
        <p:txBody>
          <a:bodyPr wrap="square" anchor="t" lIns="0" rIns="0" tIns="0" bIns="0">
            <a:spAutoFit/>
          </a:bodyPr>
          <a:lstStyle/>
          <a:p>
            <a:pPr algn="l"/>
            <a:r>
              <a:rPr sz="950" b="1">
                <a:solidFill>
                  <a:srgbClr val="3A5C9E"/>
                </a:solidFill>
              </a:rPr>
              <a:t>THE FIRST USEFUL THING IN A PILLAR 3 REPORT IS NOT A NUMBER</a:t>
            </a:r>
          </a:p>
          <a:p>
            <a:pPr algn="l">
              <a:spcBef>
                <a:spcPts val="400"/>
              </a:spcBef>
            </a:pPr>
            <a:r>
              <a:rPr sz="1100" b="0">
                <a:solidFill>
                  <a:srgbClr val="1B2A41"/>
                </a:solidFill>
              </a:rPr>
              <a:t>Bank of America's Pillar 3 Regulatory Capital Disclosure for the quarter ended June 30, 2026 runs to 33 pages, and page 3 carries a table called the Disclosure Map. It lists every Pillar 3 requirement down the left, and against each one gives a page in the Pillar 3 report, a page in the 2Q26 Form 10-Q and a page in the 2025 Form 10-K. Example: the Capital Structure row points to page 6 of the Pillar 3 report, pages 79, 84 and 85 of the 10-Q, and page 136 of the 10-K.</a:t>
            </a:r>
          </a:p>
        </p:txBody>
      </p:sp>
      <p:sp>
        <p:nvSpPr>
          <p:cNvPr id="28" name="Rectangle 27"/>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A Pillar 3 report is not a new set of numbers:</a:t>
            </a:r>
            <a:r>
              <a:rPr sz="1200" b="0">
                <a:solidFill>
                  <a:srgbClr val="FFFFFF"/>
                </a:solidFill>
              </a:rPr>
              <a:t>it is the same numbers arranged so a reader can find them, and the map is the bank proving the arrangement is complete.</a:t>
            </a:r>
          </a:p>
        </p:txBody>
      </p:sp>
      <p:sp>
        <p:nvSpPr>
          <p:cNvPr id="31" name="TextBox 30"/>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2" name="TextBox 31"/>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CAPITAL</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Equity is not capital, and the gap is a quarter</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Bank of America prints the whole bridge on page 6 of its Pillar 3 report. Walk down it once, in $ millions.</a:t>
            </a:r>
          </a:p>
        </p:txBody>
      </p:sp>
      <p:sp>
        <p:nvSpPr>
          <p:cNvPr id="6" name="Rectangle 5"/>
          <p:cNvSpPr/>
          <p:nvPr/>
        </p:nvSpPr>
        <p:spPr>
          <a:xfrm>
            <a:off x="548640" y="1810512"/>
            <a:ext cx="67665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10512"/>
            <a:ext cx="45720" cy="36576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83664"/>
            <a:ext cx="4572000" cy="256032"/>
          </a:xfrm>
          <a:prstGeom prst="rect">
            <a:avLst/>
          </a:prstGeom>
          <a:noFill/>
        </p:spPr>
        <p:txBody>
          <a:bodyPr wrap="square" anchor="t" lIns="0" rIns="0" tIns="0" bIns="0">
            <a:spAutoFit/>
          </a:bodyPr>
          <a:lstStyle/>
          <a:p>
            <a:pPr algn="l"/>
            <a:r>
              <a:rPr sz="1000" b="0">
                <a:solidFill>
                  <a:srgbClr val="1B2A41"/>
                </a:solidFill>
              </a:rPr>
              <a:t>Total common shareholders' equity</a:t>
            </a:r>
          </a:p>
        </p:txBody>
      </p:sp>
      <p:sp>
        <p:nvSpPr>
          <p:cNvPr id="9" name="TextBox 8"/>
          <p:cNvSpPr txBox="1"/>
          <p:nvPr/>
        </p:nvSpPr>
        <p:spPr>
          <a:xfrm>
            <a:off x="5577840" y="1865376"/>
            <a:ext cx="1463040" cy="274320"/>
          </a:xfrm>
          <a:prstGeom prst="rect">
            <a:avLst/>
          </a:prstGeom>
          <a:noFill/>
        </p:spPr>
        <p:txBody>
          <a:bodyPr wrap="square" anchor="t" lIns="0" rIns="0" tIns="0" bIns="0">
            <a:spAutoFit/>
          </a:bodyPr>
          <a:lstStyle/>
          <a:p>
            <a:pPr algn="r"/>
            <a:r>
              <a:rPr sz="1100" b="1">
                <a:solidFill>
                  <a:srgbClr val="0F2145"/>
                </a:solidFill>
                <a:latin typeface="Consolas"/>
              </a:rPr>
              <a:t>276,098</a:t>
            </a:r>
          </a:p>
        </p:txBody>
      </p:sp>
      <p:sp>
        <p:nvSpPr>
          <p:cNvPr id="10" name="Rectangle 9"/>
          <p:cNvSpPr/>
          <p:nvPr/>
        </p:nvSpPr>
        <p:spPr>
          <a:xfrm>
            <a:off x="548640" y="2212848"/>
            <a:ext cx="67665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212848"/>
            <a:ext cx="4572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286000"/>
            <a:ext cx="4572000" cy="256032"/>
          </a:xfrm>
          <a:prstGeom prst="rect">
            <a:avLst/>
          </a:prstGeom>
          <a:noFill/>
        </p:spPr>
        <p:txBody>
          <a:bodyPr wrap="square" anchor="t" lIns="0" rIns="0" tIns="0" bIns="0">
            <a:spAutoFit/>
          </a:bodyPr>
          <a:lstStyle/>
          <a:p>
            <a:pPr algn="l"/>
            <a:r>
              <a:rPr sz="1000" b="0">
                <a:solidFill>
                  <a:srgbClr val="1B2A41"/>
                </a:solidFill>
              </a:rPr>
              <a:t>Less goodwill</a:t>
            </a:r>
          </a:p>
        </p:txBody>
      </p:sp>
      <p:sp>
        <p:nvSpPr>
          <p:cNvPr id="13" name="TextBox 12"/>
          <p:cNvSpPr txBox="1"/>
          <p:nvPr/>
        </p:nvSpPr>
        <p:spPr>
          <a:xfrm>
            <a:off x="5577840" y="2267712"/>
            <a:ext cx="1463040" cy="274320"/>
          </a:xfrm>
          <a:prstGeom prst="rect">
            <a:avLst/>
          </a:prstGeom>
          <a:noFill/>
        </p:spPr>
        <p:txBody>
          <a:bodyPr wrap="square" anchor="t" lIns="0" rIns="0" tIns="0" bIns="0">
            <a:spAutoFit/>
          </a:bodyPr>
          <a:lstStyle/>
          <a:p>
            <a:pPr algn="r"/>
            <a:r>
              <a:rPr sz="1100" b="1">
                <a:solidFill>
                  <a:srgbClr val="5D6B7E"/>
                </a:solidFill>
                <a:latin typeface="Consolas"/>
              </a:rPr>
              <a:t>(68,651)</a:t>
            </a:r>
          </a:p>
        </p:txBody>
      </p:sp>
      <p:sp>
        <p:nvSpPr>
          <p:cNvPr id="14" name="Rectangle 13"/>
          <p:cNvSpPr/>
          <p:nvPr/>
        </p:nvSpPr>
        <p:spPr>
          <a:xfrm>
            <a:off x="548640" y="2615184"/>
            <a:ext cx="67665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615184"/>
            <a:ext cx="4572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688336"/>
            <a:ext cx="4572000" cy="256032"/>
          </a:xfrm>
          <a:prstGeom prst="rect">
            <a:avLst/>
          </a:prstGeom>
          <a:noFill/>
        </p:spPr>
        <p:txBody>
          <a:bodyPr wrap="square" anchor="t" lIns="0" rIns="0" tIns="0" bIns="0">
            <a:spAutoFit/>
          </a:bodyPr>
          <a:lstStyle/>
          <a:p>
            <a:pPr algn="l"/>
            <a:r>
              <a:rPr sz="1000" b="0">
                <a:solidFill>
                  <a:srgbClr val="1B2A41"/>
                </a:solidFill>
              </a:rPr>
              <a:t>Less deferred tax assets from carryforwards</a:t>
            </a:r>
          </a:p>
        </p:txBody>
      </p:sp>
      <p:sp>
        <p:nvSpPr>
          <p:cNvPr id="17" name="TextBox 16"/>
          <p:cNvSpPr txBox="1"/>
          <p:nvPr/>
        </p:nvSpPr>
        <p:spPr>
          <a:xfrm>
            <a:off x="5577840" y="2670048"/>
            <a:ext cx="1463040" cy="274320"/>
          </a:xfrm>
          <a:prstGeom prst="rect">
            <a:avLst/>
          </a:prstGeom>
          <a:noFill/>
        </p:spPr>
        <p:txBody>
          <a:bodyPr wrap="square" anchor="t" lIns="0" rIns="0" tIns="0" bIns="0">
            <a:spAutoFit/>
          </a:bodyPr>
          <a:lstStyle/>
          <a:p>
            <a:pPr algn="r"/>
            <a:r>
              <a:rPr sz="1100" b="1">
                <a:solidFill>
                  <a:srgbClr val="5D6B7E"/>
                </a:solidFill>
                <a:latin typeface="Consolas"/>
              </a:rPr>
              <a:t>(8,561)</a:t>
            </a:r>
          </a:p>
        </p:txBody>
      </p:sp>
      <p:sp>
        <p:nvSpPr>
          <p:cNvPr id="18" name="Rectangle 17"/>
          <p:cNvSpPr/>
          <p:nvPr/>
        </p:nvSpPr>
        <p:spPr>
          <a:xfrm>
            <a:off x="548640" y="3017520"/>
            <a:ext cx="67665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20"/>
            <a:ext cx="4572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090672"/>
            <a:ext cx="4572000" cy="256032"/>
          </a:xfrm>
          <a:prstGeom prst="rect">
            <a:avLst/>
          </a:prstGeom>
          <a:noFill/>
        </p:spPr>
        <p:txBody>
          <a:bodyPr wrap="square" anchor="t" lIns="0" rIns="0" tIns="0" bIns="0">
            <a:spAutoFit/>
          </a:bodyPr>
          <a:lstStyle/>
          <a:p>
            <a:pPr algn="l"/>
            <a:r>
              <a:rPr sz="1000" b="0">
                <a:solidFill>
                  <a:srgbClr val="1B2A41"/>
                </a:solidFill>
              </a:rPr>
              <a:t>Less other intangibles</a:t>
            </a:r>
          </a:p>
        </p:txBody>
      </p:sp>
      <p:sp>
        <p:nvSpPr>
          <p:cNvPr id="21" name="TextBox 20"/>
          <p:cNvSpPr txBox="1"/>
          <p:nvPr/>
        </p:nvSpPr>
        <p:spPr>
          <a:xfrm>
            <a:off x="5577840" y="3072384"/>
            <a:ext cx="1463040" cy="274320"/>
          </a:xfrm>
          <a:prstGeom prst="rect">
            <a:avLst/>
          </a:prstGeom>
          <a:noFill/>
        </p:spPr>
        <p:txBody>
          <a:bodyPr wrap="square" anchor="t" lIns="0" rIns="0" tIns="0" bIns="0">
            <a:spAutoFit/>
          </a:bodyPr>
          <a:lstStyle/>
          <a:p>
            <a:pPr algn="r"/>
            <a:r>
              <a:rPr sz="1100" b="1">
                <a:solidFill>
                  <a:srgbClr val="5D6B7E"/>
                </a:solidFill>
                <a:latin typeface="Consolas"/>
              </a:rPr>
              <a:t>(1,357)</a:t>
            </a:r>
          </a:p>
        </p:txBody>
      </p:sp>
      <p:sp>
        <p:nvSpPr>
          <p:cNvPr id="22" name="Rectangle 21"/>
          <p:cNvSpPr/>
          <p:nvPr/>
        </p:nvSpPr>
        <p:spPr>
          <a:xfrm>
            <a:off x="548640" y="3419856"/>
            <a:ext cx="67665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419856"/>
            <a:ext cx="4572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3493008"/>
            <a:ext cx="4572000" cy="256032"/>
          </a:xfrm>
          <a:prstGeom prst="rect">
            <a:avLst/>
          </a:prstGeom>
          <a:noFill/>
        </p:spPr>
        <p:txBody>
          <a:bodyPr wrap="square" anchor="t" lIns="0" rIns="0" tIns="0" bIns="0">
            <a:spAutoFit/>
          </a:bodyPr>
          <a:lstStyle/>
          <a:p>
            <a:pPr algn="l"/>
            <a:r>
              <a:rPr sz="1000" b="0">
                <a:solidFill>
                  <a:srgbClr val="1B2A41"/>
                </a:solidFill>
              </a:rPr>
              <a:t>Less pension net assets</a:t>
            </a:r>
          </a:p>
        </p:txBody>
      </p:sp>
      <p:sp>
        <p:nvSpPr>
          <p:cNvPr id="25" name="TextBox 24"/>
          <p:cNvSpPr txBox="1"/>
          <p:nvPr/>
        </p:nvSpPr>
        <p:spPr>
          <a:xfrm>
            <a:off x="5577840" y="3474720"/>
            <a:ext cx="1463040" cy="274320"/>
          </a:xfrm>
          <a:prstGeom prst="rect">
            <a:avLst/>
          </a:prstGeom>
          <a:noFill/>
        </p:spPr>
        <p:txBody>
          <a:bodyPr wrap="square" anchor="t" lIns="0" rIns="0" tIns="0" bIns="0">
            <a:spAutoFit/>
          </a:bodyPr>
          <a:lstStyle/>
          <a:p>
            <a:pPr algn="r"/>
            <a:r>
              <a:rPr sz="1100" b="1">
                <a:solidFill>
                  <a:srgbClr val="5D6B7E"/>
                </a:solidFill>
                <a:latin typeface="Consolas"/>
              </a:rPr>
              <a:t>(886)</a:t>
            </a:r>
          </a:p>
        </p:txBody>
      </p:sp>
      <p:sp>
        <p:nvSpPr>
          <p:cNvPr id="26" name="Rectangle 25"/>
          <p:cNvSpPr/>
          <p:nvPr/>
        </p:nvSpPr>
        <p:spPr>
          <a:xfrm>
            <a:off x="548640" y="3822191"/>
            <a:ext cx="67665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3822191"/>
            <a:ext cx="45720" cy="36576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3895344"/>
            <a:ext cx="4572000" cy="256032"/>
          </a:xfrm>
          <a:prstGeom prst="rect">
            <a:avLst/>
          </a:prstGeom>
          <a:noFill/>
        </p:spPr>
        <p:txBody>
          <a:bodyPr wrap="square" anchor="t" lIns="0" rIns="0" tIns="0" bIns="0">
            <a:spAutoFit/>
          </a:bodyPr>
          <a:lstStyle/>
          <a:p>
            <a:pPr algn="l"/>
            <a:r>
              <a:rPr sz="1000" b="0">
                <a:solidFill>
                  <a:srgbClr val="1B2A41"/>
                </a:solidFill>
              </a:rPr>
              <a:t>Plus own creditworthiness adjustment</a:t>
            </a:r>
          </a:p>
        </p:txBody>
      </p:sp>
      <p:sp>
        <p:nvSpPr>
          <p:cNvPr id="29" name="TextBox 28"/>
          <p:cNvSpPr txBox="1"/>
          <p:nvPr/>
        </p:nvSpPr>
        <p:spPr>
          <a:xfrm>
            <a:off x="5577840" y="3877055"/>
            <a:ext cx="1463040" cy="274320"/>
          </a:xfrm>
          <a:prstGeom prst="rect">
            <a:avLst/>
          </a:prstGeom>
          <a:noFill/>
        </p:spPr>
        <p:txBody>
          <a:bodyPr wrap="square" anchor="t" lIns="0" rIns="0" tIns="0" bIns="0">
            <a:spAutoFit/>
          </a:bodyPr>
          <a:lstStyle/>
          <a:p>
            <a:pPr algn="r"/>
            <a:r>
              <a:rPr sz="1100" b="1">
                <a:solidFill>
                  <a:srgbClr val="0F2145"/>
                </a:solidFill>
                <a:latin typeface="Consolas"/>
              </a:rPr>
              <a:t>1,541</a:t>
            </a:r>
          </a:p>
        </p:txBody>
      </p:sp>
      <p:sp>
        <p:nvSpPr>
          <p:cNvPr id="30" name="Rectangle 29"/>
          <p:cNvSpPr/>
          <p:nvPr/>
        </p:nvSpPr>
        <p:spPr>
          <a:xfrm>
            <a:off x="548640" y="4224528"/>
            <a:ext cx="67665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224528"/>
            <a:ext cx="45720" cy="36576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297680"/>
            <a:ext cx="4572000" cy="256032"/>
          </a:xfrm>
          <a:prstGeom prst="rect">
            <a:avLst/>
          </a:prstGeom>
          <a:noFill/>
        </p:spPr>
        <p:txBody>
          <a:bodyPr wrap="square" anchor="t" lIns="0" rIns="0" tIns="0" bIns="0">
            <a:spAutoFit/>
          </a:bodyPr>
          <a:lstStyle/>
          <a:p>
            <a:pPr algn="l"/>
            <a:r>
              <a:rPr sz="1000" b="0">
                <a:solidFill>
                  <a:srgbClr val="1B2A41"/>
                </a:solidFill>
              </a:rPr>
              <a:t>Plus certain cash flow hedges</a:t>
            </a:r>
          </a:p>
        </p:txBody>
      </p:sp>
      <p:sp>
        <p:nvSpPr>
          <p:cNvPr id="33" name="TextBox 32"/>
          <p:cNvSpPr txBox="1"/>
          <p:nvPr/>
        </p:nvSpPr>
        <p:spPr>
          <a:xfrm>
            <a:off x="5577840" y="4279392"/>
            <a:ext cx="1463040" cy="274320"/>
          </a:xfrm>
          <a:prstGeom prst="rect">
            <a:avLst/>
          </a:prstGeom>
          <a:noFill/>
        </p:spPr>
        <p:txBody>
          <a:bodyPr wrap="square" anchor="t" lIns="0" rIns="0" tIns="0" bIns="0">
            <a:spAutoFit/>
          </a:bodyPr>
          <a:lstStyle/>
          <a:p>
            <a:pPr algn="r"/>
            <a:r>
              <a:rPr sz="1100" b="1">
                <a:solidFill>
                  <a:srgbClr val="0F2145"/>
                </a:solidFill>
                <a:latin typeface="Consolas"/>
              </a:rPr>
              <a:t>3,413</a:t>
            </a:r>
          </a:p>
        </p:txBody>
      </p:sp>
      <p:sp>
        <p:nvSpPr>
          <p:cNvPr id="34" name="Rectangle 33"/>
          <p:cNvSpPr/>
          <p:nvPr/>
        </p:nvSpPr>
        <p:spPr>
          <a:xfrm>
            <a:off x="548640" y="4626864"/>
            <a:ext cx="67665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626864"/>
            <a:ext cx="4572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4700016"/>
            <a:ext cx="4572000" cy="256032"/>
          </a:xfrm>
          <a:prstGeom prst="rect">
            <a:avLst/>
          </a:prstGeom>
          <a:noFill/>
        </p:spPr>
        <p:txBody>
          <a:bodyPr wrap="square" anchor="t" lIns="0" rIns="0" tIns="0" bIns="0">
            <a:spAutoFit/>
          </a:bodyPr>
          <a:lstStyle/>
          <a:p>
            <a:pPr algn="l"/>
            <a:r>
              <a:rPr sz="1000" b="0">
                <a:solidFill>
                  <a:srgbClr val="1B2A41"/>
                </a:solidFill>
              </a:rPr>
              <a:t>Less other</a:t>
            </a:r>
          </a:p>
        </p:txBody>
      </p:sp>
      <p:sp>
        <p:nvSpPr>
          <p:cNvPr id="37" name="TextBox 36"/>
          <p:cNvSpPr txBox="1"/>
          <p:nvPr/>
        </p:nvSpPr>
        <p:spPr>
          <a:xfrm>
            <a:off x="5577840" y="4681728"/>
            <a:ext cx="1463040" cy="274320"/>
          </a:xfrm>
          <a:prstGeom prst="rect">
            <a:avLst/>
          </a:prstGeom>
          <a:noFill/>
        </p:spPr>
        <p:txBody>
          <a:bodyPr wrap="square" anchor="t" lIns="0" rIns="0" tIns="0" bIns="0">
            <a:spAutoFit/>
          </a:bodyPr>
          <a:lstStyle/>
          <a:p>
            <a:pPr algn="r"/>
            <a:r>
              <a:rPr sz="1100" b="1">
                <a:solidFill>
                  <a:srgbClr val="5D6B7E"/>
                </a:solidFill>
                <a:latin typeface="Consolas"/>
              </a:rPr>
              <a:t>(16)</a:t>
            </a:r>
          </a:p>
        </p:txBody>
      </p:sp>
      <p:sp>
        <p:nvSpPr>
          <p:cNvPr id="38" name="Rectangle 37"/>
          <p:cNvSpPr/>
          <p:nvPr/>
        </p:nvSpPr>
        <p:spPr>
          <a:xfrm>
            <a:off x="548640" y="5029200"/>
            <a:ext cx="6766560" cy="36576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8680" y="5102352"/>
            <a:ext cx="4572000" cy="256032"/>
          </a:xfrm>
          <a:prstGeom prst="rect">
            <a:avLst/>
          </a:prstGeom>
          <a:noFill/>
        </p:spPr>
        <p:txBody>
          <a:bodyPr wrap="square" anchor="t" lIns="0" rIns="0" tIns="0" bIns="0">
            <a:spAutoFit/>
          </a:bodyPr>
          <a:lstStyle/>
          <a:p>
            <a:pPr algn="l"/>
            <a:r>
              <a:rPr sz="1000" b="1">
                <a:solidFill>
                  <a:srgbClr val="FFFFFF"/>
                </a:solidFill>
              </a:rPr>
              <a:t>CET1 capital</a:t>
            </a:r>
          </a:p>
        </p:txBody>
      </p:sp>
      <p:sp>
        <p:nvSpPr>
          <p:cNvPr id="40" name="TextBox 39"/>
          <p:cNvSpPr txBox="1"/>
          <p:nvPr/>
        </p:nvSpPr>
        <p:spPr>
          <a:xfrm>
            <a:off x="5577840" y="5084064"/>
            <a:ext cx="1463040" cy="274320"/>
          </a:xfrm>
          <a:prstGeom prst="rect">
            <a:avLst/>
          </a:prstGeom>
          <a:noFill/>
        </p:spPr>
        <p:txBody>
          <a:bodyPr wrap="square" anchor="t" lIns="0" rIns="0" tIns="0" bIns="0">
            <a:spAutoFit/>
          </a:bodyPr>
          <a:lstStyle/>
          <a:p>
            <a:pPr algn="r"/>
            <a:r>
              <a:rPr sz="1100" b="1">
                <a:solidFill>
                  <a:srgbClr val="C9A227"/>
                </a:solidFill>
                <a:latin typeface="Consolas"/>
              </a:rPr>
              <a:t>201,581</a:t>
            </a:r>
          </a:p>
        </p:txBody>
      </p:sp>
      <p:sp>
        <p:nvSpPr>
          <p:cNvPr id="41" name="Rectangle 40"/>
          <p:cNvSpPr/>
          <p:nvPr/>
        </p:nvSpPr>
        <p:spPr>
          <a:xfrm>
            <a:off x="7589520" y="1810512"/>
            <a:ext cx="4050791" cy="155448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589520" y="1810512"/>
            <a:ext cx="64008" cy="15544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09560" y="1975104"/>
            <a:ext cx="3566160" cy="1243584"/>
          </a:xfrm>
          <a:prstGeom prst="rect">
            <a:avLst/>
          </a:prstGeom>
          <a:noFill/>
        </p:spPr>
        <p:txBody>
          <a:bodyPr wrap="square" anchor="t" lIns="0" rIns="0" tIns="0" bIns="0">
            <a:spAutoFit/>
          </a:bodyPr>
          <a:lstStyle/>
          <a:p>
            <a:pPr algn="l"/>
            <a:r>
              <a:rPr sz="950" b="1">
                <a:solidFill>
                  <a:srgbClr val="C9A227"/>
                </a:solidFill>
              </a:rPr>
              <a:t>THE GAP</a:t>
            </a:r>
          </a:p>
          <a:p>
            <a:pPr algn="l">
              <a:spcBef>
                <a:spcPts val="400"/>
              </a:spcBef>
            </a:pPr>
            <a:r>
              <a:rPr sz="2100" b="1">
                <a:solidFill>
                  <a:srgbClr val="FFFFFF"/>
                </a:solidFill>
                <a:latin typeface="Georgia"/>
              </a:rPr>
              <a:t>$74,517 million</a:t>
            </a:r>
          </a:p>
          <a:p>
            <a:pPr algn="l">
              <a:spcBef>
                <a:spcPts val="500"/>
              </a:spcBef>
            </a:pPr>
            <a:r>
              <a:rPr sz="1000" b="0">
                <a:solidFill>
                  <a:srgbClr val="C9D6EE"/>
                </a:solidFill>
              </a:rPr>
              <a:t>Most of it is goodwill, at $68,651 million.</a:t>
            </a:r>
          </a:p>
        </p:txBody>
      </p:sp>
      <p:sp>
        <p:nvSpPr>
          <p:cNvPr id="44" name="TextBox 43"/>
          <p:cNvSpPr txBox="1"/>
          <p:nvPr/>
        </p:nvSpPr>
        <p:spPr>
          <a:xfrm>
            <a:off x="7589520" y="3584448"/>
            <a:ext cx="4050791" cy="1645920"/>
          </a:xfrm>
          <a:prstGeom prst="rect">
            <a:avLst/>
          </a:prstGeom>
          <a:noFill/>
        </p:spPr>
        <p:txBody>
          <a:bodyPr wrap="square" anchor="t" lIns="0" rIns="0" tIns="0" bIns="0">
            <a:spAutoFit/>
          </a:bodyPr>
          <a:lstStyle/>
          <a:p>
            <a:pPr algn="l"/>
            <a:r>
              <a:rPr sz="1400" b="1">
                <a:solidFill>
                  <a:srgbClr val="0F2145"/>
                </a:solidFill>
                <a:latin typeface="Georgia"/>
              </a:rPr>
              <a:t>The first mistake this module exists to stop</a:t>
            </a:r>
          </a:p>
          <a:p>
            <a:pPr algn="l">
              <a:spcBef>
                <a:spcPts val="600"/>
              </a:spcBef>
            </a:pPr>
            <a:r>
              <a:rPr sz="1100" b="0">
                <a:solidFill>
                  <a:srgbClr val="1B2A41"/>
                </a:solidFill>
              </a:rPr>
              <a:t>Take an equity figure off a balance sheet and call it capital and you are wrong by a quarter before you start. CET1 excludes preferred stock and deducts goodwill. Accounting equity does neither.</a:t>
            </a:r>
          </a:p>
        </p:txBody>
      </p:sp>
      <p:sp>
        <p:nvSpPr>
          <p:cNvPr id="45" name="Rectangle 44"/>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The tiers are not interchangeable:</a:t>
            </a:r>
            <a:r>
              <a:rPr sz="1200" b="0">
                <a:solidFill>
                  <a:srgbClr val="FFFFFF"/>
                </a:solidFill>
              </a:rPr>
              <a:t>CET1 plus additional Tier 1 gives Tier 1. Tier 1 plus Tier 2 gives Total capital. Tier 2 is the weakest layer.</a:t>
            </a:r>
          </a:p>
        </p:txBody>
      </p:sp>
      <p:sp>
        <p:nvSpPr>
          <p:cNvPr id="48" name="TextBox 47"/>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49" name="TextBox 48"/>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THE DENOMINATOR</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Two approaches, and the lower ratio binds</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A large US bank does not calculate its ratios once. It calculates them twice and is measured against the lower.</a:t>
            </a:r>
          </a:p>
        </p:txBody>
      </p:sp>
      <p:sp>
        <p:nvSpPr>
          <p:cNvPr id="6" name="Rectangle 5"/>
          <p:cNvSpPr/>
          <p:nvPr/>
        </p:nvSpPr>
        <p:spPr>
          <a:xfrm>
            <a:off x="548640" y="1810512"/>
            <a:ext cx="5394960"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10512"/>
            <a:ext cx="539496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993392"/>
            <a:ext cx="4846320" cy="274320"/>
          </a:xfrm>
          <a:prstGeom prst="rect">
            <a:avLst/>
          </a:prstGeom>
          <a:noFill/>
        </p:spPr>
        <p:txBody>
          <a:bodyPr wrap="square" anchor="t" lIns="0" rIns="0" tIns="0" bIns="0">
            <a:spAutoFit/>
          </a:bodyPr>
          <a:lstStyle/>
          <a:p>
            <a:pPr algn="l"/>
            <a:r>
              <a:rPr sz="950" b="1">
                <a:solidFill>
                  <a:srgbClr val="3A5C9E"/>
                </a:solidFill>
              </a:rPr>
              <a:t>BANK OF AMERICA · ADVANCED RWA, JUNE 30 2026</a:t>
            </a:r>
          </a:p>
        </p:txBody>
      </p:sp>
      <p:sp>
        <p:nvSpPr>
          <p:cNvPr id="9" name="TextBox 8"/>
          <p:cNvSpPr txBox="1"/>
          <p:nvPr/>
        </p:nvSpPr>
        <p:spPr>
          <a:xfrm>
            <a:off x="804672" y="2322576"/>
            <a:ext cx="3108960" cy="237744"/>
          </a:xfrm>
          <a:prstGeom prst="rect">
            <a:avLst/>
          </a:prstGeom>
          <a:noFill/>
        </p:spPr>
        <p:txBody>
          <a:bodyPr wrap="square" anchor="t" lIns="0" rIns="0" tIns="0" bIns="0">
            <a:spAutoFit/>
          </a:bodyPr>
          <a:lstStyle/>
          <a:p>
            <a:pPr algn="l"/>
            <a:r>
              <a:rPr sz="950" b="0">
                <a:solidFill>
                  <a:srgbClr val="1B2A41"/>
                </a:solidFill>
              </a:rPr>
              <a:t>Total Advanced RWA</a:t>
            </a:r>
          </a:p>
        </p:txBody>
      </p:sp>
      <p:sp>
        <p:nvSpPr>
          <p:cNvPr id="10" name="TextBox 9"/>
          <p:cNvSpPr txBox="1"/>
          <p:nvPr/>
        </p:nvSpPr>
        <p:spPr>
          <a:xfrm>
            <a:off x="4114800" y="2304288"/>
            <a:ext cx="1554480" cy="256032"/>
          </a:xfrm>
          <a:prstGeom prst="rect">
            <a:avLst/>
          </a:prstGeom>
          <a:noFill/>
        </p:spPr>
        <p:txBody>
          <a:bodyPr wrap="square" anchor="t" lIns="0" rIns="0" tIns="0" bIns="0">
            <a:spAutoFit/>
          </a:bodyPr>
          <a:lstStyle/>
          <a:p>
            <a:pPr algn="r"/>
            <a:r>
              <a:rPr sz="1000" b="1">
                <a:solidFill>
                  <a:srgbClr val="5D6B7E"/>
                </a:solidFill>
                <a:latin typeface="Consolas"/>
              </a:rPr>
              <a:t>1,612,592</a:t>
            </a:r>
          </a:p>
        </p:txBody>
      </p:sp>
      <p:sp>
        <p:nvSpPr>
          <p:cNvPr id="11" name="TextBox 10"/>
          <p:cNvSpPr txBox="1"/>
          <p:nvPr/>
        </p:nvSpPr>
        <p:spPr>
          <a:xfrm>
            <a:off x="804672" y="2578608"/>
            <a:ext cx="3108960" cy="237744"/>
          </a:xfrm>
          <a:prstGeom prst="rect">
            <a:avLst/>
          </a:prstGeom>
          <a:noFill/>
        </p:spPr>
        <p:txBody>
          <a:bodyPr wrap="square" anchor="t" lIns="0" rIns="0" tIns="0" bIns="0">
            <a:spAutoFit/>
          </a:bodyPr>
          <a:lstStyle/>
          <a:p>
            <a:pPr algn="l"/>
            <a:r>
              <a:rPr sz="950" b="0">
                <a:solidFill>
                  <a:srgbClr val="1B2A41"/>
                </a:solidFill>
              </a:rPr>
              <a:t>Wholesale credit</a:t>
            </a:r>
          </a:p>
        </p:txBody>
      </p:sp>
      <p:sp>
        <p:nvSpPr>
          <p:cNvPr id="12" name="TextBox 11"/>
          <p:cNvSpPr txBox="1"/>
          <p:nvPr/>
        </p:nvSpPr>
        <p:spPr>
          <a:xfrm>
            <a:off x="4114800" y="2560320"/>
            <a:ext cx="1554480" cy="256032"/>
          </a:xfrm>
          <a:prstGeom prst="rect">
            <a:avLst/>
          </a:prstGeom>
          <a:noFill/>
        </p:spPr>
        <p:txBody>
          <a:bodyPr wrap="square" anchor="t" lIns="0" rIns="0" tIns="0" bIns="0">
            <a:spAutoFit/>
          </a:bodyPr>
          <a:lstStyle/>
          <a:p>
            <a:pPr algn="r"/>
            <a:r>
              <a:rPr sz="1000" b="1">
                <a:solidFill>
                  <a:srgbClr val="5D6B7E"/>
                </a:solidFill>
                <a:latin typeface="Consolas"/>
              </a:rPr>
              <a:t>571,358</a:t>
            </a:r>
          </a:p>
        </p:txBody>
      </p:sp>
      <p:sp>
        <p:nvSpPr>
          <p:cNvPr id="13" name="TextBox 12"/>
          <p:cNvSpPr txBox="1"/>
          <p:nvPr/>
        </p:nvSpPr>
        <p:spPr>
          <a:xfrm>
            <a:off x="804672" y="2834640"/>
            <a:ext cx="3108960" cy="237744"/>
          </a:xfrm>
          <a:prstGeom prst="rect">
            <a:avLst/>
          </a:prstGeom>
          <a:noFill/>
        </p:spPr>
        <p:txBody>
          <a:bodyPr wrap="square" anchor="t" lIns="0" rIns="0" tIns="0" bIns="0">
            <a:spAutoFit/>
          </a:bodyPr>
          <a:lstStyle/>
          <a:p>
            <a:pPr algn="l"/>
            <a:r>
              <a:rPr sz="950" b="1">
                <a:solidFill>
                  <a:srgbClr val="0F2145"/>
                </a:solidFill>
              </a:rPr>
              <a:t>Operational risk</a:t>
            </a:r>
          </a:p>
        </p:txBody>
      </p:sp>
      <p:sp>
        <p:nvSpPr>
          <p:cNvPr id="14" name="TextBox 13"/>
          <p:cNvSpPr txBox="1"/>
          <p:nvPr/>
        </p:nvSpPr>
        <p:spPr>
          <a:xfrm>
            <a:off x="4114800" y="2816352"/>
            <a:ext cx="1554480" cy="256032"/>
          </a:xfrm>
          <a:prstGeom prst="rect">
            <a:avLst/>
          </a:prstGeom>
          <a:noFill/>
        </p:spPr>
        <p:txBody>
          <a:bodyPr wrap="square" anchor="t" lIns="0" rIns="0" tIns="0" bIns="0">
            <a:spAutoFit/>
          </a:bodyPr>
          <a:lstStyle/>
          <a:p>
            <a:pPr algn="r"/>
            <a:r>
              <a:rPr sz="1000" b="1">
                <a:solidFill>
                  <a:srgbClr val="C9A227"/>
                </a:solidFill>
                <a:latin typeface="Consolas"/>
              </a:rPr>
              <a:t>357,905</a:t>
            </a:r>
          </a:p>
        </p:txBody>
      </p:sp>
      <p:sp>
        <p:nvSpPr>
          <p:cNvPr id="15" name="TextBox 14"/>
          <p:cNvSpPr txBox="1"/>
          <p:nvPr/>
        </p:nvSpPr>
        <p:spPr>
          <a:xfrm>
            <a:off x="804672" y="3090672"/>
            <a:ext cx="3108960" cy="237744"/>
          </a:xfrm>
          <a:prstGeom prst="rect">
            <a:avLst/>
          </a:prstGeom>
          <a:noFill/>
        </p:spPr>
        <p:txBody>
          <a:bodyPr wrap="square" anchor="t" lIns="0" rIns="0" tIns="0" bIns="0">
            <a:spAutoFit/>
          </a:bodyPr>
          <a:lstStyle/>
          <a:p>
            <a:pPr algn="l"/>
            <a:r>
              <a:rPr sz="950" b="0">
                <a:solidFill>
                  <a:srgbClr val="1B2A41"/>
                </a:solidFill>
              </a:rPr>
              <a:t>Retail credit</a:t>
            </a:r>
          </a:p>
        </p:txBody>
      </p:sp>
      <p:sp>
        <p:nvSpPr>
          <p:cNvPr id="16" name="TextBox 15"/>
          <p:cNvSpPr txBox="1"/>
          <p:nvPr/>
        </p:nvSpPr>
        <p:spPr>
          <a:xfrm>
            <a:off x="4114800" y="3072384"/>
            <a:ext cx="1554480" cy="256032"/>
          </a:xfrm>
          <a:prstGeom prst="rect">
            <a:avLst/>
          </a:prstGeom>
          <a:noFill/>
        </p:spPr>
        <p:txBody>
          <a:bodyPr wrap="square" anchor="t" lIns="0" rIns="0" tIns="0" bIns="0">
            <a:spAutoFit/>
          </a:bodyPr>
          <a:lstStyle/>
          <a:p>
            <a:pPr algn="r"/>
            <a:r>
              <a:rPr sz="1000" b="1">
                <a:solidFill>
                  <a:srgbClr val="5D6B7E"/>
                </a:solidFill>
                <a:latin typeface="Consolas"/>
              </a:rPr>
              <a:t>156,904</a:t>
            </a:r>
          </a:p>
        </p:txBody>
      </p:sp>
      <p:sp>
        <p:nvSpPr>
          <p:cNvPr id="17" name="TextBox 16"/>
          <p:cNvSpPr txBox="1"/>
          <p:nvPr/>
        </p:nvSpPr>
        <p:spPr>
          <a:xfrm>
            <a:off x="804672" y="3346704"/>
            <a:ext cx="3108960" cy="237744"/>
          </a:xfrm>
          <a:prstGeom prst="rect">
            <a:avLst/>
          </a:prstGeom>
          <a:noFill/>
        </p:spPr>
        <p:txBody>
          <a:bodyPr wrap="square" anchor="t" lIns="0" rIns="0" tIns="0" bIns="0">
            <a:spAutoFit/>
          </a:bodyPr>
          <a:lstStyle/>
          <a:p>
            <a:pPr algn="l"/>
            <a:r>
              <a:rPr sz="950" b="0">
                <a:solidFill>
                  <a:srgbClr val="1B2A41"/>
                </a:solidFill>
              </a:rPr>
              <a:t>Counterparty credit</a:t>
            </a:r>
          </a:p>
        </p:txBody>
      </p:sp>
      <p:sp>
        <p:nvSpPr>
          <p:cNvPr id="18" name="TextBox 17"/>
          <p:cNvSpPr txBox="1"/>
          <p:nvPr/>
        </p:nvSpPr>
        <p:spPr>
          <a:xfrm>
            <a:off x="4114800" y="3328416"/>
            <a:ext cx="1554480" cy="256032"/>
          </a:xfrm>
          <a:prstGeom prst="rect">
            <a:avLst/>
          </a:prstGeom>
          <a:noFill/>
        </p:spPr>
        <p:txBody>
          <a:bodyPr wrap="square" anchor="t" lIns="0" rIns="0" tIns="0" bIns="0">
            <a:spAutoFit/>
          </a:bodyPr>
          <a:lstStyle/>
          <a:p>
            <a:pPr algn="r"/>
            <a:r>
              <a:rPr sz="1000" b="1">
                <a:solidFill>
                  <a:srgbClr val="5D6B7E"/>
                </a:solidFill>
                <a:latin typeface="Consolas"/>
              </a:rPr>
              <a:t>123,043</a:t>
            </a:r>
          </a:p>
        </p:txBody>
      </p:sp>
      <p:sp>
        <p:nvSpPr>
          <p:cNvPr id="19" name="TextBox 18"/>
          <p:cNvSpPr txBox="1"/>
          <p:nvPr/>
        </p:nvSpPr>
        <p:spPr>
          <a:xfrm>
            <a:off x="804672" y="3602736"/>
            <a:ext cx="3108960" cy="237744"/>
          </a:xfrm>
          <a:prstGeom prst="rect">
            <a:avLst/>
          </a:prstGeom>
          <a:noFill/>
        </p:spPr>
        <p:txBody>
          <a:bodyPr wrap="square" anchor="t" lIns="0" rIns="0" tIns="0" bIns="0">
            <a:spAutoFit/>
          </a:bodyPr>
          <a:lstStyle/>
          <a:p>
            <a:pPr algn="l"/>
            <a:r>
              <a:rPr sz="950" b="0">
                <a:solidFill>
                  <a:srgbClr val="1B2A41"/>
                </a:solidFill>
              </a:rPr>
              <a:t>Market risk</a:t>
            </a:r>
          </a:p>
        </p:txBody>
      </p:sp>
      <p:sp>
        <p:nvSpPr>
          <p:cNvPr id="20" name="TextBox 19"/>
          <p:cNvSpPr txBox="1"/>
          <p:nvPr/>
        </p:nvSpPr>
        <p:spPr>
          <a:xfrm>
            <a:off x="4114800" y="3584448"/>
            <a:ext cx="1554480" cy="256032"/>
          </a:xfrm>
          <a:prstGeom prst="rect">
            <a:avLst/>
          </a:prstGeom>
          <a:noFill/>
        </p:spPr>
        <p:txBody>
          <a:bodyPr wrap="square" anchor="t" lIns="0" rIns="0" tIns="0" bIns="0">
            <a:spAutoFit/>
          </a:bodyPr>
          <a:lstStyle/>
          <a:p>
            <a:pPr algn="r"/>
            <a:r>
              <a:rPr sz="1000" b="1">
                <a:solidFill>
                  <a:srgbClr val="5D6B7E"/>
                </a:solidFill>
                <a:latin typeface="Consolas"/>
              </a:rPr>
              <a:t>81,655</a:t>
            </a:r>
          </a:p>
        </p:txBody>
      </p:sp>
      <p:sp>
        <p:nvSpPr>
          <p:cNvPr id="21" name="Rectangle 20"/>
          <p:cNvSpPr/>
          <p:nvPr/>
        </p:nvSpPr>
        <p:spPr>
          <a:xfrm>
            <a:off x="6245352" y="1810512"/>
            <a:ext cx="5394960" cy="210312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1384" y="1993392"/>
            <a:ext cx="4846320" cy="274320"/>
          </a:xfrm>
          <a:prstGeom prst="rect">
            <a:avLst/>
          </a:prstGeom>
          <a:noFill/>
        </p:spPr>
        <p:txBody>
          <a:bodyPr wrap="square" anchor="t" lIns="0" rIns="0" tIns="0" bIns="0">
            <a:spAutoFit/>
          </a:bodyPr>
          <a:lstStyle/>
          <a:p>
            <a:pPr algn="l"/>
            <a:r>
              <a:rPr sz="950" b="1">
                <a:solidFill>
                  <a:srgbClr val="C9A227"/>
                </a:solidFill>
              </a:rPr>
              <a:t>STOP ON OPERATIONAL RISK</a:t>
            </a:r>
          </a:p>
        </p:txBody>
      </p:sp>
      <p:sp>
        <p:nvSpPr>
          <p:cNvPr id="23" name="TextBox 22"/>
          <p:cNvSpPr txBox="1"/>
          <p:nvPr/>
        </p:nvSpPr>
        <p:spPr>
          <a:xfrm>
            <a:off x="6501384" y="2322576"/>
            <a:ext cx="4882896" cy="1463040"/>
          </a:xfrm>
          <a:prstGeom prst="rect">
            <a:avLst/>
          </a:prstGeom>
          <a:noFill/>
        </p:spPr>
        <p:txBody>
          <a:bodyPr wrap="square" anchor="t" lIns="0" rIns="0" tIns="0" bIns="0">
            <a:spAutoFit/>
          </a:bodyPr>
          <a:lstStyle/>
          <a:p>
            <a:pPr algn="l"/>
            <a:r>
              <a:rPr sz="1100" b="0">
                <a:solidFill>
                  <a:srgbClr val="C9D6EE"/>
                </a:solidFill>
              </a:rPr>
              <a:t>It carries $357,905 million of RWA, more than a fifth of the total, and none of it comes from lending or trading. It is capital held against fraud, process failure, litigation and system outages. The bank holds more capital against its own mistakes than against its entire retail loan book.</a:t>
            </a:r>
          </a:p>
        </p:txBody>
      </p:sp>
      <p:sp>
        <p:nvSpPr>
          <p:cNvPr id="24" name="Rectangle 23"/>
          <p:cNvSpPr/>
          <p:nvPr/>
        </p:nvSpPr>
        <p:spPr>
          <a:xfrm>
            <a:off x="548640" y="4041648"/>
            <a:ext cx="11091672" cy="133502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041648"/>
            <a:ext cx="64008" cy="133502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169663"/>
            <a:ext cx="10515600" cy="1115568"/>
          </a:xfrm>
          <a:prstGeom prst="rect">
            <a:avLst/>
          </a:prstGeom>
          <a:noFill/>
        </p:spPr>
        <p:txBody>
          <a:bodyPr wrap="square" anchor="t" lIns="0" rIns="0" tIns="0" bIns="0">
            <a:spAutoFit/>
          </a:bodyPr>
          <a:lstStyle/>
          <a:p>
            <a:pPr algn="l"/>
            <a:r>
              <a:rPr sz="950" b="1">
                <a:solidFill>
                  <a:srgbClr val="3A5C9E"/>
                </a:solidFill>
              </a:rPr>
              <a:t>WHICH SIDE BINDS IS NOT THE SAME FOR EVERY ROW</a:t>
            </a:r>
          </a:p>
          <a:p>
            <a:pPr algn="l">
              <a:spcBef>
                <a:spcPts val="400"/>
              </a:spcBef>
            </a:pPr>
            <a:r>
              <a:rPr sz="1100" b="0">
                <a:solidFill>
                  <a:srgbClr val="1B2A41"/>
                </a:solidFill>
              </a:rPr>
              <a:t>JPMorgan reported both approaches for the quarter ended June 30, 2026. CET1 capital was $302,619 million on both sides, Standardized RWA was $2,132,428 million and Advanced RWA was $2,123,862 million. The filing states that the Advanced Total Capital ratio was its most binding constraint, while the Standardized ratios were more binding for CET1 and Tier 1. Bank of America shows a wider gap: Advanced RWA of $1,612,592 million against Standardized of $1,792,202 million, $179,610 million lower even though only Advanced carries the operational risk charge. Its internal models cut credit RWA by more than operational risk adds back.</a:t>
            </a:r>
          </a:p>
        </p:txBody>
      </p:sp>
      <p:sp>
        <p:nvSpPr>
          <p:cNvPr id="27" name="Rectangle 26"/>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In March 2026 the agencies proposed replacing this dual calculation:</a:t>
            </a:r>
            <a:r>
              <a:rPr sz="1200" b="0">
                <a:solidFill>
                  <a:srgbClr val="FFFFFF"/>
                </a:solidFill>
              </a:rPr>
              <a:t>one expanded risk-based approach, with internal models no longer permitted for credit RWA. No final rule and no effective date are confirmed.</a:t>
            </a:r>
          </a:p>
        </p:txBody>
      </p:sp>
      <p:sp>
        <p:nvSpPr>
          <p:cNvPr id="30" name="TextBox 29"/>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1" name="TextBox 30"/>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REQUIREMENTS</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The minimum is never 4.5%</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No US global systemically important bank is ever measured against 4.5%. Buffers sit on top, set bank by bank.</a:t>
            </a:r>
          </a:p>
        </p:txBody>
      </p:sp>
      <p:sp>
        <p:nvSpPr>
          <p:cNvPr id="6" name="Rectangle 5"/>
          <p:cNvSpPr/>
          <p:nvPr/>
        </p:nvSpPr>
        <p:spPr>
          <a:xfrm>
            <a:off x="548640" y="1810512"/>
            <a:ext cx="2103120"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1051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56816"/>
            <a:ext cx="1737360" cy="384048"/>
          </a:xfrm>
          <a:prstGeom prst="rect">
            <a:avLst/>
          </a:prstGeom>
          <a:noFill/>
        </p:spPr>
        <p:txBody>
          <a:bodyPr wrap="square" anchor="t" lIns="0" rIns="0" tIns="0" bIns="0">
            <a:spAutoFit/>
          </a:bodyPr>
          <a:lstStyle/>
          <a:p>
            <a:pPr algn="l"/>
            <a:r>
              <a:rPr sz="1900" b="1">
                <a:solidFill>
                  <a:srgbClr val="0F2145"/>
                </a:solidFill>
                <a:latin typeface="Georgia"/>
              </a:rPr>
              <a:t>4.5%</a:t>
            </a:r>
          </a:p>
        </p:txBody>
      </p:sp>
      <p:sp>
        <p:nvSpPr>
          <p:cNvPr id="9" name="TextBox 8"/>
          <p:cNvSpPr txBox="1"/>
          <p:nvPr/>
        </p:nvSpPr>
        <p:spPr>
          <a:xfrm>
            <a:off x="731520" y="2359152"/>
            <a:ext cx="1737360" cy="310896"/>
          </a:xfrm>
          <a:prstGeom prst="rect">
            <a:avLst/>
          </a:prstGeom>
          <a:noFill/>
        </p:spPr>
        <p:txBody>
          <a:bodyPr wrap="square" anchor="t" lIns="0" rIns="0" tIns="0" bIns="0">
            <a:spAutoFit/>
          </a:bodyPr>
          <a:lstStyle/>
          <a:p>
            <a:pPr algn="l"/>
            <a:r>
              <a:rPr sz="900" b="1">
                <a:solidFill>
                  <a:srgbClr val="3A5C9E"/>
                </a:solidFill>
              </a:rPr>
              <a:t>Basel minimum</a:t>
            </a:r>
          </a:p>
        </p:txBody>
      </p:sp>
      <p:sp>
        <p:nvSpPr>
          <p:cNvPr id="10" name="TextBox 9"/>
          <p:cNvSpPr txBox="1"/>
          <p:nvPr/>
        </p:nvSpPr>
        <p:spPr>
          <a:xfrm>
            <a:off x="2670048" y="2121408"/>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11" name="Rectangle 10"/>
          <p:cNvSpPr/>
          <p:nvPr/>
        </p:nvSpPr>
        <p:spPr>
          <a:xfrm>
            <a:off x="2807208" y="1810512"/>
            <a:ext cx="2103120"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07208" y="181051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90088" y="1956816"/>
            <a:ext cx="1737360" cy="384048"/>
          </a:xfrm>
          <a:prstGeom prst="rect">
            <a:avLst/>
          </a:prstGeom>
          <a:noFill/>
        </p:spPr>
        <p:txBody>
          <a:bodyPr wrap="square" anchor="t" lIns="0" rIns="0" tIns="0" bIns="0">
            <a:spAutoFit/>
          </a:bodyPr>
          <a:lstStyle/>
          <a:p>
            <a:pPr algn="l"/>
            <a:r>
              <a:rPr sz="1900" b="1">
                <a:solidFill>
                  <a:srgbClr val="0F2145"/>
                </a:solidFill>
                <a:latin typeface="Georgia"/>
              </a:rPr>
              <a:t>3.0%</a:t>
            </a:r>
          </a:p>
        </p:txBody>
      </p:sp>
      <p:sp>
        <p:nvSpPr>
          <p:cNvPr id="14" name="TextBox 13"/>
          <p:cNvSpPr txBox="1"/>
          <p:nvPr/>
        </p:nvSpPr>
        <p:spPr>
          <a:xfrm>
            <a:off x="2990088" y="2359152"/>
            <a:ext cx="1737360" cy="310896"/>
          </a:xfrm>
          <a:prstGeom prst="rect">
            <a:avLst/>
          </a:prstGeom>
          <a:noFill/>
        </p:spPr>
        <p:txBody>
          <a:bodyPr wrap="square" anchor="t" lIns="0" rIns="0" tIns="0" bIns="0">
            <a:spAutoFit/>
          </a:bodyPr>
          <a:lstStyle/>
          <a:p>
            <a:pPr algn="l"/>
            <a:r>
              <a:rPr sz="900" b="1">
                <a:solidFill>
                  <a:srgbClr val="3A5C9E"/>
                </a:solidFill>
              </a:rPr>
              <a:t>G-SIB surcharge</a:t>
            </a:r>
          </a:p>
        </p:txBody>
      </p:sp>
      <p:sp>
        <p:nvSpPr>
          <p:cNvPr id="15" name="TextBox 14"/>
          <p:cNvSpPr txBox="1"/>
          <p:nvPr/>
        </p:nvSpPr>
        <p:spPr>
          <a:xfrm>
            <a:off x="4928616" y="2121408"/>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16" name="Rectangle 15"/>
          <p:cNvSpPr/>
          <p:nvPr/>
        </p:nvSpPr>
        <p:spPr>
          <a:xfrm>
            <a:off x="5065776" y="1810512"/>
            <a:ext cx="2103120"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65776" y="181051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48656" y="1956816"/>
            <a:ext cx="1737360" cy="384048"/>
          </a:xfrm>
          <a:prstGeom prst="rect">
            <a:avLst/>
          </a:prstGeom>
          <a:noFill/>
        </p:spPr>
        <p:txBody>
          <a:bodyPr wrap="square" anchor="t" lIns="0" rIns="0" tIns="0" bIns="0">
            <a:spAutoFit/>
          </a:bodyPr>
          <a:lstStyle/>
          <a:p>
            <a:pPr algn="l"/>
            <a:r>
              <a:rPr sz="1900" b="1">
                <a:solidFill>
                  <a:srgbClr val="0F2145"/>
                </a:solidFill>
                <a:latin typeface="Georgia"/>
              </a:rPr>
              <a:t>2.5%</a:t>
            </a:r>
          </a:p>
        </p:txBody>
      </p:sp>
      <p:sp>
        <p:nvSpPr>
          <p:cNvPr id="19" name="TextBox 18"/>
          <p:cNvSpPr txBox="1"/>
          <p:nvPr/>
        </p:nvSpPr>
        <p:spPr>
          <a:xfrm>
            <a:off x="5248656" y="2359152"/>
            <a:ext cx="1737360" cy="310896"/>
          </a:xfrm>
          <a:prstGeom prst="rect">
            <a:avLst/>
          </a:prstGeom>
          <a:noFill/>
        </p:spPr>
        <p:txBody>
          <a:bodyPr wrap="square" anchor="t" lIns="0" rIns="0" tIns="0" bIns="0">
            <a:spAutoFit/>
          </a:bodyPr>
          <a:lstStyle/>
          <a:p>
            <a:pPr algn="l"/>
            <a:r>
              <a:rPr sz="900" b="1">
                <a:solidFill>
                  <a:srgbClr val="3A5C9E"/>
                </a:solidFill>
              </a:rPr>
              <a:t>Conservation or stress capital buffer</a:t>
            </a:r>
          </a:p>
        </p:txBody>
      </p:sp>
      <p:sp>
        <p:nvSpPr>
          <p:cNvPr id="20" name="TextBox 19"/>
          <p:cNvSpPr txBox="1"/>
          <p:nvPr/>
        </p:nvSpPr>
        <p:spPr>
          <a:xfrm>
            <a:off x="7187183" y="2121408"/>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21" name="Rectangle 20"/>
          <p:cNvSpPr/>
          <p:nvPr/>
        </p:nvSpPr>
        <p:spPr>
          <a:xfrm>
            <a:off x="7324344" y="1810512"/>
            <a:ext cx="2103120"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24344" y="181051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07223" y="1956816"/>
            <a:ext cx="1737360" cy="384048"/>
          </a:xfrm>
          <a:prstGeom prst="rect">
            <a:avLst/>
          </a:prstGeom>
          <a:noFill/>
        </p:spPr>
        <p:txBody>
          <a:bodyPr wrap="square" anchor="t" lIns="0" rIns="0" tIns="0" bIns="0">
            <a:spAutoFit/>
          </a:bodyPr>
          <a:lstStyle/>
          <a:p>
            <a:pPr algn="l"/>
            <a:r>
              <a:rPr sz="1900" b="1">
                <a:solidFill>
                  <a:srgbClr val="0F2145"/>
                </a:solidFill>
                <a:latin typeface="Georgia"/>
              </a:rPr>
              <a:t>0.0%</a:t>
            </a:r>
          </a:p>
        </p:txBody>
      </p:sp>
      <p:sp>
        <p:nvSpPr>
          <p:cNvPr id="24" name="TextBox 23"/>
          <p:cNvSpPr txBox="1"/>
          <p:nvPr/>
        </p:nvSpPr>
        <p:spPr>
          <a:xfrm>
            <a:off x="7507223" y="2359152"/>
            <a:ext cx="1737360" cy="310896"/>
          </a:xfrm>
          <a:prstGeom prst="rect">
            <a:avLst/>
          </a:prstGeom>
          <a:noFill/>
        </p:spPr>
        <p:txBody>
          <a:bodyPr wrap="square" anchor="t" lIns="0" rIns="0" tIns="0" bIns="0">
            <a:spAutoFit/>
          </a:bodyPr>
          <a:lstStyle/>
          <a:p>
            <a:pPr algn="l"/>
            <a:r>
              <a:rPr sz="900" b="1">
                <a:solidFill>
                  <a:srgbClr val="5D6B7E"/>
                </a:solidFill>
              </a:rPr>
              <a:t>Countercyclical buffer</a:t>
            </a:r>
          </a:p>
        </p:txBody>
      </p:sp>
      <p:sp>
        <p:nvSpPr>
          <p:cNvPr id="25" name="TextBox 24"/>
          <p:cNvSpPr txBox="1"/>
          <p:nvPr/>
        </p:nvSpPr>
        <p:spPr>
          <a:xfrm>
            <a:off x="9445751" y="2121408"/>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26" name="Rectangle 25"/>
          <p:cNvSpPr/>
          <p:nvPr/>
        </p:nvSpPr>
        <p:spPr>
          <a:xfrm>
            <a:off x="9582912" y="1810512"/>
            <a:ext cx="2103120" cy="9144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65792" y="1956816"/>
            <a:ext cx="1737360" cy="384048"/>
          </a:xfrm>
          <a:prstGeom prst="rect">
            <a:avLst/>
          </a:prstGeom>
          <a:noFill/>
        </p:spPr>
        <p:txBody>
          <a:bodyPr wrap="square" anchor="t" lIns="0" rIns="0" tIns="0" bIns="0">
            <a:spAutoFit/>
          </a:bodyPr>
          <a:lstStyle/>
          <a:p>
            <a:pPr algn="l"/>
            <a:r>
              <a:rPr sz="1900" b="1">
                <a:solidFill>
                  <a:srgbClr val="FFFFFF"/>
                </a:solidFill>
                <a:latin typeface="Georgia"/>
              </a:rPr>
              <a:t>10.0%</a:t>
            </a:r>
          </a:p>
        </p:txBody>
      </p:sp>
      <p:sp>
        <p:nvSpPr>
          <p:cNvPr id="28" name="TextBox 27"/>
          <p:cNvSpPr txBox="1"/>
          <p:nvPr/>
        </p:nvSpPr>
        <p:spPr>
          <a:xfrm>
            <a:off x="9765792" y="2359152"/>
            <a:ext cx="1737360" cy="310896"/>
          </a:xfrm>
          <a:prstGeom prst="rect">
            <a:avLst/>
          </a:prstGeom>
          <a:noFill/>
        </p:spPr>
        <p:txBody>
          <a:bodyPr wrap="square" anchor="t" lIns="0" rIns="0" tIns="0" bIns="0">
            <a:spAutoFit/>
          </a:bodyPr>
          <a:lstStyle/>
          <a:p>
            <a:pPr algn="l"/>
            <a:r>
              <a:rPr sz="900" b="1">
                <a:solidFill>
                  <a:srgbClr val="C9A227"/>
                </a:solidFill>
              </a:rPr>
              <a:t>Bank of America CET1 requirement</a:t>
            </a:r>
          </a:p>
        </p:txBody>
      </p:sp>
      <p:sp>
        <p:nvSpPr>
          <p:cNvPr id="29" name="Rectangle 28"/>
          <p:cNvSpPr/>
          <p:nvPr/>
        </p:nvSpPr>
        <p:spPr>
          <a:xfrm>
            <a:off x="548640" y="2889504"/>
            <a:ext cx="3611880" cy="2615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3163824"/>
            <a:ext cx="3099816" cy="274320"/>
          </a:xfrm>
          <a:prstGeom prst="rect">
            <a:avLst/>
          </a:prstGeom>
          <a:noFill/>
        </p:spPr>
        <p:txBody>
          <a:bodyPr wrap="square" anchor="t" lIns="0" rIns="0" tIns="0" bIns="0">
            <a:spAutoFit/>
          </a:bodyPr>
          <a:lstStyle/>
          <a:p>
            <a:pPr algn="l"/>
            <a:r>
              <a:rPr sz="950" b="1">
                <a:solidFill>
                  <a:srgbClr val="3A5C9E"/>
                </a:solidFill>
              </a:rPr>
              <a:t>REPORT THE HEADROOM</a:t>
            </a:r>
          </a:p>
        </p:txBody>
      </p:sp>
      <p:sp>
        <p:nvSpPr>
          <p:cNvPr id="31" name="TextBox 30"/>
          <p:cNvSpPr txBox="1"/>
          <p:nvPr/>
        </p:nvSpPr>
        <p:spPr>
          <a:xfrm>
            <a:off x="804672" y="3493008"/>
            <a:ext cx="3099816" cy="411480"/>
          </a:xfrm>
          <a:prstGeom prst="rect">
            <a:avLst/>
          </a:prstGeom>
          <a:noFill/>
        </p:spPr>
        <p:txBody>
          <a:bodyPr wrap="square" anchor="t" lIns="0" rIns="0" tIns="0" bIns="0">
            <a:spAutoFit/>
          </a:bodyPr>
          <a:lstStyle/>
          <a:p>
            <a:pPr algn="l"/>
            <a:r>
              <a:rPr sz="1700" b="1">
                <a:solidFill>
                  <a:srgbClr val="0F2145"/>
                </a:solidFill>
                <a:latin typeface="Georgia"/>
              </a:rPr>
              <a:t>Not just the ratio</a:t>
            </a:r>
          </a:p>
        </p:txBody>
      </p:sp>
      <p:sp>
        <p:nvSpPr>
          <p:cNvPr id="32" name="TextBox 31"/>
          <p:cNvSpPr txBox="1"/>
          <p:nvPr/>
        </p:nvSpPr>
        <p:spPr>
          <a:xfrm>
            <a:off x="804672" y="4023360"/>
            <a:ext cx="3099816" cy="54864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Bank of America's CET1 ratio was 11.2% Standardized and 12.5% Advanced</a:t>
            </a:r>
          </a:p>
        </p:txBody>
      </p:sp>
      <p:sp>
        <p:nvSpPr>
          <p:cNvPr id="33" name="TextBox 32"/>
          <p:cNvSpPr txBox="1"/>
          <p:nvPr/>
        </p:nvSpPr>
        <p:spPr>
          <a:xfrm>
            <a:off x="804672" y="4590288"/>
            <a:ext cx="3099816" cy="54864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The lower one is what counts, so the headroom is 11.2 against 10.0, or 1.2 points</a:t>
            </a:r>
          </a:p>
        </p:txBody>
      </p:sp>
      <p:sp>
        <p:nvSpPr>
          <p:cNvPr id="34" name="TextBox 33"/>
          <p:cNvSpPr txBox="1"/>
          <p:nvPr/>
        </p:nvSpPr>
        <p:spPr>
          <a:xfrm>
            <a:off x="804672" y="5157216"/>
            <a:ext cx="3099816" cy="54864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JPMorgan's requirement is 11.5% and it reported 14.2%, so its headroom is 2.7 points</a:t>
            </a:r>
          </a:p>
        </p:txBody>
      </p:sp>
      <p:sp>
        <p:nvSpPr>
          <p:cNvPr id="35" name="Rectangle 34"/>
          <p:cNvSpPr/>
          <p:nvPr/>
        </p:nvSpPr>
        <p:spPr>
          <a:xfrm>
            <a:off x="548640" y="2889504"/>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15968" y="2889504"/>
            <a:ext cx="3611880" cy="2615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0" y="3163824"/>
            <a:ext cx="3099816" cy="274320"/>
          </a:xfrm>
          <a:prstGeom prst="rect">
            <a:avLst/>
          </a:prstGeom>
          <a:noFill/>
        </p:spPr>
        <p:txBody>
          <a:bodyPr wrap="square" anchor="t" lIns="0" rIns="0" tIns="0" bIns="0">
            <a:spAutoFit/>
          </a:bodyPr>
          <a:lstStyle/>
          <a:p>
            <a:pPr algn="l"/>
            <a:r>
              <a:rPr sz="950" b="1">
                <a:solidFill>
                  <a:srgbClr val="3A5C9E"/>
                </a:solidFill>
              </a:rPr>
              <a:t>LEVERAGE</a:t>
            </a:r>
          </a:p>
        </p:txBody>
      </p:sp>
      <p:sp>
        <p:nvSpPr>
          <p:cNvPr id="38" name="TextBox 37"/>
          <p:cNvSpPr txBox="1"/>
          <p:nvPr/>
        </p:nvSpPr>
        <p:spPr>
          <a:xfrm>
            <a:off x="4572000" y="3493008"/>
            <a:ext cx="3099816" cy="411480"/>
          </a:xfrm>
          <a:prstGeom prst="rect">
            <a:avLst/>
          </a:prstGeom>
          <a:noFill/>
        </p:spPr>
        <p:txBody>
          <a:bodyPr wrap="square" anchor="t" lIns="0" rIns="0" tIns="0" bIns="0">
            <a:spAutoFit/>
          </a:bodyPr>
          <a:lstStyle/>
          <a:p>
            <a:pPr algn="l"/>
            <a:r>
              <a:rPr sz="1700" b="1">
                <a:solidFill>
                  <a:srgbClr val="0F2145"/>
                </a:solidFill>
                <a:latin typeface="Georgia"/>
              </a:rPr>
              <a:t>It weights nothing at all</a:t>
            </a:r>
          </a:p>
        </p:txBody>
      </p:sp>
      <p:sp>
        <p:nvSpPr>
          <p:cNvPr id="39" name="TextBox 38"/>
          <p:cNvSpPr txBox="1"/>
          <p:nvPr/>
        </p:nvSpPr>
        <p:spPr>
          <a:xfrm>
            <a:off x="4572000" y="4023360"/>
            <a:ext cx="3099816" cy="54864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Tier 1 capital divided by total leverage exposure, with no risk weights</a:t>
            </a:r>
          </a:p>
        </p:txBody>
      </p:sp>
      <p:sp>
        <p:nvSpPr>
          <p:cNvPr id="40" name="TextBox 39"/>
          <p:cNvSpPr txBox="1"/>
          <p:nvPr/>
        </p:nvSpPr>
        <p:spPr>
          <a:xfrm>
            <a:off x="4572000" y="4590288"/>
            <a:ext cx="3099816" cy="54864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JPMorgan: $322,720 million over $5,844,422 million, an SLR of 5.5%</a:t>
            </a:r>
          </a:p>
        </p:txBody>
      </p:sp>
      <p:sp>
        <p:nvSpPr>
          <p:cNvPr id="41" name="TextBox 40"/>
          <p:cNvSpPr txBox="1"/>
          <p:nvPr/>
        </p:nvSpPr>
        <p:spPr>
          <a:xfrm>
            <a:off x="4572000" y="5157216"/>
            <a:ext cx="3099816" cy="54864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The requirement is 4.3%, a 3.0% minimum plus a 1.25% buffer</a:t>
            </a:r>
          </a:p>
        </p:txBody>
      </p:sp>
      <p:sp>
        <p:nvSpPr>
          <p:cNvPr id="42" name="Rectangle 41"/>
          <p:cNvSpPr/>
          <p:nvPr/>
        </p:nvSpPr>
        <p:spPr>
          <a:xfrm>
            <a:off x="4315968" y="2889504"/>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083296" y="2889504"/>
            <a:ext cx="3557016" cy="261518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39327" y="3163824"/>
            <a:ext cx="3044952" cy="274320"/>
          </a:xfrm>
          <a:prstGeom prst="rect">
            <a:avLst/>
          </a:prstGeom>
          <a:noFill/>
        </p:spPr>
        <p:txBody>
          <a:bodyPr wrap="square" anchor="t" lIns="0" rIns="0" tIns="0" bIns="0">
            <a:spAutoFit/>
          </a:bodyPr>
          <a:lstStyle/>
          <a:p>
            <a:pPr algn="l"/>
            <a:r>
              <a:rPr sz="950" b="1">
                <a:solidFill>
                  <a:srgbClr val="C9A227"/>
                </a:solidFill>
              </a:rPr>
              <a:t>LIQUIDITY</a:t>
            </a:r>
          </a:p>
        </p:txBody>
      </p:sp>
      <p:sp>
        <p:nvSpPr>
          <p:cNvPr id="45" name="TextBox 44"/>
          <p:cNvSpPr txBox="1"/>
          <p:nvPr/>
        </p:nvSpPr>
        <p:spPr>
          <a:xfrm>
            <a:off x="8339327" y="3493008"/>
            <a:ext cx="3044952" cy="411480"/>
          </a:xfrm>
          <a:prstGeom prst="rect">
            <a:avLst/>
          </a:prstGeom>
          <a:noFill/>
        </p:spPr>
        <p:txBody>
          <a:bodyPr wrap="square" anchor="t" lIns="0" rIns="0" tIns="0" bIns="0">
            <a:spAutoFit/>
          </a:bodyPr>
          <a:lstStyle/>
          <a:p>
            <a:pPr algn="l"/>
            <a:r>
              <a:rPr sz="1700" b="1">
                <a:solidFill>
                  <a:srgbClr val="FFFFFF"/>
                </a:solidFill>
                <a:latin typeface="Georgia"/>
              </a:rPr>
              <a:t>Two ratios, one shape</a:t>
            </a:r>
          </a:p>
        </p:txBody>
      </p:sp>
      <p:sp>
        <p:nvSpPr>
          <p:cNvPr id="46" name="TextBox 45"/>
          <p:cNvSpPr txBox="1"/>
          <p:nvPr/>
        </p:nvSpPr>
        <p:spPr>
          <a:xfrm>
            <a:off x="8339327" y="4023360"/>
            <a:ext cx="3044952" cy="548640"/>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LCR divides high-quality liquid assets by net outflows over 30 stressed days</a:t>
            </a:r>
          </a:p>
        </p:txBody>
      </p:sp>
      <p:sp>
        <p:nvSpPr>
          <p:cNvPr id="47" name="TextBox 46"/>
          <p:cNvSpPr txBox="1"/>
          <p:nvPr/>
        </p:nvSpPr>
        <p:spPr>
          <a:xfrm>
            <a:off x="8339327" y="4590288"/>
            <a:ext cx="3044952" cy="548640"/>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NSFR divides available stable funding by required stable funding over a year</a:t>
            </a:r>
          </a:p>
        </p:txBody>
      </p:sp>
      <p:sp>
        <p:nvSpPr>
          <p:cNvPr id="48" name="TextBox 47"/>
          <p:cNvSpPr txBox="1"/>
          <p:nvPr/>
        </p:nvSpPr>
        <p:spPr>
          <a:xfrm>
            <a:off x="8339327" y="5157216"/>
            <a:ext cx="3044952" cy="548640"/>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Both stand at 100%, and US G-SIBs publish them as separate documents</a:t>
            </a:r>
          </a:p>
        </p:txBody>
      </p:sp>
      <p:sp>
        <p:nvSpPr>
          <p:cNvPr id="49" name="Rectangle 48"/>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Keep every threshold in a configuration file, never in the code:</a:t>
            </a:r>
            <a:r>
              <a:rPr sz="1200" b="0">
                <a:solidFill>
                  <a:srgbClr val="FFFFFF"/>
                </a:solidFill>
              </a:rPr>
              <a:t>JPMorgan's leverage requirement fell from 5.0% to 4.3% when it early adopted the enhanced SLR rule on January 1, 2026. The lines move and the ratios do not.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THE OTHER HALF OF REGTECH</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Financial crime, and a process failure</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Capital is one half of the regulatory workload. In the United States the other half runs on the Bank Secrecy Act.</a:t>
            </a:r>
          </a:p>
        </p:txBody>
      </p:sp>
      <p:sp>
        <p:nvSpPr>
          <p:cNvPr id="6" name="Rectangle 5"/>
          <p:cNvSpPr/>
          <p:nvPr/>
        </p:nvSpPr>
        <p:spPr>
          <a:xfrm>
            <a:off x="548640" y="1810512"/>
            <a:ext cx="5394960" cy="2286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10512"/>
            <a:ext cx="64008" cy="2286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93392"/>
            <a:ext cx="4846320" cy="1920240"/>
          </a:xfrm>
          <a:prstGeom prst="rect">
            <a:avLst/>
          </a:prstGeom>
          <a:noFill/>
        </p:spPr>
        <p:txBody>
          <a:bodyPr wrap="square" anchor="t" lIns="0" rIns="0" tIns="0" bIns="0">
            <a:spAutoFit/>
          </a:bodyPr>
          <a:lstStyle/>
          <a:p>
            <a:pPr algn="l"/>
            <a:r>
              <a:rPr sz="950" b="1">
                <a:solidFill>
                  <a:srgbClr val="C9A227"/>
                </a:solidFill>
              </a:rPr>
              <a:t>TD BANK, OCTOBER 2024</a:t>
            </a:r>
          </a:p>
          <a:p>
            <a:pPr algn="l">
              <a:spcBef>
                <a:spcPts val="500"/>
              </a:spcBef>
            </a:pPr>
            <a:r>
              <a:rPr sz="1050" b="0">
                <a:solidFill>
                  <a:srgbClr val="C9D6EE"/>
                </a:solidFill>
              </a:rPr>
              <a:t>FinCEN assessed a $1.3 billion penalty and described it as the largest against a depository institution in Treasury and FinCEN history. The bank pleaded guilty to Bank Secrecy Act and money laundering conspiracy violations in a $1.8 billion resolution with the Justice Department, and the total across agencies was about $3 billion. It failed to file suspicious activity reports on thousands of transactions totalling roughly $1.5 billion. A four-year independent monitorship came with the settlement.</a:t>
            </a:r>
          </a:p>
        </p:txBody>
      </p:sp>
      <p:sp>
        <p:nvSpPr>
          <p:cNvPr id="9" name="TextBox 8"/>
          <p:cNvSpPr txBox="1"/>
          <p:nvPr/>
        </p:nvSpPr>
        <p:spPr>
          <a:xfrm>
            <a:off x="6245352" y="1810512"/>
            <a:ext cx="5394960" cy="2286000"/>
          </a:xfrm>
          <a:prstGeom prst="rect">
            <a:avLst/>
          </a:prstGeom>
          <a:noFill/>
        </p:spPr>
        <p:txBody>
          <a:bodyPr wrap="square" anchor="t" lIns="0" rIns="0" tIns="0" bIns="0">
            <a:spAutoFit/>
          </a:bodyPr>
          <a:lstStyle/>
          <a:p>
            <a:pPr algn="l"/>
            <a:r>
              <a:rPr sz="1500" b="1">
                <a:solidFill>
                  <a:srgbClr val="0F2145"/>
                </a:solidFill>
                <a:latin typeface="Georgia"/>
              </a:rPr>
              <a:t>Read the failure carefully</a:t>
            </a:r>
          </a:p>
          <a:p>
            <a:pPr algn="l">
              <a:spcBef>
                <a:spcPts val="600"/>
              </a:spcBef>
            </a:pPr>
            <a:r>
              <a:rPr sz="1150" b="0">
                <a:solidFill>
                  <a:srgbClr val="1B2A41"/>
                </a:solidFill>
              </a:rPr>
              <a:t>It is a process failure and not a modelling failure. Nobody needed a cleverer algorithm to see $1.5 billion of unreported activity. Somebody needed to work the alerts, staff the queue and file the reports.</a:t>
            </a:r>
          </a:p>
          <a:p>
            <a:pPr algn="l">
              <a:spcBef>
                <a:spcPts val="800"/>
              </a:spcBef>
            </a:pPr>
            <a:r>
              <a:rPr sz="1150" b="0">
                <a:solidFill>
                  <a:srgbClr val="1B2A41"/>
                </a:solidFill>
              </a:rPr>
              <a:t>That is where machine learning earns its place. It cuts the false positives so the queue is small enough for humans to clear. It does not decide what is suspicious, and it does not decide whether to file with FinCEN.</a:t>
            </a:r>
          </a:p>
        </p:txBody>
      </p:sp>
      <p:sp>
        <p:nvSpPr>
          <p:cNvPr id="10" name="Rectangle 9"/>
          <p:cNvSpPr/>
          <p:nvPr/>
        </p:nvSpPr>
        <p:spPr>
          <a:xfrm>
            <a:off x="548640" y="4224528"/>
            <a:ext cx="11091672" cy="118872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224528"/>
            <a:ext cx="64008" cy="118872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352544"/>
            <a:ext cx="10515600" cy="969264"/>
          </a:xfrm>
          <a:prstGeom prst="rect">
            <a:avLst/>
          </a:prstGeom>
          <a:noFill/>
        </p:spPr>
        <p:txBody>
          <a:bodyPr wrap="square" anchor="t" lIns="0" rIns="0" tIns="0" bIns="0">
            <a:spAutoFit/>
          </a:bodyPr>
          <a:lstStyle/>
          <a:p>
            <a:pPr algn="l"/>
            <a:r>
              <a:rPr sz="950" b="1">
                <a:solidFill>
                  <a:srgbClr val="3A5C9E"/>
                </a:solidFill>
              </a:rPr>
              <a:t>THE FIVE PLACES A US PIPELINE READS FROM</a:t>
            </a:r>
          </a:p>
          <a:p>
            <a:pPr algn="l">
              <a:spcBef>
                <a:spcPts val="400"/>
              </a:spcBef>
            </a:pPr>
            <a:r>
              <a:rPr sz="1100" b="0">
                <a:solidFill>
                  <a:srgbClr val="1B2A41"/>
                </a:solidFill>
              </a:rPr>
              <a:t>EDGAR holds the 10-K and the 10-Q, with the capital table in the Capital Risk Management section. The SEC's XBRL APIs at data.sec.gov return every tagged fact from those filings as JSON. The FR Y-9C is the consolidated financial statement for holding companies with $3 billion or more in assets, and its Schedule HC-R is the regulatory capital schedule. The FFIEC 101 is the capital report for institutions on the advanced framework, and its Schedule A holds the advanced detail. The Pillar 3 report is the fifth, and the only one written to be read rather than filed.</a:t>
            </a:r>
          </a:p>
        </p:txBody>
      </p:sp>
      <p:sp>
        <p:nvSpPr>
          <p:cNvPr id="13" name="TextBox 12"/>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14" name="TextBox 13"/>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PROVENANCE</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Four tags, and the idea that makes the rest safe</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A language model will write a beautiful capital summary in fifteen seconds. Some numbers will be wrong, and reading it will not tell you which.</a:t>
            </a:r>
          </a:p>
        </p:txBody>
      </p:sp>
      <p:sp>
        <p:nvSpPr>
          <p:cNvPr id="6" name="Rectangle 5"/>
          <p:cNvSpPr/>
          <p:nvPr/>
        </p:nvSpPr>
        <p:spPr>
          <a:xfrm>
            <a:off x="548640" y="1828800"/>
            <a:ext cx="2660904"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28800"/>
            <a:ext cx="2660904"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029968"/>
            <a:ext cx="2221992" cy="310896"/>
          </a:xfrm>
          <a:prstGeom prst="rect">
            <a:avLst/>
          </a:prstGeom>
          <a:noFill/>
        </p:spPr>
        <p:txBody>
          <a:bodyPr wrap="square" anchor="t" lIns="0" rIns="0" tIns="0" bIns="0">
            <a:spAutoFit/>
          </a:bodyPr>
          <a:lstStyle/>
          <a:p>
            <a:pPr algn="l"/>
            <a:r>
              <a:rPr sz="1300" b="1">
                <a:solidFill>
                  <a:srgbClr val="0F2145"/>
                </a:solidFill>
                <a:latin typeface="Consolas"/>
              </a:rPr>
              <a:t>deterministic</a:t>
            </a:r>
          </a:p>
        </p:txBody>
      </p:sp>
      <p:sp>
        <p:nvSpPr>
          <p:cNvPr id="9" name="TextBox 8"/>
          <p:cNvSpPr txBox="1"/>
          <p:nvPr/>
        </p:nvSpPr>
        <p:spPr>
          <a:xfrm>
            <a:off x="768096" y="2395728"/>
            <a:ext cx="2221992" cy="786384"/>
          </a:xfrm>
          <a:prstGeom prst="rect">
            <a:avLst/>
          </a:prstGeom>
          <a:noFill/>
        </p:spPr>
        <p:txBody>
          <a:bodyPr wrap="square" anchor="t" lIns="0" rIns="0" tIns="0" bIns="0">
            <a:spAutoFit/>
          </a:bodyPr>
          <a:lstStyle/>
          <a:p>
            <a:pPr algn="l"/>
            <a:r>
              <a:rPr sz="950" b="0">
                <a:solidFill>
                  <a:srgbClr val="1B2A41"/>
                </a:solidFill>
              </a:rPr>
              <a:t>Read from the source by code or by a person, with a page reference.</a:t>
            </a:r>
          </a:p>
        </p:txBody>
      </p:sp>
      <p:sp>
        <p:nvSpPr>
          <p:cNvPr id="10" name="TextBox 9"/>
          <p:cNvSpPr txBox="1"/>
          <p:nvPr/>
        </p:nvSpPr>
        <p:spPr>
          <a:xfrm>
            <a:off x="768096" y="3200400"/>
            <a:ext cx="2221992" cy="384048"/>
          </a:xfrm>
          <a:prstGeom prst="rect">
            <a:avLst/>
          </a:prstGeom>
          <a:noFill/>
        </p:spPr>
        <p:txBody>
          <a:bodyPr wrap="square" anchor="t" lIns="0" rIns="0" tIns="0" bIns="0">
            <a:spAutoFit/>
          </a:bodyPr>
          <a:lstStyle/>
          <a:p>
            <a:pPr algn="l"/>
            <a:r>
              <a:rPr sz="950" b="1">
                <a:solidFill>
                  <a:srgbClr val="3A5C9E"/>
                </a:solidFill>
              </a:rPr>
              <a:t>The only kind the pipeline treats as ground truth.</a:t>
            </a:r>
          </a:p>
        </p:txBody>
      </p:sp>
      <p:sp>
        <p:nvSpPr>
          <p:cNvPr id="11" name="Rectangle 10"/>
          <p:cNvSpPr/>
          <p:nvPr/>
        </p:nvSpPr>
        <p:spPr>
          <a:xfrm>
            <a:off x="3364992" y="1828800"/>
            <a:ext cx="2660904"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64992" y="1828800"/>
            <a:ext cx="2660904"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4448" y="2029968"/>
            <a:ext cx="2221992" cy="310896"/>
          </a:xfrm>
          <a:prstGeom prst="rect">
            <a:avLst/>
          </a:prstGeom>
          <a:noFill/>
        </p:spPr>
        <p:txBody>
          <a:bodyPr wrap="square" anchor="t" lIns="0" rIns="0" tIns="0" bIns="0">
            <a:spAutoFit/>
          </a:bodyPr>
          <a:lstStyle/>
          <a:p>
            <a:pPr algn="l"/>
            <a:r>
              <a:rPr sz="1300" b="1">
                <a:solidFill>
                  <a:srgbClr val="0F2145"/>
                </a:solidFill>
                <a:latin typeface="Consolas"/>
              </a:rPr>
              <a:t>derived</a:t>
            </a:r>
          </a:p>
        </p:txBody>
      </p:sp>
      <p:sp>
        <p:nvSpPr>
          <p:cNvPr id="14" name="TextBox 13"/>
          <p:cNvSpPr txBox="1"/>
          <p:nvPr/>
        </p:nvSpPr>
        <p:spPr>
          <a:xfrm>
            <a:off x="3584448" y="2395728"/>
            <a:ext cx="2221992" cy="786384"/>
          </a:xfrm>
          <a:prstGeom prst="rect">
            <a:avLst/>
          </a:prstGeom>
          <a:noFill/>
        </p:spPr>
        <p:txBody>
          <a:bodyPr wrap="square" anchor="t" lIns="0" rIns="0" tIns="0" bIns="0">
            <a:spAutoFit/>
          </a:bodyPr>
          <a:lstStyle/>
          <a:p>
            <a:pPr algn="l"/>
            <a:r>
              <a:rPr sz="950" b="0">
                <a:solidFill>
                  <a:srgbClr val="1B2A41"/>
                </a:solidFill>
              </a:rPr>
              <a:t>Computed from deterministic figures by code.</a:t>
            </a:r>
          </a:p>
        </p:txBody>
      </p:sp>
      <p:sp>
        <p:nvSpPr>
          <p:cNvPr id="15" name="TextBox 14"/>
          <p:cNvSpPr txBox="1"/>
          <p:nvPr/>
        </p:nvSpPr>
        <p:spPr>
          <a:xfrm>
            <a:off x="3584448" y="3200400"/>
            <a:ext cx="2221992" cy="384048"/>
          </a:xfrm>
          <a:prstGeom prst="rect">
            <a:avLst/>
          </a:prstGeom>
          <a:noFill/>
        </p:spPr>
        <p:txBody>
          <a:bodyPr wrap="square" anchor="t" lIns="0" rIns="0" tIns="0" bIns="0">
            <a:spAutoFit/>
          </a:bodyPr>
          <a:lstStyle/>
          <a:p>
            <a:pPr algn="l"/>
            <a:r>
              <a:rPr sz="950" b="1">
                <a:solidFill>
                  <a:srgbClr val="3A5C9E"/>
                </a:solidFill>
              </a:rPr>
              <a:t>A ratio is derived. So is headroom.</a:t>
            </a:r>
          </a:p>
        </p:txBody>
      </p:sp>
      <p:sp>
        <p:nvSpPr>
          <p:cNvPr id="16" name="Rectangle 15"/>
          <p:cNvSpPr/>
          <p:nvPr/>
        </p:nvSpPr>
        <p:spPr>
          <a:xfrm>
            <a:off x="6181344" y="1828800"/>
            <a:ext cx="2660904"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1828800"/>
            <a:ext cx="2660904"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029968"/>
            <a:ext cx="2221992" cy="310896"/>
          </a:xfrm>
          <a:prstGeom prst="rect">
            <a:avLst/>
          </a:prstGeom>
          <a:noFill/>
        </p:spPr>
        <p:txBody>
          <a:bodyPr wrap="square" anchor="t" lIns="0" rIns="0" tIns="0" bIns="0">
            <a:spAutoFit/>
          </a:bodyPr>
          <a:lstStyle/>
          <a:p>
            <a:pPr algn="l"/>
            <a:r>
              <a:rPr sz="1300" b="1">
                <a:solidFill>
                  <a:srgbClr val="0F2145"/>
                </a:solidFill>
                <a:latin typeface="Consolas"/>
              </a:rPr>
              <a:t>llm</a:t>
            </a:r>
          </a:p>
        </p:txBody>
      </p:sp>
      <p:sp>
        <p:nvSpPr>
          <p:cNvPr id="19" name="TextBox 18"/>
          <p:cNvSpPr txBox="1"/>
          <p:nvPr/>
        </p:nvSpPr>
        <p:spPr>
          <a:xfrm>
            <a:off x="6400800" y="2395728"/>
            <a:ext cx="2221992" cy="786384"/>
          </a:xfrm>
          <a:prstGeom prst="rect">
            <a:avLst/>
          </a:prstGeom>
          <a:noFill/>
        </p:spPr>
        <p:txBody>
          <a:bodyPr wrap="square" anchor="t" lIns="0" rIns="0" tIns="0" bIns="0">
            <a:spAutoFit/>
          </a:bodyPr>
          <a:lstStyle/>
          <a:p>
            <a:pPr algn="l"/>
            <a:r>
              <a:rPr sz="950" b="0">
                <a:solidFill>
                  <a:srgbClr val="1B2A41"/>
                </a:solidFill>
              </a:rPr>
              <a:t>Supplied by a language model because the extractor could not find it.</a:t>
            </a:r>
          </a:p>
        </p:txBody>
      </p:sp>
      <p:sp>
        <p:nvSpPr>
          <p:cNvPr id="20" name="TextBox 19"/>
          <p:cNvSpPr txBox="1"/>
          <p:nvPr/>
        </p:nvSpPr>
        <p:spPr>
          <a:xfrm>
            <a:off x="6400800" y="3200400"/>
            <a:ext cx="2221992" cy="384048"/>
          </a:xfrm>
          <a:prstGeom prst="rect">
            <a:avLst/>
          </a:prstGeom>
          <a:noFill/>
        </p:spPr>
        <p:txBody>
          <a:bodyPr wrap="square" anchor="t" lIns="0" rIns="0" tIns="0" bIns="0">
            <a:spAutoFit/>
          </a:bodyPr>
          <a:lstStyle/>
          <a:p>
            <a:pPr algn="l"/>
            <a:r>
              <a:rPr sz="950" b="1">
                <a:solidFill>
                  <a:srgbClr val="3A5C9E"/>
                </a:solidFill>
              </a:rPr>
              <a:t>Provisional until someone validates it against the source.</a:t>
            </a:r>
          </a:p>
        </p:txBody>
      </p:sp>
      <p:sp>
        <p:nvSpPr>
          <p:cNvPr id="21" name="Rectangle 20"/>
          <p:cNvSpPr/>
          <p:nvPr/>
        </p:nvSpPr>
        <p:spPr>
          <a:xfrm>
            <a:off x="8997696" y="1828800"/>
            <a:ext cx="2642616"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97696" y="1828800"/>
            <a:ext cx="2642616"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17152" y="2029968"/>
            <a:ext cx="2203704" cy="310896"/>
          </a:xfrm>
          <a:prstGeom prst="rect">
            <a:avLst/>
          </a:prstGeom>
          <a:noFill/>
        </p:spPr>
        <p:txBody>
          <a:bodyPr wrap="square" anchor="t" lIns="0" rIns="0" tIns="0" bIns="0">
            <a:spAutoFit/>
          </a:bodyPr>
          <a:lstStyle/>
          <a:p>
            <a:pPr algn="l"/>
            <a:r>
              <a:rPr sz="1300" b="1">
                <a:solidFill>
                  <a:srgbClr val="0F2145"/>
                </a:solidFill>
                <a:latin typeface="Consolas"/>
              </a:rPr>
              <a:t>refinitiv</a:t>
            </a:r>
          </a:p>
        </p:txBody>
      </p:sp>
      <p:sp>
        <p:nvSpPr>
          <p:cNvPr id="24" name="TextBox 23"/>
          <p:cNvSpPr txBox="1"/>
          <p:nvPr/>
        </p:nvSpPr>
        <p:spPr>
          <a:xfrm>
            <a:off x="9217152" y="2395728"/>
            <a:ext cx="2203704" cy="786384"/>
          </a:xfrm>
          <a:prstGeom prst="rect">
            <a:avLst/>
          </a:prstGeom>
          <a:noFill/>
        </p:spPr>
        <p:txBody>
          <a:bodyPr wrap="square" anchor="t" lIns="0" rIns="0" tIns="0" bIns="0">
            <a:spAutoFit/>
          </a:bodyPr>
          <a:lstStyle/>
          <a:p>
            <a:pPr algn="l"/>
            <a:r>
              <a:rPr sz="950" b="0">
                <a:solidFill>
                  <a:srgbClr val="1B2A41"/>
                </a:solidFill>
              </a:rPr>
              <a:t>A vendor's figure, carrying the vendor's name as its tag.</a:t>
            </a:r>
          </a:p>
        </p:txBody>
      </p:sp>
      <p:sp>
        <p:nvSpPr>
          <p:cNvPr id="25" name="TextBox 24"/>
          <p:cNvSpPr txBox="1"/>
          <p:nvPr/>
        </p:nvSpPr>
        <p:spPr>
          <a:xfrm>
            <a:off x="9217152" y="3200400"/>
            <a:ext cx="2203704" cy="384048"/>
          </a:xfrm>
          <a:prstGeom prst="rect">
            <a:avLst/>
          </a:prstGeom>
          <a:noFill/>
        </p:spPr>
        <p:txBody>
          <a:bodyPr wrap="square" anchor="t" lIns="0" rIns="0" tIns="0" bIns="0">
            <a:spAutoFit/>
          </a:bodyPr>
          <a:lstStyle/>
          <a:p>
            <a:pPr algn="l"/>
            <a:r>
              <a:rPr sz="950" b="1">
                <a:solidFill>
                  <a:srgbClr val="3A5C9E"/>
                </a:solidFill>
              </a:rPr>
              <a:t>Peer context. It never merges into the bank's own figures.</a:t>
            </a:r>
          </a:p>
        </p:txBody>
      </p:sp>
      <p:sp>
        <p:nvSpPr>
          <p:cNvPr id="26" name="Rectangle 25"/>
          <p:cNvSpPr/>
          <p:nvPr/>
        </p:nvSpPr>
        <p:spPr>
          <a:xfrm>
            <a:off x="548640" y="3785615"/>
            <a:ext cx="11091672" cy="78638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3785615"/>
            <a:ext cx="64008" cy="78638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3785615"/>
            <a:ext cx="10515600" cy="786384"/>
          </a:xfrm>
          <a:prstGeom prst="rect">
            <a:avLst/>
          </a:prstGeom>
          <a:noFill/>
        </p:spPr>
        <p:txBody>
          <a:bodyPr wrap="square" anchor="ctr" lIns="0" rIns="0" tIns="0" bIns="0">
            <a:spAutoFit/>
          </a:bodyPr>
          <a:lstStyle/>
          <a:p>
            <a:pPr algn="l"/>
            <a:r>
              <a:rPr sz="1500" b="1">
                <a:solidFill>
                  <a:srgbClr val="C9A227"/>
                </a:solidFill>
                <a:latin typeface="Georgia"/>
              </a:rPr>
              <a:t>ONE SENTENCE HOLDS THE SCHEME TOGETHER:</a:t>
            </a:r>
            <a:r>
              <a:rPr sz="1500" b="1">
                <a:solidFill>
                  <a:srgbClr val="FFFFFF"/>
                </a:solidFill>
                <a:latin typeface="Georgia"/>
              </a:rPr>
              <a:t>a deterministic figure is never overwritten by any other kind.</a:t>
            </a:r>
          </a:p>
        </p:txBody>
      </p:sp>
      <p:sp>
        <p:nvSpPr>
          <p:cNvPr id="29" name="Rectangle 28"/>
          <p:cNvSpPr/>
          <p:nvPr/>
        </p:nvSpPr>
        <p:spPr>
          <a:xfrm>
            <a:off x="548640" y="4700016"/>
            <a:ext cx="11091672" cy="804672"/>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700016"/>
            <a:ext cx="64008" cy="804672"/>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828031"/>
            <a:ext cx="10515600" cy="585216"/>
          </a:xfrm>
          <a:prstGeom prst="rect">
            <a:avLst/>
          </a:prstGeom>
          <a:noFill/>
        </p:spPr>
        <p:txBody>
          <a:bodyPr wrap="square" anchor="t" lIns="0" rIns="0" tIns="0" bIns="0">
            <a:spAutoFit/>
          </a:bodyPr>
          <a:lstStyle/>
          <a:p>
            <a:pPr algn="l"/>
            <a:r>
              <a:rPr sz="950" b="1">
                <a:solidFill>
                  <a:srgbClr val="3A5C9E"/>
                </a:solidFill>
              </a:rPr>
              <a:t>WRITE THAT RULE DOWN BEFORE YOU WRITE THE PIPELINE</a:t>
            </a:r>
          </a:p>
          <a:p>
            <a:pPr algn="l">
              <a:spcBef>
                <a:spcPts val="400"/>
              </a:spcBef>
            </a:pPr>
            <a:r>
              <a:rPr sz="1100" b="0">
                <a:solidFill>
                  <a:srgbClr val="1B2A41"/>
                </a:solidFill>
              </a:rPr>
              <a:t>Every shortcut you will be tempted to take later breaks it. A peer bank's median CET1 ratio carries the vendor tag and must never merge into the subject bank's figures, because every number attributed to the bank has to trace back to that bank's own filing.</a:t>
            </a:r>
          </a:p>
        </p:txBody>
      </p:sp>
      <p:sp>
        <p:nvSpPr>
          <p:cNvPr id="32" name="TextBox 31"/>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3" name="TextBox 32"/>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2 · THE ARCHITECTURE</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A wide funnel, a gate, and a fork at the end</a:t>
            </a:r>
          </a:p>
        </p:txBody>
      </p:sp>
      <p:sp>
        <p:nvSpPr>
          <p:cNvPr id="5" name="Rectangle 4"/>
          <p:cNvSpPr/>
          <p:nvPr/>
        </p:nvSpPr>
        <p:spPr>
          <a:xfrm>
            <a:off x="548640" y="1536192"/>
            <a:ext cx="2103120" cy="256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3619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719072"/>
            <a:ext cx="1700784" cy="310896"/>
          </a:xfrm>
          <a:prstGeom prst="rect">
            <a:avLst/>
          </a:prstGeom>
          <a:noFill/>
        </p:spPr>
        <p:txBody>
          <a:bodyPr wrap="square" anchor="t" lIns="0" rIns="0" tIns="0" bIns="0">
            <a:spAutoFit/>
          </a:bodyPr>
          <a:lstStyle/>
          <a:p>
            <a:pPr algn="l"/>
            <a:r>
              <a:rPr sz="1300" b="1">
                <a:solidFill>
                  <a:srgbClr val="0F2145"/>
                </a:solidFill>
                <a:latin typeface="Georgia"/>
              </a:rPr>
              <a:t>INGEST</a:t>
            </a:r>
          </a:p>
        </p:txBody>
      </p:sp>
      <p:sp>
        <p:nvSpPr>
          <p:cNvPr id="8" name="TextBox 7"/>
          <p:cNvSpPr txBox="1"/>
          <p:nvPr/>
        </p:nvSpPr>
        <p:spPr>
          <a:xfrm>
            <a:off x="749808" y="2103120"/>
            <a:ext cx="1700784" cy="1828800"/>
          </a:xfrm>
          <a:prstGeom prst="rect">
            <a:avLst/>
          </a:prstGeom>
          <a:noFill/>
        </p:spPr>
        <p:txBody>
          <a:bodyPr wrap="square" anchor="t" lIns="0" rIns="0" tIns="0" bIns="0">
            <a:spAutoFit/>
          </a:bodyPr>
          <a:lstStyle/>
          <a:p>
            <a:pPr algn="l"/>
            <a:r>
              <a:rPr sz="900" b="0">
                <a:solidFill>
                  <a:srgbClr val="1B2A41"/>
                </a:solidFill>
              </a:rPr>
              <a:t>The 10-Q from EDGAR, the Pillar 3 PDF from the bank's site, the XBRL facts from the SEC API. Each becomes page text plus a note of its section. It does nothing clever.</a:t>
            </a:r>
          </a:p>
        </p:txBody>
      </p:sp>
      <p:sp>
        <p:nvSpPr>
          <p:cNvPr id="9" name="TextBox 8"/>
          <p:cNvSpPr txBox="1"/>
          <p:nvPr/>
        </p:nvSpPr>
        <p:spPr>
          <a:xfrm>
            <a:off x="2670048" y="2706624"/>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10" name="Rectangle 9"/>
          <p:cNvSpPr/>
          <p:nvPr/>
        </p:nvSpPr>
        <p:spPr>
          <a:xfrm>
            <a:off x="2807208" y="1536192"/>
            <a:ext cx="2103120" cy="256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07208" y="153619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08376" y="1719072"/>
            <a:ext cx="1700784" cy="310896"/>
          </a:xfrm>
          <a:prstGeom prst="rect">
            <a:avLst/>
          </a:prstGeom>
          <a:noFill/>
        </p:spPr>
        <p:txBody>
          <a:bodyPr wrap="square" anchor="t" lIns="0" rIns="0" tIns="0" bIns="0">
            <a:spAutoFit/>
          </a:bodyPr>
          <a:lstStyle/>
          <a:p>
            <a:pPr algn="l"/>
            <a:r>
              <a:rPr sz="1300" b="1">
                <a:solidFill>
                  <a:srgbClr val="0F2145"/>
                </a:solidFill>
                <a:latin typeface="Georgia"/>
              </a:rPr>
              <a:t>EXTRACTOR</a:t>
            </a:r>
          </a:p>
        </p:txBody>
      </p:sp>
      <p:sp>
        <p:nvSpPr>
          <p:cNvPr id="13" name="TextBox 12"/>
          <p:cNvSpPr txBox="1"/>
          <p:nvPr/>
        </p:nvSpPr>
        <p:spPr>
          <a:xfrm>
            <a:off x="3008376" y="2103120"/>
            <a:ext cx="1700784" cy="1828800"/>
          </a:xfrm>
          <a:prstGeom prst="rect">
            <a:avLst/>
          </a:prstGeom>
          <a:noFill/>
        </p:spPr>
        <p:txBody>
          <a:bodyPr wrap="square" anchor="t" lIns="0" rIns="0" tIns="0" bIns="0">
            <a:spAutoFit/>
          </a:bodyPr>
          <a:lstStyle/>
          <a:p>
            <a:pPr algn="l"/>
            <a:r>
              <a:rPr sz="900" b="0">
                <a:solidFill>
                  <a:srgbClr val="1B2A41"/>
                </a:solidFill>
              </a:rPr>
              <a:t>A list of metric definitions, each a label to look for and a rule for which number to take. One record per metric: value, page, matched quote, tag deterministic.</a:t>
            </a:r>
          </a:p>
        </p:txBody>
      </p:sp>
      <p:sp>
        <p:nvSpPr>
          <p:cNvPr id="14" name="TextBox 13"/>
          <p:cNvSpPr txBox="1"/>
          <p:nvPr/>
        </p:nvSpPr>
        <p:spPr>
          <a:xfrm>
            <a:off x="4928616" y="2706624"/>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15" name="Rectangle 14"/>
          <p:cNvSpPr/>
          <p:nvPr/>
        </p:nvSpPr>
        <p:spPr>
          <a:xfrm>
            <a:off x="5065776" y="1536192"/>
            <a:ext cx="2103120" cy="256032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66944" y="1719072"/>
            <a:ext cx="1700784" cy="310896"/>
          </a:xfrm>
          <a:prstGeom prst="rect">
            <a:avLst/>
          </a:prstGeom>
          <a:noFill/>
        </p:spPr>
        <p:txBody>
          <a:bodyPr wrap="square" anchor="t" lIns="0" rIns="0" tIns="0" bIns="0">
            <a:spAutoFit/>
          </a:bodyPr>
          <a:lstStyle/>
          <a:p>
            <a:pPr algn="l"/>
            <a:r>
              <a:rPr sz="1300" b="1">
                <a:solidFill>
                  <a:srgbClr val="FFFFFF"/>
                </a:solidFill>
                <a:latin typeface="Georgia"/>
              </a:rPr>
              <a:t>THE GATE</a:t>
            </a:r>
          </a:p>
        </p:txBody>
      </p:sp>
      <p:sp>
        <p:nvSpPr>
          <p:cNvPr id="17" name="TextBox 16"/>
          <p:cNvSpPr txBox="1"/>
          <p:nvPr/>
        </p:nvSpPr>
        <p:spPr>
          <a:xfrm>
            <a:off x="5266944" y="2103120"/>
            <a:ext cx="1700784" cy="1828800"/>
          </a:xfrm>
          <a:prstGeom prst="rect">
            <a:avLst/>
          </a:prstGeom>
          <a:noFill/>
        </p:spPr>
        <p:txBody>
          <a:bodyPr wrap="square" anchor="t" lIns="0" rIns="0" tIns="0" bIns="0">
            <a:spAutoFit/>
          </a:bodyPr>
          <a:lstStyle/>
          <a:p>
            <a:pPr algn="l"/>
            <a:r>
              <a:rPr sz="900" b="0">
                <a:solidFill>
                  <a:srgbClr val="C9D6EE"/>
                </a:solidFill>
              </a:rPr>
              <a:t>Only the metrics the extractor missed reach the model. It must return a value, a page and a quote. The quote must appear word for word on the page it cites.</a:t>
            </a:r>
          </a:p>
        </p:txBody>
      </p:sp>
      <p:sp>
        <p:nvSpPr>
          <p:cNvPr id="18" name="TextBox 17"/>
          <p:cNvSpPr txBox="1"/>
          <p:nvPr/>
        </p:nvSpPr>
        <p:spPr>
          <a:xfrm>
            <a:off x="7187183" y="2706624"/>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19" name="Rectangle 18"/>
          <p:cNvSpPr/>
          <p:nvPr/>
        </p:nvSpPr>
        <p:spPr>
          <a:xfrm>
            <a:off x="7324344" y="1536192"/>
            <a:ext cx="2103120" cy="256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24344" y="153619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25512" y="1719072"/>
            <a:ext cx="1700784" cy="310896"/>
          </a:xfrm>
          <a:prstGeom prst="rect">
            <a:avLst/>
          </a:prstGeom>
          <a:noFill/>
        </p:spPr>
        <p:txBody>
          <a:bodyPr wrap="square" anchor="t" lIns="0" rIns="0" tIns="0" bIns="0">
            <a:spAutoFit/>
          </a:bodyPr>
          <a:lstStyle/>
          <a:p>
            <a:pPr algn="l"/>
            <a:r>
              <a:rPr sz="1300" b="1">
                <a:solidFill>
                  <a:srgbClr val="0F2145"/>
                </a:solidFill>
                <a:latin typeface="Georgia"/>
              </a:rPr>
              <a:t>RECONCILE</a:t>
            </a:r>
          </a:p>
        </p:txBody>
      </p:sp>
      <p:sp>
        <p:nvSpPr>
          <p:cNvPr id="22" name="TextBox 21"/>
          <p:cNvSpPr txBox="1"/>
          <p:nvPr/>
        </p:nvSpPr>
        <p:spPr>
          <a:xfrm>
            <a:off x="7525512" y="2103120"/>
            <a:ext cx="1700784" cy="1828800"/>
          </a:xfrm>
          <a:prstGeom prst="rect">
            <a:avLst/>
          </a:prstGeom>
          <a:noFill/>
        </p:spPr>
        <p:txBody>
          <a:bodyPr wrap="square" anchor="t" lIns="0" rIns="0" tIns="0" bIns="0">
            <a:spAutoFit/>
          </a:bodyPr>
          <a:lstStyle/>
          <a:p>
            <a:pPr algn="l"/>
            <a:r>
              <a:rPr sz="900" b="0">
                <a:solidFill>
                  <a:srgbClr val="1B2A41"/>
                </a:solidFill>
              </a:rPr>
              <a:t>CET1 over RWA must equal the reported CET1 ratio. Tier 1 must equal CET1 plus AT1. Total must equal Tier 1 plus Tier 2. Pass, fail, or not enough data.</a:t>
            </a:r>
          </a:p>
        </p:txBody>
      </p:sp>
      <p:sp>
        <p:nvSpPr>
          <p:cNvPr id="23" name="TextBox 22"/>
          <p:cNvSpPr txBox="1"/>
          <p:nvPr/>
        </p:nvSpPr>
        <p:spPr>
          <a:xfrm>
            <a:off x="9445751" y="2706624"/>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24" name="Rectangle 23"/>
          <p:cNvSpPr/>
          <p:nvPr/>
        </p:nvSpPr>
        <p:spPr>
          <a:xfrm>
            <a:off x="9582912" y="1536192"/>
            <a:ext cx="2103120" cy="256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82912" y="153619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0" y="1719072"/>
            <a:ext cx="1700784" cy="310896"/>
          </a:xfrm>
          <a:prstGeom prst="rect">
            <a:avLst/>
          </a:prstGeom>
          <a:noFill/>
        </p:spPr>
        <p:txBody>
          <a:bodyPr wrap="square" anchor="t" lIns="0" rIns="0" tIns="0" bIns="0">
            <a:spAutoFit/>
          </a:bodyPr>
          <a:lstStyle/>
          <a:p>
            <a:pPr algn="l"/>
            <a:r>
              <a:rPr sz="1300" b="1">
                <a:solidFill>
                  <a:srgbClr val="0F2145"/>
                </a:solidFill>
                <a:latin typeface="Georgia"/>
              </a:rPr>
              <a:t>THE FORK</a:t>
            </a:r>
          </a:p>
        </p:txBody>
      </p:sp>
      <p:sp>
        <p:nvSpPr>
          <p:cNvPr id="27" name="TextBox 26"/>
          <p:cNvSpPr txBox="1"/>
          <p:nvPr/>
        </p:nvSpPr>
        <p:spPr>
          <a:xfrm>
            <a:off x="9784080" y="2103120"/>
            <a:ext cx="1700784" cy="1828800"/>
          </a:xfrm>
          <a:prstGeom prst="rect">
            <a:avLst/>
          </a:prstGeom>
          <a:noFill/>
        </p:spPr>
        <p:txBody>
          <a:bodyPr wrap="square" anchor="t" lIns="0" rIns="0" tIns="0" bIns="0">
            <a:spAutoFit/>
          </a:bodyPr>
          <a:lstStyle/>
          <a:p>
            <a:pPr algn="l"/>
            <a:r>
              <a:rPr sz="900" b="0">
                <a:solidFill>
                  <a:srgbClr val="1B2A41"/>
                </a:solidFill>
              </a:rPr>
              <a:t>Left computes ratios, headroom and RWA density. Middle names the missing disclosures. Right sends only reconciled numbers to the model for the narrative.</a:t>
            </a:r>
          </a:p>
        </p:txBody>
      </p:sp>
      <p:sp>
        <p:nvSpPr>
          <p:cNvPr id="28" name="Rectangle 27"/>
          <p:cNvSpPr/>
          <p:nvPr/>
        </p:nvSpPr>
        <p:spPr>
          <a:xfrm>
            <a:off x="548640" y="4242816"/>
            <a:ext cx="11091672" cy="118872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242816"/>
            <a:ext cx="64008" cy="118872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370831"/>
            <a:ext cx="10515600" cy="969264"/>
          </a:xfrm>
          <a:prstGeom prst="rect">
            <a:avLst/>
          </a:prstGeom>
          <a:noFill/>
        </p:spPr>
        <p:txBody>
          <a:bodyPr wrap="square" anchor="t" lIns="0" rIns="0" tIns="0" bIns="0">
            <a:spAutoFit/>
          </a:bodyPr>
          <a:lstStyle/>
          <a:p>
            <a:pPr algn="l"/>
            <a:r>
              <a:rPr sz="950" b="1">
                <a:solidFill>
                  <a:srgbClr val="3A5C9E"/>
                </a:solidFill>
              </a:rPr>
              <a:t>TWELVE STEPS, AND NOTE WHERE THE MODEL SITS</a:t>
            </a:r>
          </a:p>
          <a:p>
            <a:pPr algn="l">
              <a:spcBef>
                <a:spcPts val="400"/>
              </a:spcBef>
            </a:pPr>
            <a:r>
              <a:rPr sz="1100" b="0">
                <a:solidFill>
                  <a:srgbClr val="1B2A41"/>
                </a:solidFill>
              </a:rPr>
              <a:t>1 Identify the filing and write down the accession number.   2 Pull the machine-readable facts from the SEC XBRL API.   3 Read the capital table from the filing.   4 Record the reported ratios and the requirements.   5 Tag steps 2 to 4 deterministic.   6 Recompute all four ratios and tag them derived.   7 Print pass or fail against a stated tolerance.   8 Compute the headroom.   9 Stop if anything failed.   10 Send the checked table to the model for the narrative.   11 Check every figure it returned, by eye.   12 Assemble the Word document with a provenance column. The model appears at step 10 and in the gate, and nowhere else.</a:t>
            </a:r>
          </a:p>
        </p:txBody>
      </p:sp>
      <p:sp>
        <p:nvSpPr>
          <p:cNvPr id="31" name="TextBox 30"/>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2" name="TextBox 31"/>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PART A</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Pull one fact, and read the trap inside it</a:t>
            </a:r>
          </a:p>
        </p:txBody>
      </p:sp>
      <p:sp>
        <p:nvSpPr>
          <p:cNvPr id="5" name="Rectangle 4"/>
          <p:cNvSpPr/>
          <p:nvPr/>
        </p:nvSpPr>
        <p:spPr>
          <a:xfrm>
            <a:off x="548640" y="1426464"/>
            <a:ext cx="11091672" cy="82296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26464"/>
            <a:ext cx="64008" cy="8229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26464"/>
            <a:ext cx="10515600" cy="822960"/>
          </a:xfrm>
          <a:prstGeom prst="rect">
            <a:avLst/>
          </a:prstGeom>
          <a:noFill/>
        </p:spPr>
        <p:txBody>
          <a:bodyPr wrap="square" anchor="ctr" lIns="0" rIns="0" tIns="0" bIns="0">
            <a:spAutoFit/>
          </a:bodyPr>
          <a:lstStyle/>
          <a:p>
            <a:pPr algn="l"/>
            <a:r>
              <a:rPr sz="850" b="1">
                <a:solidFill>
                  <a:srgbClr val="C9A227"/>
                </a:solidFill>
              </a:rPr>
              <a:t>THE PROMPT</a:t>
            </a:r>
          </a:p>
          <a:p>
            <a:pPr algn="l">
              <a:spcBef>
                <a:spcPts val="200"/>
              </a:spcBef>
            </a:pPr>
            <a:r>
              <a:rPr sz="1250" b="1">
                <a:solidFill>
                  <a:srgbClr val="FFFFFF"/>
                </a:solidFill>
                <a:latin typeface="Georgia"/>
              </a:rPr>
              <a:t>“Call the SEC XBRL company concept API at data.sec.gov for CIK 0000019617 and the us-gaap concept StockholdersEquity. Send a User-Agent header with a contact address. Print the last three period ends, tagged deterministic.”</a:t>
            </a:r>
          </a:p>
        </p:txBody>
      </p:sp>
      <p:sp>
        <p:nvSpPr>
          <p:cNvPr id="8" name="Rectangle 7"/>
          <p:cNvSpPr/>
          <p:nvPr/>
        </p:nvSpPr>
        <p:spPr>
          <a:xfrm>
            <a:off x="548640" y="2377440"/>
            <a:ext cx="11091672" cy="137160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37744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505456"/>
            <a:ext cx="10543032" cy="219456"/>
          </a:xfrm>
          <a:prstGeom prst="rect">
            <a:avLst/>
          </a:prstGeom>
          <a:noFill/>
        </p:spPr>
        <p:txBody>
          <a:bodyPr wrap="square" anchor="t" lIns="0" rIns="0" tIns="0" bIns="0">
            <a:spAutoFit/>
          </a:bodyPr>
          <a:lstStyle/>
          <a:p>
            <a:pPr algn="l"/>
            <a:r>
              <a:rPr sz="850" b="1">
                <a:solidFill>
                  <a:srgbClr val="C9A227"/>
                </a:solidFill>
              </a:rPr>
              <a:t>WHAT COMES BACK</a:t>
            </a:r>
          </a:p>
        </p:txBody>
      </p:sp>
      <p:sp>
        <p:nvSpPr>
          <p:cNvPr id="11" name="TextBox 10"/>
          <p:cNvSpPr txBox="1"/>
          <p:nvPr/>
        </p:nvSpPr>
        <p:spPr>
          <a:xfrm>
            <a:off x="868680" y="2779776"/>
            <a:ext cx="10543032" cy="841248"/>
          </a:xfrm>
          <a:prstGeom prst="rect">
            <a:avLst/>
          </a:prstGeom>
          <a:noFill/>
        </p:spPr>
        <p:txBody>
          <a:bodyPr wrap="none" anchor="t" lIns="0" rIns="0" tIns="0" bIns="0">
            <a:spAutoFit/>
          </a:bodyPr>
          <a:lstStyle/>
          <a:p>
            <a:pPr algn="l"/>
            <a:r>
              <a:rPr sz="950" b="0">
                <a:solidFill>
                  <a:srgbClr val="C9D6EE"/>
                </a:solidFill>
                <a:latin typeface="Consolas"/>
              </a:rPr>
              <a:t>JPMORGAN CHASE &amp; CO  |  StockholdersEquity  |  source: SEC companyconcept API</a:t>
            </a:r>
          </a:p>
          <a:p>
            <a:pPr algn="l"/>
            <a:r>
              <a:rPr sz="950" b="0">
                <a:solidFill>
                  <a:srgbClr val="C9D6EE"/>
                </a:solidFill>
                <a:latin typeface="Consolas"/>
              </a:rPr>
              <a:t>2025-12-31  $362.4 billion   10-K  filed 2026-02-13   [deterministic]</a:t>
            </a:r>
          </a:p>
          <a:p>
            <a:pPr algn="l"/>
            <a:r>
              <a:rPr sz="950" b="0">
                <a:solidFill>
                  <a:srgbClr val="C9D6EE"/>
                </a:solidFill>
                <a:latin typeface="Consolas"/>
              </a:rPr>
              <a:t>2026-03-31  $364.0 billion   10-Q  filed 2026-05-01   [deterministic]</a:t>
            </a:r>
          </a:p>
          <a:p>
            <a:pPr algn="l"/>
            <a:r>
              <a:rPr sz="950" b="0">
                <a:solidFill>
                  <a:srgbClr val="C9D6EE"/>
                </a:solidFill>
                <a:latin typeface="Consolas"/>
              </a:rPr>
              <a:t>2026-06-30  $374.6 billion   10-Q  filed 2026-08-06   [deterministic]</a:t>
            </a:r>
          </a:p>
        </p:txBody>
      </p:sp>
      <p:sp>
        <p:nvSpPr>
          <p:cNvPr id="12" name="TextBox 11"/>
          <p:cNvSpPr txBox="1"/>
          <p:nvPr/>
        </p:nvSpPr>
        <p:spPr>
          <a:xfrm>
            <a:off x="548640" y="3950208"/>
            <a:ext cx="5486400" cy="1371600"/>
          </a:xfrm>
          <a:prstGeom prst="rect">
            <a:avLst/>
          </a:prstGeom>
          <a:noFill/>
        </p:spPr>
        <p:txBody>
          <a:bodyPr wrap="square" anchor="t" lIns="0" rIns="0" tIns="0" bIns="0">
            <a:spAutoFit/>
          </a:bodyPr>
          <a:lstStyle/>
          <a:p>
            <a:pPr algn="l"/>
            <a:r>
              <a:rPr sz="1500" b="1">
                <a:solidFill>
                  <a:srgbClr val="0F2145"/>
                </a:solidFill>
                <a:latin typeface="Georgia"/>
              </a:rPr>
              <a:t>Two correct numbers that are not the same</a:t>
            </a:r>
          </a:p>
          <a:p>
            <a:pPr algn="l">
              <a:spcBef>
                <a:spcPts val="600"/>
              </a:spcBef>
            </a:pPr>
            <a:r>
              <a:rPr sz="1100" b="0">
                <a:solidFill>
                  <a:srgbClr val="1B2A41"/>
                </a:solidFill>
              </a:rPr>
              <a:t>Total stockholders' equity at June 30, 2026 is $374.6 billion. CET1 capital on the same date is $302.6 billion. Both are right. Accounting equity includes preferred stock and does not deduct goodwill. CET1 excludes preferred stock and does deduct goodwill.</a:t>
            </a:r>
          </a:p>
        </p:txBody>
      </p:sp>
      <p:sp>
        <p:nvSpPr>
          <p:cNvPr id="13" name="TextBox 12"/>
          <p:cNvSpPr txBox="1"/>
          <p:nvPr/>
        </p:nvSpPr>
        <p:spPr>
          <a:xfrm>
            <a:off x="6309360" y="3950208"/>
            <a:ext cx="5330952" cy="1371600"/>
          </a:xfrm>
          <a:prstGeom prst="rect">
            <a:avLst/>
          </a:prstGeom>
          <a:noFill/>
        </p:spPr>
        <p:txBody>
          <a:bodyPr wrap="square" anchor="t" lIns="0" rIns="0" tIns="0" bIns="0">
            <a:spAutoFit/>
          </a:bodyPr>
          <a:lstStyle/>
          <a:p>
            <a:pPr algn="l"/>
            <a:r>
              <a:rPr sz="1500" b="1">
                <a:solidFill>
                  <a:srgbClr val="0F2145"/>
                </a:solidFill>
                <a:latin typeface="Georgia"/>
              </a:rPr>
              <a:t>Why the lab is built this way</a:t>
            </a:r>
          </a:p>
          <a:p>
            <a:pPr algn="l">
              <a:spcBef>
                <a:spcPts val="600"/>
              </a:spcBef>
            </a:pPr>
            <a:r>
              <a:rPr sz="1100" b="0">
                <a:solidFill>
                  <a:srgbClr val="1B2A41"/>
                </a:solidFill>
              </a:rPr>
              <a:t>XBRL gives you accounting concepts. Regulatory capital is not an accounting concept, and no XBRL tag will hand it to you. Find the accession number first: for this quarter it is 0001628280-26-054343, filed August 6, 2026.</a:t>
            </a:r>
          </a:p>
        </p:txBody>
      </p:sp>
      <p:sp>
        <p:nvSpPr>
          <p:cNvPr id="14" name="Rectangle 13"/>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Before any code, find the document:</a:t>
            </a:r>
            <a:r>
              <a:rPr sz="1200" b="0">
                <a:solidFill>
                  <a:srgbClr val="FFFFFF"/>
                </a:solidFill>
              </a:rPr>
              <a:t>write down the accession number before you read a single figure.</a:t>
            </a:r>
          </a:p>
        </p:txBody>
      </p:sp>
      <p:sp>
        <p:nvSpPr>
          <p:cNvPr id="17" name="TextBox 16"/>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18" name="TextBox 17"/>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PART B</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Recompute all four ratios and check them</a:t>
            </a:r>
          </a:p>
        </p:txBody>
      </p:sp>
      <p:sp>
        <p:nvSpPr>
          <p:cNvPr id="5" name="Rectangle 4"/>
          <p:cNvSpPr/>
          <p:nvPr/>
        </p:nvSpPr>
        <p:spPr>
          <a:xfrm>
            <a:off x="548640" y="1408176"/>
            <a:ext cx="11091672" cy="54864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08176"/>
            <a:ext cx="64008" cy="548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08176"/>
            <a:ext cx="10515600" cy="548640"/>
          </a:xfrm>
          <a:prstGeom prst="rect">
            <a:avLst/>
          </a:prstGeom>
          <a:noFill/>
        </p:spPr>
        <p:txBody>
          <a:bodyPr wrap="square" anchor="ctr" lIns="0" rIns="0" tIns="0" bIns="0">
            <a:spAutoFit/>
          </a:bodyPr>
          <a:lstStyle/>
          <a:p>
            <a:pPr algn="l"/>
            <a:r>
              <a:rPr sz="850" b="1">
                <a:solidFill>
                  <a:srgbClr val="C9A227"/>
                </a:solidFill>
              </a:rPr>
              <a:t>THE COMMAND</a:t>
            </a:r>
          </a:p>
          <a:p>
            <a:pPr algn="l">
              <a:spcBef>
                <a:spcPts val="200"/>
              </a:spcBef>
            </a:pPr>
            <a:r>
              <a:rPr sz="1300" b="1">
                <a:solidFill>
                  <a:srgbClr val="FFFFFF"/>
                </a:solidFill>
                <a:latin typeface="Georgia"/>
              </a:rPr>
              <a:t>python3 m06_pillar3_check.py</a:t>
            </a:r>
          </a:p>
        </p:txBody>
      </p:sp>
      <p:sp>
        <p:nvSpPr>
          <p:cNvPr id="8" name="Rectangle 7"/>
          <p:cNvSpPr/>
          <p:nvPr/>
        </p:nvSpPr>
        <p:spPr>
          <a:xfrm>
            <a:off x="548640" y="2066543"/>
            <a:ext cx="11091672" cy="2615184"/>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66543"/>
            <a:ext cx="64008" cy="261518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94560"/>
            <a:ext cx="10543032" cy="219456"/>
          </a:xfrm>
          <a:prstGeom prst="rect">
            <a:avLst/>
          </a:prstGeom>
          <a:noFill/>
        </p:spPr>
        <p:txBody>
          <a:bodyPr wrap="square" anchor="t" lIns="0" rIns="0" tIns="0" bIns="0">
            <a:spAutoFit/>
          </a:bodyPr>
          <a:lstStyle/>
          <a:p>
            <a:pPr algn="l"/>
            <a:r>
              <a:rPr sz="850" b="1">
                <a:solidFill>
                  <a:srgbClr val="C9A227"/>
                </a:solidFill>
              </a:rPr>
              <a:t>WHAT COMES BACK (REAL RUN, 20 SEPTEMBER 2026)</a:t>
            </a:r>
          </a:p>
        </p:txBody>
      </p:sp>
      <p:sp>
        <p:nvSpPr>
          <p:cNvPr id="11" name="TextBox 10"/>
          <p:cNvSpPr txBox="1"/>
          <p:nvPr/>
        </p:nvSpPr>
        <p:spPr>
          <a:xfrm>
            <a:off x="868680" y="2468879"/>
            <a:ext cx="10543032" cy="2084831"/>
          </a:xfrm>
          <a:prstGeom prst="rect">
            <a:avLst/>
          </a:prstGeom>
          <a:noFill/>
        </p:spPr>
        <p:txBody>
          <a:bodyPr wrap="none" anchor="t" lIns="0" rIns="0" tIns="0" bIns="0">
            <a:spAutoFit/>
          </a:bodyPr>
          <a:lstStyle/>
          <a:p>
            <a:pPr algn="l"/>
            <a:r>
              <a:rPr sz="950" b="0">
                <a:solidFill>
                  <a:srgbClr val="C9D6EE"/>
                </a:solidFill>
                <a:latin typeface="Consolas"/>
              </a:rPr>
              <a:t>JPMorgan Chase, June 30, 2026, Standardized approach, $ millions  [deterministic]</a:t>
            </a:r>
          </a:p>
          <a:p>
            <a:pPr algn="l"/>
            <a:r>
              <a:rPr sz="950" b="0">
                <a:solidFill>
                  <a:srgbClr val="C9D6EE"/>
                </a:solidFill>
                <a:latin typeface="Consolas"/>
              </a:rPr>
              <a:t>CET1 capital                    302,619</a:t>
            </a:r>
          </a:p>
          <a:p>
            <a:pPr algn="l"/>
            <a:r>
              <a:rPr sz="950" b="0">
                <a:solidFill>
                  <a:srgbClr val="C9D6EE"/>
                </a:solidFill>
                <a:latin typeface="Consolas"/>
              </a:rPr>
              <a:t>Tier 1 capital                  322,720</a:t>
            </a:r>
          </a:p>
          <a:p>
            <a:pPr algn="l"/>
            <a:r>
              <a:rPr sz="950" b="0">
                <a:solidFill>
                  <a:srgbClr val="C9D6EE"/>
                </a:solidFill>
                <a:latin typeface="Consolas"/>
              </a:rPr>
              <a:t>Total capital                   362,723</a:t>
            </a:r>
          </a:p>
          <a:p>
            <a:pPr algn="l"/>
            <a:r>
              <a:rPr sz="950" b="0">
                <a:solidFill>
                  <a:srgbClr val="C9D6EE"/>
                </a:solidFill>
                <a:latin typeface="Consolas"/>
              </a:rPr>
              <a:t>Risk-weighted assets          2,132,428</a:t>
            </a:r>
          </a:p>
          <a:p>
            <a:pPr algn="l"/>
            <a:r>
              <a:rPr sz="950" b="0">
                <a:solidFill>
                  <a:srgbClr val="C9D6EE"/>
                </a:solidFill>
                <a:latin typeface="Consolas"/>
              </a:rPr>
              <a:t>Total leverage exposure       5,844,422</a:t>
            </a:r>
          </a:p>
          <a:p>
            <a:pPr algn="l"/>
            <a:r>
              <a:rPr sz="950" b="0">
                <a:solidFill>
                  <a:srgbClr val="C9D6EE"/>
                </a:solidFill>
                <a:latin typeface="Consolas"/>
              </a:rPr>
              <a:t/>
            </a:r>
          </a:p>
          <a:p>
            <a:pPr algn="l"/>
            <a:r>
              <a:rPr sz="950" b="0">
                <a:solidFill>
                  <a:srgbClr val="C9D6EE"/>
                </a:solidFill>
                <a:latin typeface="Consolas"/>
              </a:rPr>
              <a:t>Reconciliation  [derived]</a:t>
            </a:r>
          </a:p>
          <a:p>
            <a:pPr algn="l"/>
            <a:r>
              <a:rPr sz="950" b="0">
                <a:solidFill>
                  <a:srgbClr val="C9D6EE"/>
                </a:solidFill>
                <a:latin typeface="Consolas"/>
              </a:rPr>
              <a:t>CET1 capital ratio             computed  14.19%   reported  14.2%   PASS   headroom over 11.5%: 2.7 points</a:t>
            </a:r>
          </a:p>
          <a:p>
            <a:pPr algn="l"/>
            <a:r>
              <a:rPr sz="950" b="0">
                <a:solidFill>
                  <a:srgbClr val="C9D6EE"/>
                </a:solidFill>
                <a:latin typeface="Consolas"/>
              </a:rPr>
              <a:t>Tier 1 capital ratio           computed  15.13%   reported  15.1%   PASS   headroom over 13.0%: 2.1 points</a:t>
            </a:r>
          </a:p>
          <a:p>
            <a:pPr algn="l"/>
            <a:r>
              <a:rPr sz="950" b="0">
                <a:solidFill>
                  <a:srgbClr val="C9D6EE"/>
                </a:solidFill>
                <a:latin typeface="Consolas"/>
              </a:rPr>
              <a:t>Total capital ratio            computed  17.01%   reported  17.0%   PASS   headroom over 15.0%: 2.0 points</a:t>
            </a:r>
          </a:p>
          <a:p>
            <a:pPr algn="l"/>
            <a:r>
              <a:rPr sz="950" b="0">
                <a:solidFill>
                  <a:srgbClr val="C9D6EE"/>
                </a:solidFill>
                <a:latin typeface="Consolas"/>
              </a:rPr>
              <a:t>Supplementary leverage ratio   computed   5.52%   reported   5.5%   PASS</a:t>
            </a:r>
          </a:p>
          <a:p>
            <a:pPr algn="l"/>
            <a:r>
              <a:rPr sz="950" b="0">
                <a:solidFill>
                  <a:srgbClr val="C9D6EE"/>
                </a:solidFill>
                <a:latin typeface="Consolas"/>
              </a:rPr>
              <a:t/>
            </a:r>
          </a:p>
          <a:p>
            <a:pPr algn="l"/>
            <a:r>
              <a:rPr sz="950" b="0">
                <a:solidFill>
                  <a:srgbClr val="C9D6EE"/>
                </a:solidFill>
                <a:latin typeface="Consolas"/>
              </a:rPr>
              <a:t>Nothing above was written by a language model. That is deliberate.</a:t>
            </a:r>
          </a:p>
        </p:txBody>
      </p:sp>
      <p:sp>
        <p:nvSpPr>
          <p:cNvPr id="12" name="Rectangle 11"/>
          <p:cNvSpPr/>
          <p:nvPr/>
        </p:nvSpPr>
        <p:spPr>
          <a:xfrm>
            <a:off x="548640" y="4809744"/>
            <a:ext cx="11091672" cy="78638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809744"/>
            <a:ext cx="64008" cy="78638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937759"/>
            <a:ext cx="10515600" cy="566928"/>
          </a:xfrm>
          <a:prstGeom prst="rect">
            <a:avLst/>
          </a:prstGeom>
          <a:noFill/>
        </p:spPr>
        <p:txBody>
          <a:bodyPr wrap="square" anchor="t" lIns="0" rIns="0" tIns="0" bIns="0">
            <a:spAutoFit/>
          </a:bodyPr>
          <a:lstStyle/>
          <a:p>
            <a:pPr algn="l"/>
            <a:r>
              <a:rPr sz="950" b="1">
                <a:solidFill>
                  <a:srgbClr val="3A5C9E"/>
                </a:solidFill>
              </a:rPr>
              <a:t>SAY WHAT FOUR PASSES ACTUALLY PROVE, BECAUSE PEOPLE OVERCLAIM IT</a:t>
            </a:r>
          </a:p>
          <a:p>
            <a:pPr algn="l">
              <a:spcBef>
                <a:spcPts val="400"/>
              </a:spcBef>
            </a:pPr>
            <a:r>
              <a:rPr sz="1100" b="0">
                <a:solidFill>
                  <a:srgbClr val="1B2A41"/>
                </a:solidFill>
              </a:rPr>
              <a:t>They prove the five raw figures and the four published ratios are arithmetically consistent with each other. They do not prove the five raw figures are right.</a:t>
            </a:r>
          </a:p>
        </p:txBody>
      </p:sp>
      <p:sp>
        <p:nvSpPr>
          <p:cNvPr id="15" name="TextBox 14"/>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16" name="TextBox 1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PART C</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Break it on purpose. Transpose one digit.</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Change CET1 capital from 302,619 to 320,619 and run it again. That is the mistake a tired person makes at eleven at night on a reporting deadline.</a:t>
            </a:r>
          </a:p>
        </p:txBody>
      </p:sp>
      <p:sp>
        <p:nvSpPr>
          <p:cNvPr id="6" name="Rectangle 5"/>
          <p:cNvSpPr/>
          <p:nvPr/>
        </p:nvSpPr>
        <p:spPr>
          <a:xfrm>
            <a:off x="548640" y="1828800"/>
            <a:ext cx="11091672" cy="1389888"/>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28800"/>
            <a:ext cx="64008" cy="13898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56816"/>
            <a:ext cx="10543032" cy="219456"/>
          </a:xfrm>
          <a:prstGeom prst="rect">
            <a:avLst/>
          </a:prstGeom>
          <a:noFill/>
        </p:spPr>
        <p:txBody>
          <a:bodyPr wrap="square" anchor="t" lIns="0" rIns="0" tIns="0" bIns="0">
            <a:spAutoFit/>
          </a:bodyPr>
          <a:lstStyle/>
          <a:p>
            <a:pPr algn="l"/>
            <a:r>
              <a:rPr sz="850" b="1">
                <a:solidFill>
                  <a:srgbClr val="C9A227"/>
                </a:solidFill>
              </a:rPr>
              <a:t>WHAT COMES BACK</a:t>
            </a:r>
          </a:p>
        </p:txBody>
      </p:sp>
      <p:sp>
        <p:nvSpPr>
          <p:cNvPr id="9" name="TextBox 8"/>
          <p:cNvSpPr txBox="1"/>
          <p:nvPr/>
        </p:nvSpPr>
        <p:spPr>
          <a:xfrm>
            <a:off x="868680" y="2231136"/>
            <a:ext cx="10543032" cy="859536"/>
          </a:xfrm>
          <a:prstGeom prst="rect">
            <a:avLst/>
          </a:prstGeom>
          <a:noFill/>
        </p:spPr>
        <p:txBody>
          <a:bodyPr wrap="none" anchor="t" lIns="0" rIns="0" tIns="0" bIns="0">
            <a:spAutoFit/>
          </a:bodyPr>
          <a:lstStyle/>
          <a:p>
            <a:pPr algn="l"/>
            <a:r>
              <a:rPr sz="950" b="0">
                <a:solidFill>
                  <a:srgbClr val="C9D6EE"/>
                </a:solidFill>
                <a:latin typeface="Consolas"/>
              </a:rPr>
              <a:t>Reconciliation  [derived]</a:t>
            </a:r>
          </a:p>
          <a:p>
            <a:pPr algn="l"/>
            <a:r>
              <a:rPr sz="950" b="0">
                <a:solidFill>
                  <a:srgbClr val="C9D6EE"/>
                </a:solidFill>
                <a:latin typeface="Consolas"/>
              </a:rPr>
              <a:t>CET1 capital ratio             computed  15.04%   reported  14.2%   FAIL   headroom over 11.5%: 2.7 points</a:t>
            </a:r>
          </a:p>
          <a:p>
            <a:pPr algn="l"/>
            <a:r>
              <a:rPr sz="950" b="0">
                <a:solidFill>
                  <a:srgbClr val="C9D6EE"/>
                </a:solidFill>
                <a:latin typeface="Consolas"/>
              </a:rPr>
              <a:t>Tier 1 capital ratio           computed  15.13%   reported  15.1%   PASS   headroom over 13.0%: 2.1 points</a:t>
            </a:r>
          </a:p>
          <a:p>
            <a:pPr algn="l"/>
            <a:r>
              <a:rPr sz="950" b="0">
                <a:solidFill>
                  <a:srgbClr val="C9D6EE"/>
                </a:solidFill>
                <a:latin typeface="Consolas"/>
              </a:rPr>
              <a:t>Total capital ratio            computed  17.01%   reported  17.0%   PASS   headroom over 15.0%: 2.0 points</a:t>
            </a:r>
          </a:p>
          <a:p>
            <a:pPr algn="l"/>
            <a:r>
              <a:rPr sz="950" b="0">
                <a:solidFill>
                  <a:srgbClr val="C9D6EE"/>
                </a:solidFill>
                <a:latin typeface="Consolas"/>
              </a:rPr>
              <a:t>Supplementary leverage ratio   computed   5.52%   reported   5.5%   PASS</a:t>
            </a:r>
          </a:p>
        </p:txBody>
      </p:sp>
      <p:sp>
        <p:nvSpPr>
          <p:cNvPr id="10" name="TextBox 9"/>
          <p:cNvSpPr txBox="1"/>
          <p:nvPr/>
        </p:nvSpPr>
        <p:spPr>
          <a:xfrm>
            <a:off x="548640" y="3474720"/>
            <a:ext cx="5486400" cy="1371600"/>
          </a:xfrm>
          <a:prstGeom prst="rect">
            <a:avLst/>
          </a:prstGeom>
          <a:noFill/>
        </p:spPr>
        <p:txBody>
          <a:bodyPr wrap="square" anchor="t" lIns="0" rIns="0" tIns="0" bIns="0">
            <a:spAutoFit/>
          </a:bodyPr>
          <a:lstStyle/>
          <a:p>
            <a:pPr algn="l"/>
            <a:r>
              <a:rPr sz="1500" b="1">
                <a:solidFill>
                  <a:srgbClr val="0F2145"/>
                </a:solidFill>
                <a:latin typeface="Georgia"/>
              </a:rPr>
              <a:t>Look at the headroom on the broken row</a:t>
            </a:r>
          </a:p>
          <a:p>
            <a:pPr algn="l">
              <a:spcBef>
                <a:spcPts val="600"/>
              </a:spcBef>
            </a:pPr>
            <a:r>
              <a:rPr sz="1100" b="0">
                <a:solidFill>
                  <a:srgbClr val="1B2A41"/>
                </a:solidFill>
              </a:rPr>
              <a:t>It still reads 2.7 points, because headroom is computed from the ratio the bank reported and not from the ratio the script computed. One row can be consistent with one source and wrong against another at the same time. Carry both figures and show both.</a:t>
            </a:r>
          </a:p>
        </p:txBody>
      </p:sp>
      <p:sp>
        <p:nvSpPr>
          <p:cNvPr id="11" name="TextBox 10"/>
          <p:cNvSpPr txBox="1"/>
          <p:nvPr/>
        </p:nvSpPr>
        <p:spPr>
          <a:xfrm>
            <a:off x="6309360" y="3474720"/>
            <a:ext cx="5330952" cy="1371600"/>
          </a:xfrm>
          <a:prstGeom prst="rect">
            <a:avLst/>
          </a:prstGeom>
          <a:noFill/>
        </p:spPr>
        <p:txBody>
          <a:bodyPr wrap="square" anchor="t" lIns="0" rIns="0" tIns="0" bIns="0">
            <a:spAutoFit/>
          </a:bodyPr>
          <a:lstStyle/>
          <a:p>
            <a:pPr algn="l"/>
            <a:r>
              <a:rPr sz="1500" b="1">
                <a:solidFill>
                  <a:srgbClr val="0F2145"/>
                </a:solidFill>
                <a:latin typeface="Georgia"/>
              </a:rPr>
              <a:t>The question that decides the design</a:t>
            </a:r>
          </a:p>
          <a:p>
            <a:pPr algn="l">
              <a:spcBef>
                <a:spcPts val="600"/>
              </a:spcBef>
            </a:pPr>
            <a:r>
              <a:rPr sz="1100" b="0">
                <a:solidFill>
                  <a:srgbClr val="1B2A41"/>
                </a:solidFill>
              </a:rPr>
              <a:t>If a language model had written this summary straight from the filing, and it had transposed those digits the way people do, what in the pipeline would have caught it? Nothing would. The prose would read exactly as fluent as the correct version.</a:t>
            </a:r>
          </a:p>
        </p:txBody>
      </p:sp>
      <p:sp>
        <p:nvSpPr>
          <p:cNvPr id="12" name="Rectangle 11"/>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That is why reconciliation runs before the model writes anything:</a:t>
            </a:r>
            <a:r>
              <a:rPr sz="1200" b="0">
                <a:solidFill>
                  <a:srgbClr val="FFFFFF"/>
                </a:solidFill>
              </a:rPr>
              <a:t>and why the model never gets to touch the figures. Put the correct number back before you go on.</a:t>
            </a:r>
          </a:p>
        </p:txBody>
      </p:sp>
      <p:sp>
        <p:nvSpPr>
          <p:cNvPr id="15" name="TextBox 14"/>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16" name="TextBox 1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PART E</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The provenance column is the deliverable</a:t>
            </a:r>
          </a:p>
        </p:txBody>
      </p:sp>
      <p:sp>
        <p:nvSpPr>
          <p:cNvPr id="5" name="Rectangle 4"/>
          <p:cNvSpPr/>
          <p:nvPr/>
        </p:nvSpPr>
        <p:spPr>
          <a:xfrm>
            <a:off x="548640" y="1426464"/>
            <a:ext cx="11091672" cy="2139696"/>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26464"/>
            <a:ext cx="64008" cy="213969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54480"/>
            <a:ext cx="10543032" cy="219456"/>
          </a:xfrm>
          <a:prstGeom prst="rect">
            <a:avLst/>
          </a:prstGeom>
          <a:noFill/>
        </p:spPr>
        <p:txBody>
          <a:bodyPr wrap="square" anchor="t" lIns="0" rIns="0" tIns="0" bIns="0">
            <a:spAutoFit/>
          </a:bodyPr>
          <a:lstStyle/>
          <a:p>
            <a:pPr algn="l"/>
            <a:r>
              <a:rPr sz="850" b="1">
                <a:solidFill>
                  <a:srgbClr val="C9A227"/>
                </a:solidFill>
              </a:rPr>
              <a:t>WHAT COMES BACK</a:t>
            </a:r>
          </a:p>
        </p:txBody>
      </p:sp>
      <p:sp>
        <p:nvSpPr>
          <p:cNvPr id="8" name="TextBox 7"/>
          <p:cNvSpPr txBox="1"/>
          <p:nvPr/>
        </p:nvSpPr>
        <p:spPr>
          <a:xfrm>
            <a:off x="868680" y="1828800"/>
            <a:ext cx="10543032" cy="1609343"/>
          </a:xfrm>
          <a:prstGeom prst="rect">
            <a:avLst/>
          </a:prstGeom>
          <a:noFill/>
        </p:spPr>
        <p:txBody>
          <a:bodyPr wrap="none" anchor="t" lIns="0" rIns="0" tIns="0" bIns="0">
            <a:spAutoFit/>
          </a:bodyPr>
          <a:lstStyle/>
          <a:p>
            <a:pPr algn="l"/>
            <a:r>
              <a:rPr sz="900" b="0">
                <a:solidFill>
                  <a:srgbClr val="C9D6EE"/>
                </a:solidFill>
                <a:latin typeface="Consolas"/>
              </a:rPr>
              <a:t>Wrote pillar3_summary_jpm_2q26.docx</a:t>
            </a:r>
          </a:p>
          <a:p>
            <a:pPr algn="l"/>
            <a:r>
              <a:rPr sz="900" b="0">
                <a:solidFill>
                  <a:srgbClr val="C9D6EE"/>
                </a:solidFill>
                <a:latin typeface="Consolas"/>
              </a:rPr>
              <a:t>1 heading, 1 source paragraph, 1 table with 10 rows, 1 narrative placeholder</a:t>
            </a:r>
          </a:p>
          <a:p>
            <a:pPr algn="l"/>
            <a:r>
              <a:rPr sz="900" b="0">
                <a:solidFill>
                  <a:srgbClr val="C9D6EE"/>
                </a:solidFill>
                <a:latin typeface="Consolas"/>
              </a:rPr>
              <a:t>CET1 capital                                   $302,619 million   [deterministic]</a:t>
            </a:r>
          </a:p>
          <a:p>
            <a:pPr algn="l"/>
            <a:r>
              <a:rPr sz="900" b="0">
                <a:solidFill>
                  <a:srgbClr val="C9D6EE"/>
                </a:solidFill>
                <a:latin typeface="Consolas"/>
              </a:rPr>
              <a:t>Tier 1 capital                                 $322,720 million   [deterministic]</a:t>
            </a:r>
          </a:p>
          <a:p>
            <a:pPr algn="l"/>
            <a:r>
              <a:rPr sz="900" b="0">
                <a:solidFill>
                  <a:srgbClr val="C9D6EE"/>
                </a:solidFill>
                <a:latin typeface="Consolas"/>
              </a:rPr>
              <a:t>Total capital                                  $362,723 million   [deterministic]</a:t>
            </a:r>
          </a:p>
          <a:p>
            <a:pPr algn="l"/>
            <a:r>
              <a:rPr sz="900" b="0">
                <a:solidFill>
                  <a:srgbClr val="C9D6EE"/>
                </a:solidFill>
                <a:latin typeface="Consolas"/>
              </a:rPr>
              <a:t>Risk-weighted assets (Standardized)          $2,132,428 million   [deterministic]</a:t>
            </a:r>
          </a:p>
          <a:p>
            <a:pPr algn="l"/>
            <a:r>
              <a:rPr sz="900" b="0">
                <a:solidFill>
                  <a:srgbClr val="C9D6EE"/>
                </a:solidFill>
                <a:latin typeface="Consolas"/>
              </a:rPr>
              <a:t>Total leverage exposure                      $5,844,422 million   [deterministic]</a:t>
            </a:r>
          </a:p>
          <a:p>
            <a:pPr algn="l"/>
            <a:r>
              <a:rPr sz="900" b="0">
                <a:solidFill>
                  <a:srgbClr val="C9D6EE"/>
                </a:solidFill>
                <a:latin typeface="Consolas"/>
              </a:rPr>
              <a:t>CET1 capital ratio (computed)                            14.19%   [derived]</a:t>
            </a:r>
          </a:p>
          <a:p>
            <a:pPr algn="l"/>
            <a:r>
              <a:rPr sz="900" b="0">
                <a:solidFill>
                  <a:srgbClr val="C9D6EE"/>
                </a:solidFill>
                <a:latin typeface="Consolas"/>
              </a:rPr>
              <a:t>Tier 1 capital ratio (computed)                          15.13%   [derived]</a:t>
            </a:r>
          </a:p>
          <a:p>
            <a:pPr algn="l"/>
            <a:r>
              <a:rPr sz="900" b="0">
                <a:solidFill>
                  <a:srgbClr val="C9D6EE"/>
                </a:solidFill>
                <a:latin typeface="Consolas"/>
              </a:rPr>
              <a:t>Total capital ratio (computed)                           17.01%   [derived]</a:t>
            </a:r>
          </a:p>
          <a:p>
            <a:pPr algn="l"/>
            <a:r>
              <a:rPr sz="900" b="0">
                <a:solidFill>
                  <a:srgbClr val="C9D6EE"/>
                </a:solidFill>
                <a:latin typeface="Consolas"/>
              </a:rPr>
              <a:t>Supplementary leverage ratio (computed)                   5.52%   [derived]</a:t>
            </a:r>
          </a:p>
          <a:p>
            <a:pPr algn="l"/>
            <a:r>
              <a:rPr sz="900" b="0">
                <a:solidFill>
                  <a:srgbClr val="C9D6EE"/>
                </a:solidFill>
                <a:latin typeface="Consolas"/>
              </a:rPr>
              <a:t>CET1 headroom over 11.5% requirement                 2.7 points   [derived]</a:t>
            </a:r>
          </a:p>
        </p:txBody>
      </p:sp>
      <p:sp>
        <p:nvSpPr>
          <p:cNvPr id="9" name="TextBox 8"/>
          <p:cNvSpPr txBox="1"/>
          <p:nvPr/>
        </p:nvSpPr>
        <p:spPr>
          <a:xfrm>
            <a:off x="548640" y="3712463"/>
            <a:ext cx="5486400" cy="1280160"/>
          </a:xfrm>
          <a:prstGeom prst="rect">
            <a:avLst/>
          </a:prstGeom>
          <a:noFill/>
        </p:spPr>
        <p:txBody>
          <a:bodyPr wrap="square" anchor="t" lIns="0" rIns="0" tIns="0" bIns="0">
            <a:spAutoFit/>
          </a:bodyPr>
          <a:lstStyle/>
          <a:p>
            <a:pPr algn="l"/>
            <a:r>
              <a:rPr sz="1500" b="1">
                <a:solidFill>
                  <a:srgbClr val="0F2145"/>
                </a:solidFill>
                <a:latin typeface="Georgia"/>
              </a:rPr>
              <a:t>Why the column beats the numbers</a:t>
            </a:r>
          </a:p>
          <a:p>
            <a:pPr algn="l">
              <a:spcBef>
                <a:spcPts val="600"/>
              </a:spcBef>
            </a:pPr>
            <a:r>
              <a:rPr sz="1100" b="0">
                <a:solidFill>
                  <a:srgbClr val="1B2A41"/>
                </a:solidFill>
              </a:rPr>
              <a:t>Hand this file to a reviewer and they see in one glance which figures they must check against the filing and which they can recompute themselves. Hand them an untagged summary and they have to check all of it, which means they will check none of it.</a:t>
            </a:r>
          </a:p>
        </p:txBody>
      </p:sp>
      <p:sp>
        <p:nvSpPr>
          <p:cNvPr id="10" name="TextBox 9"/>
          <p:cNvSpPr txBox="1"/>
          <p:nvPr/>
        </p:nvSpPr>
        <p:spPr>
          <a:xfrm>
            <a:off x="6309360" y="3712463"/>
            <a:ext cx="5330952" cy="1280160"/>
          </a:xfrm>
          <a:prstGeom prst="rect">
            <a:avLst/>
          </a:prstGeom>
          <a:noFill/>
        </p:spPr>
        <p:txBody>
          <a:bodyPr wrap="square" anchor="t" lIns="0" rIns="0" tIns="0" bIns="0">
            <a:spAutoFit/>
          </a:bodyPr>
          <a:lstStyle/>
          <a:p>
            <a:pPr algn="l"/>
            <a:r>
              <a:rPr sz="1500" b="1">
                <a:solidFill>
                  <a:srgbClr val="0F2145"/>
                </a:solidFill>
                <a:latin typeface="Georgia"/>
              </a:rPr>
              <a:t>One note this lab owes you</a:t>
            </a:r>
          </a:p>
          <a:p>
            <a:pPr algn="l">
              <a:spcBef>
                <a:spcPts val="600"/>
              </a:spcBef>
            </a:pPr>
            <a:r>
              <a:rPr sz="1100" b="0">
                <a:solidFill>
                  <a:srgbClr val="1B2A41"/>
                </a:solidFill>
              </a:rPr>
              <a:t>The script does not parse the PDF. The five capital figures were typed in by hand from the filing, and the script checks them against the ratios the bank published. Real extraction from a Pillar 3 PDF is a much larger job.</a:t>
            </a:r>
          </a:p>
        </p:txBody>
      </p:sp>
      <p:sp>
        <p:nvSpPr>
          <p:cNvPr id="11" name="Rectangle 10"/>
          <p:cNvSpPr/>
          <p:nvPr/>
        </p:nvSpPr>
        <p:spPr>
          <a:xfrm>
            <a:off x="548640" y="5102352"/>
            <a:ext cx="11091672" cy="950976"/>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5102352"/>
            <a:ext cx="64008" cy="95097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230368"/>
            <a:ext cx="10515600" cy="731520"/>
          </a:xfrm>
          <a:prstGeom prst="rect">
            <a:avLst/>
          </a:prstGeom>
          <a:noFill/>
        </p:spPr>
        <p:txBody>
          <a:bodyPr wrap="square" anchor="t" lIns="0" rIns="0" tIns="0" bIns="0">
            <a:spAutoFit/>
          </a:bodyPr>
          <a:lstStyle/>
          <a:p>
            <a:pPr algn="l"/>
            <a:r>
              <a:rPr sz="950" b="1">
                <a:solidFill>
                  <a:srgbClr val="3A5C9E"/>
                </a:solidFill>
              </a:rPr>
              <a:t>THE HONEST LIMIT OF THE TOOL BEHIND THIS MODULE</a:t>
            </a:r>
          </a:p>
          <a:p>
            <a:pPr algn="l">
              <a:spcBef>
                <a:spcPts val="400"/>
              </a:spcBef>
            </a:pPr>
            <a:r>
              <a:rPr sz="1100" b="0">
                <a:solidFill>
                  <a:srgbClr val="1B2A41"/>
                </a:solidFill>
              </a:rPr>
              <a:t>basel-analyzer scores 53 of 53 metrics and 13 of 13 reconciliations on its own fixture. That fixture follows a different regulator's disclosure template, so the label anchors in config/metrics.yaml are written against that wording. Point it at the Bank of America report and most of the 53 anchors will not match, because the labels are different words in a different table layout. The pipeline is portable. The configuration is not.</a:t>
            </a:r>
          </a:p>
        </p:txBody>
      </p:sp>
      <p:sp>
        <p:nvSpPr>
          <p:cNvPr id="14" name="TextBox 13"/>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15" name="TextBox 14"/>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PRACTICE QUESTIONS</a:t>
            </a:r>
          </a:p>
        </p:txBody>
      </p:sp>
      <p:sp>
        <p:nvSpPr>
          <p:cNvPr id="4" name="Rectangle 3"/>
          <p:cNvSpPr/>
          <p:nvPr/>
        </p:nvSpPr>
        <p:spPr>
          <a:xfrm>
            <a:off x="548640" y="960120"/>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960120"/>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014984"/>
            <a:ext cx="640080" cy="365760"/>
          </a:xfrm>
          <a:prstGeom prst="rect">
            <a:avLst/>
          </a:prstGeom>
          <a:noFill/>
        </p:spPr>
        <p:txBody>
          <a:bodyPr wrap="square" anchor="t" lIns="0" rIns="0" tIns="0" bIns="0">
            <a:spAutoFit/>
          </a:bodyPr>
          <a:lstStyle/>
          <a:p>
            <a:pPr algn="l"/>
            <a:r>
              <a:rPr sz="1400" b="1">
                <a:solidFill>
                  <a:srgbClr val="3A5C9E"/>
                </a:solidFill>
                <a:latin typeface="Georgia"/>
              </a:rPr>
              <a:t>Q1</a:t>
            </a:r>
          </a:p>
        </p:txBody>
      </p:sp>
      <p:sp>
        <p:nvSpPr>
          <p:cNvPr id="7" name="TextBox 6"/>
          <p:cNvSpPr txBox="1"/>
          <p:nvPr/>
        </p:nvSpPr>
        <p:spPr>
          <a:xfrm>
            <a:off x="1554480" y="1005840"/>
            <a:ext cx="9875520" cy="566928"/>
          </a:xfrm>
          <a:prstGeom prst="rect">
            <a:avLst/>
          </a:prstGeom>
          <a:noFill/>
        </p:spPr>
        <p:txBody>
          <a:bodyPr wrap="square" anchor="t" lIns="0" rIns="0" tIns="0" bIns="0">
            <a:spAutoFit/>
          </a:bodyPr>
          <a:lstStyle/>
          <a:p>
            <a:pPr algn="l"/>
            <a:r>
              <a:rPr sz="1050" b="1">
                <a:solidFill>
                  <a:srgbClr val="1B2A41"/>
                </a:solidFill>
              </a:rPr>
              <a:t>Name the three pillars of the Basel framework and say what each does. Which one produces a document you can download?</a:t>
            </a:r>
          </a:p>
          <a:p>
            <a:pPr algn="l">
              <a:spcBef>
                <a:spcPts val="200"/>
              </a:spcBef>
            </a:pPr>
            <a:r>
              <a:rPr sz="900" b="1">
                <a:solidFill>
                  <a:srgbClr val="C9A227"/>
                </a:solidFill>
              </a:rPr>
              <a:t>TIP</a:t>
            </a:r>
            <a:r>
              <a:rPr sz="900" b="0">
                <a:solidFill>
                  <a:srgbClr val="5D6B7E"/>
                </a:solidFill>
              </a:rPr>
              <a:t>Pillar 1 is the arithmetic, Pillar 2 the supervisory review, Pillar 3 the disclosure. Pillar 3 produces the document, and it is what the lab automates.</a:t>
            </a:r>
          </a:p>
        </p:txBody>
      </p:sp>
      <p:sp>
        <p:nvSpPr>
          <p:cNvPr id="8" name="Rectangle 7"/>
          <p:cNvSpPr/>
          <p:nvPr/>
        </p:nvSpPr>
        <p:spPr>
          <a:xfrm>
            <a:off x="548640" y="1655064"/>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55064"/>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709928"/>
            <a:ext cx="640080" cy="365760"/>
          </a:xfrm>
          <a:prstGeom prst="rect">
            <a:avLst/>
          </a:prstGeom>
          <a:noFill/>
        </p:spPr>
        <p:txBody>
          <a:bodyPr wrap="square" anchor="t" lIns="0" rIns="0" tIns="0" bIns="0">
            <a:spAutoFit/>
          </a:bodyPr>
          <a:lstStyle/>
          <a:p>
            <a:pPr algn="l"/>
            <a:r>
              <a:rPr sz="1400" b="1">
                <a:solidFill>
                  <a:srgbClr val="3A5C9E"/>
                </a:solidFill>
                <a:latin typeface="Georgia"/>
              </a:rPr>
              <a:t>Q2</a:t>
            </a:r>
          </a:p>
        </p:txBody>
      </p:sp>
      <p:sp>
        <p:nvSpPr>
          <p:cNvPr id="11" name="TextBox 10"/>
          <p:cNvSpPr txBox="1"/>
          <p:nvPr/>
        </p:nvSpPr>
        <p:spPr>
          <a:xfrm>
            <a:off x="1554480" y="1700784"/>
            <a:ext cx="9875520" cy="566928"/>
          </a:xfrm>
          <a:prstGeom prst="rect">
            <a:avLst/>
          </a:prstGeom>
          <a:noFill/>
        </p:spPr>
        <p:txBody>
          <a:bodyPr wrap="square" anchor="t" lIns="0" rIns="0" tIns="0" bIns="0">
            <a:spAutoFit/>
          </a:bodyPr>
          <a:lstStyle/>
          <a:p>
            <a:pPr algn="l"/>
            <a:r>
              <a:rPr sz="1050" b="1">
                <a:solidFill>
                  <a:srgbClr val="1B2A41"/>
                </a:solidFill>
              </a:rPr>
              <a:t>Bank of America's equity was $276,098 million and its CET1 capital $201,581 million. Explain the gap and name the largest item.</a:t>
            </a:r>
          </a:p>
          <a:p>
            <a:pPr algn="l">
              <a:spcBef>
                <a:spcPts val="200"/>
              </a:spcBef>
            </a:pPr>
            <a:r>
              <a:rPr sz="900" b="1">
                <a:solidFill>
                  <a:srgbClr val="C9A227"/>
                </a:solidFill>
              </a:rPr>
              <a:t>TIP</a:t>
            </a:r>
            <a:r>
              <a:rPr sz="900" b="0">
                <a:solidFill>
                  <a:srgbClr val="5D6B7E"/>
                </a:solidFill>
              </a:rPr>
              <a:t>Equity is an accounting figure and CET1 a regulatory one. The gap is $74,517 million, and goodwill is the largest item at $68,651 million.</a:t>
            </a:r>
          </a:p>
        </p:txBody>
      </p:sp>
      <p:sp>
        <p:nvSpPr>
          <p:cNvPr id="12" name="Rectangle 11"/>
          <p:cNvSpPr/>
          <p:nvPr/>
        </p:nvSpPr>
        <p:spPr>
          <a:xfrm>
            <a:off x="548640" y="2350008"/>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350008"/>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404872"/>
            <a:ext cx="640080" cy="365760"/>
          </a:xfrm>
          <a:prstGeom prst="rect">
            <a:avLst/>
          </a:prstGeom>
          <a:noFill/>
        </p:spPr>
        <p:txBody>
          <a:bodyPr wrap="square" anchor="t" lIns="0" rIns="0" tIns="0" bIns="0">
            <a:spAutoFit/>
          </a:bodyPr>
          <a:lstStyle/>
          <a:p>
            <a:pPr algn="l"/>
            <a:r>
              <a:rPr sz="1400" b="1">
                <a:solidFill>
                  <a:srgbClr val="3A5C9E"/>
                </a:solidFill>
                <a:latin typeface="Georgia"/>
              </a:rPr>
              <a:t>Q3</a:t>
            </a:r>
          </a:p>
        </p:txBody>
      </p:sp>
      <p:sp>
        <p:nvSpPr>
          <p:cNvPr id="15" name="TextBox 14"/>
          <p:cNvSpPr txBox="1"/>
          <p:nvPr/>
        </p:nvSpPr>
        <p:spPr>
          <a:xfrm>
            <a:off x="1554480" y="2395728"/>
            <a:ext cx="9875520" cy="566928"/>
          </a:xfrm>
          <a:prstGeom prst="rect">
            <a:avLst/>
          </a:prstGeom>
          <a:noFill/>
        </p:spPr>
        <p:txBody>
          <a:bodyPr wrap="square" anchor="t" lIns="0" rIns="0" tIns="0" bIns="0">
            <a:spAutoFit/>
          </a:bodyPr>
          <a:lstStyle/>
          <a:p>
            <a:pPr algn="l"/>
            <a:r>
              <a:rPr sz="1050" b="1">
                <a:solidFill>
                  <a:srgbClr val="1B2A41"/>
                </a:solidFill>
              </a:rPr>
              <a:t>A bank calculates its ratios under two approaches. Which binds, and why is the answer not the same for every row?</a:t>
            </a:r>
          </a:p>
          <a:p>
            <a:pPr algn="l">
              <a:spcBef>
                <a:spcPts val="200"/>
              </a:spcBef>
            </a:pPr>
            <a:r>
              <a:rPr sz="900" b="1">
                <a:solidFill>
                  <a:srgbClr val="C9A227"/>
                </a:solidFill>
              </a:rPr>
              <a:t>TIP</a:t>
            </a:r>
            <a:r>
              <a:rPr sz="900" b="0">
                <a:solidFill>
                  <a:srgbClr val="5D6B7E"/>
                </a:solidFill>
              </a:rPr>
              <a:t>The lower of the two. The approaches change numerator and denominator by different amounts, so JPMorgan's Advanced binds on Total capital and Standardized on CET1 and Tier 1.</a:t>
            </a:r>
          </a:p>
        </p:txBody>
      </p:sp>
      <p:sp>
        <p:nvSpPr>
          <p:cNvPr id="16" name="Rectangle 15"/>
          <p:cNvSpPr/>
          <p:nvPr/>
        </p:nvSpPr>
        <p:spPr>
          <a:xfrm>
            <a:off x="548640" y="3044952"/>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044952"/>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099816"/>
            <a:ext cx="640080" cy="365760"/>
          </a:xfrm>
          <a:prstGeom prst="rect">
            <a:avLst/>
          </a:prstGeom>
          <a:noFill/>
        </p:spPr>
        <p:txBody>
          <a:bodyPr wrap="square" anchor="t" lIns="0" rIns="0" tIns="0" bIns="0">
            <a:spAutoFit/>
          </a:bodyPr>
          <a:lstStyle/>
          <a:p>
            <a:pPr algn="l"/>
            <a:r>
              <a:rPr sz="1400" b="1">
                <a:solidFill>
                  <a:srgbClr val="3A5C9E"/>
                </a:solidFill>
                <a:latin typeface="Georgia"/>
              </a:rPr>
              <a:t>Q4</a:t>
            </a:r>
          </a:p>
        </p:txBody>
      </p:sp>
      <p:sp>
        <p:nvSpPr>
          <p:cNvPr id="19" name="TextBox 18"/>
          <p:cNvSpPr txBox="1"/>
          <p:nvPr/>
        </p:nvSpPr>
        <p:spPr>
          <a:xfrm>
            <a:off x="1554480" y="3090672"/>
            <a:ext cx="9875520" cy="566928"/>
          </a:xfrm>
          <a:prstGeom prst="rect">
            <a:avLst/>
          </a:prstGeom>
          <a:noFill/>
        </p:spPr>
        <p:txBody>
          <a:bodyPr wrap="square" anchor="t" lIns="0" rIns="0" tIns="0" bIns="0">
            <a:spAutoFit/>
          </a:bodyPr>
          <a:lstStyle/>
          <a:p>
            <a:pPr algn="l"/>
            <a:r>
              <a:rPr sz="1050" b="1">
                <a:solidFill>
                  <a:srgbClr val="1B2A41"/>
                </a:solidFill>
              </a:rPr>
              <a:t>In Part B all four reconciliation checks passed. State precisely what that proves and what it does not.</a:t>
            </a:r>
          </a:p>
          <a:p>
            <a:pPr algn="l">
              <a:spcBef>
                <a:spcPts val="200"/>
              </a:spcBef>
            </a:pPr>
            <a:r>
              <a:rPr sz="900" b="1">
                <a:solidFill>
                  <a:srgbClr val="C9A227"/>
                </a:solidFill>
              </a:rPr>
              <a:t>TIP</a:t>
            </a:r>
            <a:r>
              <a:rPr sz="900" b="0">
                <a:solidFill>
                  <a:srgbClr val="5D6B7E"/>
                </a:solidFill>
              </a:rPr>
              <a:t>It proves the five raw figures and the four published ratios are arithmetically consistent. It does not prove the raw figures are right.</a:t>
            </a:r>
          </a:p>
        </p:txBody>
      </p:sp>
      <p:sp>
        <p:nvSpPr>
          <p:cNvPr id="20" name="Rectangle 19"/>
          <p:cNvSpPr/>
          <p:nvPr/>
        </p:nvSpPr>
        <p:spPr>
          <a:xfrm>
            <a:off x="548640" y="3739896"/>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739896"/>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94759"/>
            <a:ext cx="640080" cy="365760"/>
          </a:xfrm>
          <a:prstGeom prst="rect">
            <a:avLst/>
          </a:prstGeom>
          <a:noFill/>
        </p:spPr>
        <p:txBody>
          <a:bodyPr wrap="square" anchor="t" lIns="0" rIns="0" tIns="0" bIns="0">
            <a:spAutoFit/>
          </a:bodyPr>
          <a:lstStyle/>
          <a:p>
            <a:pPr algn="l"/>
            <a:r>
              <a:rPr sz="1400" b="1">
                <a:solidFill>
                  <a:srgbClr val="3A5C9E"/>
                </a:solidFill>
                <a:latin typeface="Georgia"/>
              </a:rPr>
              <a:t>Q5</a:t>
            </a:r>
          </a:p>
        </p:txBody>
      </p:sp>
      <p:sp>
        <p:nvSpPr>
          <p:cNvPr id="23" name="TextBox 22"/>
          <p:cNvSpPr txBox="1"/>
          <p:nvPr/>
        </p:nvSpPr>
        <p:spPr>
          <a:xfrm>
            <a:off x="1554480" y="3785615"/>
            <a:ext cx="9875520" cy="566928"/>
          </a:xfrm>
          <a:prstGeom prst="rect">
            <a:avLst/>
          </a:prstGeom>
          <a:noFill/>
        </p:spPr>
        <p:txBody>
          <a:bodyPr wrap="square" anchor="t" lIns="0" rIns="0" tIns="0" bIns="0">
            <a:spAutoFit/>
          </a:bodyPr>
          <a:lstStyle/>
          <a:p>
            <a:pPr algn="l"/>
            <a:r>
              <a:rPr sz="1050" b="1">
                <a:solidFill>
                  <a:srgbClr val="1B2A41"/>
                </a:solidFill>
              </a:rPr>
              <a:t>In Part C the CET1 check failed but the headroom on the same row still read 2.7 points. Explain why it did not move.</a:t>
            </a:r>
          </a:p>
          <a:p>
            <a:pPr algn="l">
              <a:spcBef>
                <a:spcPts val="200"/>
              </a:spcBef>
            </a:pPr>
            <a:r>
              <a:rPr sz="900" b="1">
                <a:solidFill>
                  <a:srgbClr val="C9A227"/>
                </a:solidFill>
              </a:rPr>
              <a:t>TIP</a:t>
            </a:r>
            <a:r>
              <a:rPr sz="900" b="0">
                <a:solidFill>
                  <a:srgbClr val="5D6B7E"/>
                </a:solidFill>
              </a:rPr>
              <a:t>Headroom is computed from the ratio the bank reported, not the one the script computed. Neither the reported 14.2% nor the 11.5% requirement changed.</a:t>
            </a:r>
          </a:p>
        </p:txBody>
      </p:sp>
      <p:sp>
        <p:nvSpPr>
          <p:cNvPr id="24" name="Rectangle 23"/>
          <p:cNvSpPr/>
          <p:nvPr/>
        </p:nvSpPr>
        <p:spPr>
          <a:xfrm>
            <a:off x="548640" y="4434840"/>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34840"/>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489703"/>
            <a:ext cx="640080" cy="365760"/>
          </a:xfrm>
          <a:prstGeom prst="rect">
            <a:avLst/>
          </a:prstGeom>
          <a:noFill/>
        </p:spPr>
        <p:txBody>
          <a:bodyPr wrap="square" anchor="t" lIns="0" rIns="0" tIns="0" bIns="0">
            <a:spAutoFit/>
          </a:bodyPr>
          <a:lstStyle/>
          <a:p>
            <a:pPr algn="l"/>
            <a:r>
              <a:rPr sz="1400" b="1">
                <a:solidFill>
                  <a:srgbClr val="3A5C9E"/>
                </a:solidFill>
                <a:latin typeface="Georgia"/>
              </a:rPr>
              <a:t>Q6</a:t>
            </a:r>
          </a:p>
        </p:txBody>
      </p:sp>
      <p:sp>
        <p:nvSpPr>
          <p:cNvPr id="27" name="TextBox 26"/>
          <p:cNvSpPr txBox="1"/>
          <p:nvPr/>
        </p:nvSpPr>
        <p:spPr>
          <a:xfrm>
            <a:off x="1554480" y="4480559"/>
            <a:ext cx="9875520" cy="566928"/>
          </a:xfrm>
          <a:prstGeom prst="rect">
            <a:avLst/>
          </a:prstGeom>
          <a:noFill/>
        </p:spPr>
        <p:txBody>
          <a:bodyPr wrap="square" anchor="t" lIns="0" rIns="0" tIns="0" bIns="0">
            <a:spAutoFit/>
          </a:bodyPr>
          <a:lstStyle/>
          <a:p>
            <a:pPr algn="l"/>
            <a:r>
              <a:rPr sz="1050" b="1">
                <a:solidFill>
                  <a:srgbClr val="1B2A41"/>
                </a:solidFill>
              </a:rPr>
              <a:t>The lab's prompt forbids the words strong, healthy, comfortable and well-capitalised. Give the reason.</a:t>
            </a:r>
          </a:p>
          <a:p>
            <a:pPr algn="l">
              <a:spcBef>
                <a:spcPts val="200"/>
              </a:spcBef>
            </a:pPr>
            <a:r>
              <a:rPr sz="900" b="1">
                <a:solidFill>
                  <a:srgbClr val="C9A227"/>
                </a:solidFill>
              </a:rPr>
              <a:t>TIP</a:t>
            </a:r>
            <a:r>
              <a:rPr sz="900" b="0">
                <a:solidFill>
                  <a:srgbClr val="5D6B7E"/>
                </a:solidFill>
              </a:rPr>
              <a:t>Those are judgements, and a judgement in a regulatory document is a conclusion a named person must own. A language model cannot own anything.</a:t>
            </a:r>
          </a:p>
        </p:txBody>
      </p:sp>
      <p:sp>
        <p:nvSpPr>
          <p:cNvPr id="28" name="Rectangle 27"/>
          <p:cNvSpPr/>
          <p:nvPr/>
        </p:nvSpPr>
        <p:spPr>
          <a:xfrm>
            <a:off x="548640" y="5129783"/>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129783"/>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184647"/>
            <a:ext cx="640080" cy="365760"/>
          </a:xfrm>
          <a:prstGeom prst="rect">
            <a:avLst/>
          </a:prstGeom>
          <a:noFill/>
        </p:spPr>
        <p:txBody>
          <a:bodyPr wrap="square" anchor="t" lIns="0" rIns="0" tIns="0" bIns="0">
            <a:spAutoFit/>
          </a:bodyPr>
          <a:lstStyle/>
          <a:p>
            <a:pPr algn="l"/>
            <a:r>
              <a:rPr sz="1400" b="1">
                <a:solidFill>
                  <a:srgbClr val="3A5C9E"/>
                </a:solidFill>
                <a:latin typeface="Georgia"/>
              </a:rPr>
              <a:t>Q7</a:t>
            </a:r>
          </a:p>
        </p:txBody>
      </p:sp>
      <p:sp>
        <p:nvSpPr>
          <p:cNvPr id="31" name="TextBox 30"/>
          <p:cNvSpPr txBox="1"/>
          <p:nvPr/>
        </p:nvSpPr>
        <p:spPr>
          <a:xfrm>
            <a:off x="1554480" y="5175503"/>
            <a:ext cx="9875520" cy="566928"/>
          </a:xfrm>
          <a:prstGeom prst="rect">
            <a:avLst/>
          </a:prstGeom>
          <a:noFill/>
        </p:spPr>
        <p:txBody>
          <a:bodyPr wrap="square" anchor="t" lIns="0" rIns="0" tIns="0" bIns="0">
            <a:spAutoFit/>
          </a:bodyPr>
          <a:lstStyle/>
          <a:p>
            <a:pPr algn="l"/>
            <a:r>
              <a:rPr sz="1050" b="1">
                <a:solidFill>
                  <a:srgbClr val="1B2A41"/>
                </a:solidFill>
              </a:rPr>
              <a:t>Explain the four provenance tags and the rule that governs them. Which tag goes on a peer bank's median CET1 ratio?</a:t>
            </a:r>
          </a:p>
          <a:p>
            <a:pPr algn="l">
              <a:spcBef>
                <a:spcPts val="200"/>
              </a:spcBef>
            </a:pPr>
            <a:r>
              <a:rPr sz="900" b="1">
                <a:solidFill>
                  <a:srgbClr val="C9A227"/>
                </a:solidFill>
              </a:rPr>
              <a:t>TIP</a:t>
            </a:r>
            <a:r>
              <a:rPr sz="900" b="0">
                <a:solidFill>
                  <a:srgbClr val="5D6B7E"/>
                </a:solidFill>
              </a:rPr>
              <a:t>Deterministic, derived, llm and the vendor name. A deterministic figure is never overwritten. A peer median carries the vendor tag and never merges into the bank's own figures.</a:t>
            </a:r>
          </a:p>
        </p:txBody>
      </p:sp>
      <p:sp>
        <p:nvSpPr>
          <p:cNvPr id="32" name="Rectangle 31"/>
          <p:cNvSpPr/>
          <p:nvPr/>
        </p:nvSpPr>
        <p:spPr>
          <a:xfrm>
            <a:off x="548640" y="5870448"/>
            <a:ext cx="11091672" cy="51206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870448"/>
            <a:ext cx="64008" cy="5120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870448"/>
            <a:ext cx="10515600" cy="512064"/>
          </a:xfrm>
          <a:prstGeom prst="rect">
            <a:avLst/>
          </a:prstGeom>
          <a:noFill/>
        </p:spPr>
        <p:txBody>
          <a:bodyPr wrap="square" anchor="ctr" lIns="0" rIns="0" tIns="0" bIns="0">
            <a:spAutoFit/>
          </a:bodyPr>
          <a:lstStyle/>
          <a:p>
            <a:pPr algn="l"/>
            <a:r>
              <a:rPr sz="1100" b="1">
                <a:solidFill>
                  <a:srgbClr val="C9A227"/>
                </a:solidFill>
              </a:rPr>
              <a:t>Before Session 7:</a:t>
            </a:r>
            <a:r>
              <a:rPr sz="1100" b="0">
                <a:solidFill>
                  <a:srgbClr val="FFFFFF"/>
                </a:solidFill>
              </a:rPr>
              <a:t>open one US G-SIB's latest 10-Q, find the capital table, and write down the accession number and the page it sits on.</a:t>
            </a:r>
          </a:p>
        </p:txBody>
      </p:sp>
      <p:sp>
        <p:nvSpPr>
          <p:cNvPr id="35" name="TextBox 34"/>
          <p:cNvSpPr txBox="1"/>
          <p:nvPr/>
        </p:nvSpPr>
        <p:spPr>
          <a:xfrm>
            <a:off x="548640" y="6473952"/>
            <a:ext cx="8229600" cy="228600"/>
          </a:xfrm>
          <a:prstGeom prst="rect">
            <a:avLst/>
          </a:prstGeom>
          <a:noFill/>
        </p:spPr>
        <p:txBody>
          <a:bodyPr wrap="square" anchor="t" lIns="0" rIns="0" tIns="0" bIns="0">
            <a:spAutoFit/>
          </a:bodyPr>
          <a:lstStyle/>
          <a:p>
            <a:pPr algn="l"/>
            <a:r>
              <a:rPr sz="800" b="0">
                <a:solidFill>
                  <a:srgbClr val="5D6B7E"/>
                </a:solidFill>
              </a:rPr>
              <a:t>The tip is the shape of the answer, not the whole answer. Two or three sentences each in the exam.</a:t>
            </a:r>
          </a:p>
        </p:txBody>
      </p:sp>
      <p:sp>
        <p:nvSpPr>
          <p:cNvPr id="36" name="TextBox 3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